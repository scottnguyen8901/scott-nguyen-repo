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6" r:id="rId9"/>
    <p:sldId id="262" r:id="rId10"/>
    <p:sldId id="263" r:id="rId11"/>
    <p:sldId id="264" r:id="rId12"/>
    <p:sldId id="267" r:id="rId13"/>
    <p:sldId id="265" r:id="rId14"/>
  </p:sldIdLst>
  <p:sldSz cx="9144000" cy="6858000" type="screen4x3"/>
  <p:notesSz cx="6858000" cy="9144000"/>
  <p:embeddedFontLst>
    <p:embeddedFont>
      <p:font typeface="Heebo" pitchFamily="2" charset="-79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iVmwhSd3wdy8Ls3i3qQGd8YhT5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/>
    <p:restoredTop sz="94669"/>
  </p:normalViewPr>
  <p:slideViewPr>
    <p:cSldViewPr snapToGrid="0">
      <p:cViewPr varScale="1">
        <p:scale>
          <a:sx n="105" d="100"/>
          <a:sy n="105" d="100"/>
        </p:scale>
        <p:origin x="16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59AB36-0876-4BD3-98D4-F933A45352B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10AA0F8-A662-4786-907B-98C78F4725D6}">
      <dgm:prSet/>
      <dgm:spPr/>
      <dgm:t>
        <a:bodyPr/>
        <a:lstStyle/>
        <a:p>
          <a:r>
            <a:rPr lang="en-US" b="1" i="0"/>
            <a:t>Virtual Assistants:</a:t>
          </a:r>
          <a:r>
            <a:rPr lang="en-US" b="0" i="0"/>
            <a:t> AI-powered virtual assistants like Siri, Google Assistant, and Alexa provide voice-based interaction and assistance to users.</a:t>
          </a:r>
          <a:endParaRPr lang="en-US"/>
        </a:p>
      </dgm:t>
    </dgm:pt>
    <dgm:pt modelId="{8EAC9ABA-2434-465D-8442-47E4D7E77C4B}" type="parTrans" cxnId="{F3786A90-6276-49D2-BFB5-44A6A4028C7E}">
      <dgm:prSet/>
      <dgm:spPr/>
      <dgm:t>
        <a:bodyPr/>
        <a:lstStyle/>
        <a:p>
          <a:endParaRPr lang="en-US"/>
        </a:p>
      </dgm:t>
    </dgm:pt>
    <dgm:pt modelId="{D7704296-8685-4D93-81D0-51D14678A06E}" type="sibTrans" cxnId="{F3786A90-6276-49D2-BFB5-44A6A4028C7E}">
      <dgm:prSet/>
      <dgm:spPr/>
      <dgm:t>
        <a:bodyPr/>
        <a:lstStyle/>
        <a:p>
          <a:endParaRPr lang="en-US"/>
        </a:p>
      </dgm:t>
    </dgm:pt>
    <dgm:pt modelId="{C60CE01A-B98C-4E18-B9EE-4A0283C2B07A}">
      <dgm:prSet/>
      <dgm:spPr/>
      <dgm:t>
        <a:bodyPr/>
        <a:lstStyle/>
        <a:p>
          <a:r>
            <a:rPr lang="en-US" b="1" i="0"/>
            <a:t>Healthcare Diagnosis and Imaging</a:t>
          </a:r>
          <a:r>
            <a:rPr lang="en-US" b="0" i="0"/>
            <a:t>: AI can assist in diagnosing diseases, analyzing medical images, and predicting patient outcomes, contributing to more accurate diagnoses and personalized treatment plans.</a:t>
          </a:r>
          <a:endParaRPr lang="en-US"/>
        </a:p>
      </dgm:t>
    </dgm:pt>
    <dgm:pt modelId="{8538C77A-F73A-402F-9CF6-20D8586E1EF1}" type="parTrans" cxnId="{F8A913C9-1A26-40DE-BC42-5657D3090B21}">
      <dgm:prSet/>
      <dgm:spPr/>
      <dgm:t>
        <a:bodyPr/>
        <a:lstStyle/>
        <a:p>
          <a:endParaRPr lang="en-US"/>
        </a:p>
      </dgm:t>
    </dgm:pt>
    <dgm:pt modelId="{57CD1FC0-1215-49BC-A024-C3610EA5A63D}" type="sibTrans" cxnId="{F8A913C9-1A26-40DE-BC42-5657D3090B21}">
      <dgm:prSet/>
      <dgm:spPr/>
      <dgm:t>
        <a:bodyPr/>
        <a:lstStyle/>
        <a:p>
          <a:endParaRPr lang="en-US"/>
        </a:p>
      </dgm:t>
    </dgm:pt>
    <dgm:pt modelId="{54BBA401-969F-4763-A90C-5EFBEBF3516B}">
      <dgm:prSet/>
      <dgm:spPr/>
      <dgm:t>
        <a:bodyPr/>
        <a:lstStyle/>
        <a:p>
          <a:r>
            <a:rPr lang="en-US" b="1" i="0"/>
            <a:t>Virtual Reality and Augmented Reality:</a:t>
          </a:r>
          <a:r>
            <a:rPr lang="en-US" b="0" i="0"/>
            <a:t> AI can be used to create immersive virtual and augmented reality experiences by simulating realistic environments and interactions.</a:t>
          </a:r>
          <a:endParaRPr lang="en-US"/>
        </a:p>
      </dgm:t>
    </dgm:pt>
    <dgm:pt modelId="{8C4D6F29-7480-4AD6-9DD5-B2B51DE52F44}" type="parTrans" cxnId="{36A2D0B3-CCEE-4573-9A20-4CC8CD131113}">
      <dgm:prSet/>
      <dgm:spPr/>
      <dgm:t>
        <a:bodyPr/>
        <a:lstStyle/>
        <a:p>
          <a:endParaRPr lang="en-US"/>
        </a:p>
      </dgm:t>
    </dgm:pt>
    <dgm:pt modelId="{F36B5580-8978-4F88-AA82-DC0C6A6E2704}" type="sibTrans" cxnId="{36A2D0B3-CCEE-4573-9A20-4CC8CD131113}">
      <dgm:prSet/>
      <dgm:spPr/>
      <dgm:t>
        <a:bodyPr/>
        <a:lstStyle/>
        <a:p>
          <a:endParaRPr lang="en-US"/>
        </a:p>
      </dgm:t>
    </dgm:pt>
    <dgm:pt modelId="{260C3972-ADC9-4430-86DE-7ECCF5BD2A4E}">
      <dgm:prSet/>
      <dgm:spPr/>
      <dgm:t>
        <a:bodyPr/>
        <a:lstStyle/>
        <a:p>
          <a:r>
            <a:rPr lang="en-US" b="1" i="0"/>
            <a:t>Game-playing AI</a:t>
          </a:r>
          <a:r>
            <a:rPr lang="en-US" b="0" i="0"/>
            <a:t>: AI algorithms have been developed to play games such as chess, PubG, GTA, and poker at a superhuman level by analyzing game data and making predictions about the outcomes of moves.</a:t>
          </a:r>
          <a:endParaRPr lang="en-US"/>
        </a:p>
      </dgm:t>
    </dgm:pt>
    <dgm:pt modelId="{155C5459-22E5-4B88-88B5-B00AD0AE1995}" type="parTrans" cxnId="{2FAB1222-BDEF-4343-A19B-529177C66499}">
      <dgm:prSet/>
      <dgm:spPr/>
      <dgm:t>
        <a:bodyPr/>
        <a:lstStyle/>
        <a:p>
          <a:endParaRPr lang="en-US"/>
        </a:p>
      </dgm:t>
    </dgm:pt>
    <dgm:pt modelId="{6223C8B3-491E-461B-9D6A-EA0BD39F3238}" type="sibTrans" cxnId="{2FAB1222-BDEF-4343-A19B-529177C66499}">
      <dgm:prSet/>
      <dgm:spPr/>
      <dgm:t>
        <a:bodyPr/>
        <a:lstStyle/>
        <a:p>
          <a:endParaRPr lang="en-US"/>
        </a:p>
      </dgm:t>
    </dgm:pt>
    <dgm:pt modelId="{CCA5D51C-DDA1-4DBB-9C3A-98A259595AFC}" type="pres">
      <dgm:prSet presAssocID="{F059AB36-0876-4BD3-98D4-F933A45352B7}" presName="root" presStyleCnt="0">
        <dgm:presLayoutVars>
          <dgm:dir/>
          <dgm:resizeHandles val="exact"/>
        </dgm:presLayoutVars>
      </dgm:prSet>
      <dgm:spPr/>
    </dgm:pt>
    <dgm:pt modelId="{828516F3-B59A-45EC-B4CD-5D7057C502DA}" type="pres">
      <dgm:prSet presAssocID="{310AA0F8-A662-4786-907B-98C78F4725D6}" presName="compNode" presStyleCnt="0"/>
      <dgm:spPr/>
    </dgm:pt>
    <dgm:pt modelId="{A86E742E-FBCF-456F-8C06-C09A6CE7B5D5}" type="pres">
      <dgm:prSet presAssocID="{310AA0F8-A662-4786-907B-98C78F4725D6}" presName="bgRect" presStyleLbl="bgShp" presStyleIdx="0" presStyleCnt="4"/>
      <dgm:spPr/>
    </dgm:pt>
    <dgm:pt modelId="{4AA2662F-3082-41CC-BB7A-F33863A40D5B}" type="pres">
      <dgm:prSet presAssocID="{310AA0F8-A662-4786-907B-98C78F4725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B455A22-73FE-43F6-948F-FC406CBA0406}" type="pres">
      <dgm:prSet presAssocID="{310AA0F8-A662-4786-907B-98C78F4725D6}" presName="spaceRect" presStyleCnt="0"/>
      <dgm:spPr/>
    </dgm:pt>
    <dgm:pt modelId="{3C7518C5-9CF0-4131-A906-369BD59F9E17}" type="pres">
      <dgm:prSet presAssocID="{310AA0F8-A662-4786-907B-98C78F4725D6}" presName="parTx" presStyleLbl="revTx" presStyleIdx="0" presStyleCnt="4">
        <dgm:presLayoutVars>
          <dgm:chMax val="0"/>
          <dgm:chPref val="0"/>
        </dgm:presLayoutVars>
      </dgm:prSet>
      <dgm:spPr/>
    </dgm:pt>
    <dgm:pt modelId="{457E2906-3090-46BE-87F3-697D8D5025C1}" type="pres">
      <dgm:prSet presAssocID="{D7704296-8685-4D93-81D0-51D14678A06E}" presName="sibTrans" presStyleCnt="0"/>
      <dgm:spPr/>
    </dgm:pt>
    <dgm:pt modelId="{390467C9-6C5A-42F4-99CF-061724006651}" type="pres">
      <dgm:prSet presAssocID="{C60CE01A-B98C-4E18-B9EE-4A0283C2B07A}" presName="compNode" presStyleCnt="0"/>
      <dgm:spPr/>
    </dgm:pt>
    <dgm:pt modelId="{DD113168-39E7-49C1-8D99-87455548978E}" type="pres">
      <dgm:prSet presAssocID="{C60CE01A-B98C-4E18-B9EE-4A0283C2B07A}" presName="bgRect" presStyleLbl="bgShp" presStyleIdx="1" presStyleCnt="4"/>
      <dgm:spPr/>
    </dgm:pt>
    <dgm:pt modelId="{8DAED6E2-1C0F-4D1D-B4A7-0246775CC654}" type="pres">
      <dgm:prSet presAssocID="{C60CE01A-B98C-4E18-B9EE-4A0283C2B0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F24417DC-B5CA-4CDF-A77A-A8A8B9A3FEAB}" type="pres">
      <dgm:prSet presAssocID="{C60CE01A-B98C-4E18-B9EE-4A0283C2B07A}" presName="spaceRect" presStyleCnt="0"/>
      <dgm:spPr/>
    </dgm:pt>
    <dgm:pt modelId="{97FD28D7-325A-4C5F-861D-17EDCC306578}" type="pres">
      <dgm:prSet presAssocID="{C60CE01A-B98C-4E18-B9EE-4A0283C2B07A}" presName="parTx" presStyleLbl="revTx" presStyleIdx="1" presStyleCnt="4">
        <dgm:presLayoutVars>
          <dgm:chMax val="0"/>
          <dgm:chPref val="0"/>
        </dgm:presLayoutVars>
      </dgm:prSet>
      <dgm:spPr/>
    </dgm:pt>
    <dgm:pt modelId="{6A516FFA-1549-41EB-8F2A-5CDB938CD438}" type="pres">
      <dgm:prSet presAssocID="{57CD1FC0-1215-49BC-A024-C3610EA5A63D}" presName="sibTrans" presStyleCnt="0"/>
      <dgm:spPr/>
    </dgm:pt>
    <dgm:pt modelId="{1366DDB8-FC62-4351-B870-DD9E9D4E3463}" type="pres">
      <dgm:prSet presAssocID="{54BBA401-969F-4763-A90C-5EFBEBF3516B}" presName="compNode" presStyleCnt="0"/>
      <dgm:spPr/>
    </dgm:pt>
    <dgm:pt modelId="{079033F4-C375-4C70-B149-C5D033E0996D}" type="pres">
      <dgm:prSet presAssocID="{54BBA401-969F-4763-A90C-5EFBEBF3516B}" presName="bgRect" presStyleLbl="bgShp" presStyleIdx="2" presStyleCnt="4"/>
      <dgm:spPr/>
    </dgm:pt>
    <dgm:pt modelId="{D3C7F511-EBE9-4555-BECE-737F9AD1B016}" type="pres">
      <dgm:prSet presAssocID="{54BBA401-969F-4763-A90C-5EFBEBF351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8B4C19C9-7666-4673-84C3-3768AA0C7C1D}" type="pres">
      <dgm:prSet presAssocID="{54BBA401-969F-4763-A90C-5EFBEBF3516B}" presName="spaceRect" presStyleCnt="0"/>
      <dgm:spPr/>
    </dgm:pt>
    <dgm:pt modelId="{4DC88EF6-F1F8-4868-8C83-EA63F504AECE}" type="pres">
      <dgm:prSet presAssocID="{54BBA401-969F-4763-A90C-5EFBEBF3516B}" presName="parTx" presStyleLbl="revTx" presStyleIdx="2" presStyleCnt="4">
        <dgm:presLayoutVars>
          <dgm:chMax val="0"/>
          <dgm:chPref val="0"/>
        </dgm:presLayoutVars>
      </dgm:prSet>
      <dgm:spPr/>
    </dgm:pt>
    <dgm:pt modelId="{B476FEB3-9EAB-48E0-87A4-94B31E1CCF4A}" type="pres">
      <dgm:prSet presAssocID="{F36B5580-8978-4F88-AA82-DC0C6A6E2704}" presName="sibTrans" presStyleCnt="0"/>
      <dgm:spPr/>
    </dgm:pt>
    <dgm:pt modelId="{57FC9FE0-6D1B-4926-B27D-0CB2A3D4E221}" type="pres">
      <dgm:prSet presAssocID="{260C3972-ADC9-4430-86DE-7ECCF5BD2A4E}" presName="compNode" presStyleCnt="0"/>
      <dgm:spPr/>
    </dgm:pt>
    <dgm:pt modelId="{4151EA6B-59BA-4F5A-998B-A61308CBBEBD}" type="pres">
      <dgm:prSet presAssocID="{260C3972-ADC9-4430-86DE-7ECCF5BD2A4E}" presName="bgRect" presStyleLbl="bgShp" presStyleIdx="3" presStyleCnt="4"/>
      <dgm:spPr/>
    </dgm:pt>
    <dgm:pt modelId="{EA6160C8-B7AB-45E2-B923-910F777532C4}" type="pres">
      <dgm:prSet presAssocID="{260C3972-ADC9-4430-86DE-7ECCF5BD2A4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50AF6085-1570-40D6-844E-4863235BEF43}" type="pres">
      <dgm:prSet presAssocID="{260C3972-ADC9-4430-86DE-7ECCF5BD2A4E}" presName="spaceRect" presStyleCnt="0"/>
      <dgm:spPr/>
    </dgm:pt>
    <dgm:pt modelId="{3D152ACA-186F-4F33-82CF-54566B4AAEB3}" type="pres">
      <dgm:prSet presAssocID="{260C3972-ADC9-4430-86DE-7ECCF5BD2A4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FAB1222-BDEF-4343-A19B-529177C66499}" srcId="{F059AB36-0876-4BD3-98D4-F933A45352B7}" destId="{260C3972-ADC9-4430-86DE-7ECCF5BD2A4E}" srcOrd="3" destOrd="0" parTransId="{155C5459-22E5-4B88-88B5-B00AD0AE1995}" sibTransId="{6223C8B3-491E-461B-9D6A-EA0BD39F3238}"/>
    <dgm:cxn modelId="{9C19615B-AF39-434C-A013-7FB68AACED93}" type="presOf" srcId="{310AA0F8-A662-4786-907B-98C78F4725D6}" destId="{3C7518C5-9CF0-4131-A906-369BD59F9E17}" srcOrd="0" destOrd="0" presId="urn:microsoft.com/office/officeart/2018/2/layout/IconVerticalSolidList"/>
    <dgm:cxn modelId="{7450FB5B-8C12-41F8-8999-90B03ED37852}" type="presOf" srcId="{260C3972-ADC9-4430-86DE-7ECCF5BD2A4E}" destId="{3D152ACA-186F-4F33-82CF-54566B4AAEB3}" srcOrd="0" destOrd="0" presId="urn:microsoft.com/office/officeart/2018/2/layout/IconVerticalSolidList"/>
    <dgm:cxn modelId="{D992A16F-AE16-4A37-8C5F-75A45AB398AC}" type="presOf" srcId="{C60CE01A-B98C-4E18-B9EE-4A0283C2B07A}" destId="{97FD28D7-325A-4C5F-861D-17EDCC306578}" srcOrd="0" destOrd="0" presId="urn:microsoft.com/office/officeart/2018/2/layout/IconVerticalSolidList"/>
    <dgm:cxn modelId="{EB84FF6F-1234-4486-8D6E-293EDAC5AB89}" type="presOf" srcId="{54BBA401-969F-4763-A90C-5EFBEBF3516B}" destId="{4DC88EF6-F1F8-4868-8C83-EA63F504AECE}" srcOrd="0" destOrd="0" presId="urn:microsoft.com/office/officeart/2018/2/layout/IconVerticalSolidList"/>
    <dgm:cxn modelId="{F3786A90-6276-49D2-BFB5-44A6A4028C7E}" srcId="{F059AB36-0876-4BD3-98D4-F933A45352B7}" destId="{310AA0F8-A662-4786-907B-98C78F4725D6}" srcOrd="0" destOrd="0" parTransId="{8EAC9ABA-2434-465D-8442-47E4D7E77C4B}" sibTransId="{D7704296-8685-4D93-81D0-51D14678A06E}"/>
    <dgm:cxn modelId="{C14216AB-3EC1-433B-8BC4-B957349A7053}" type="presOf" srcId="{F059AB36-0876-4BD3-98D4-F933A45352B7}" destId="{CCA5D51C-DDA1-4DBB-9C3A-98A259595AFC}" srcOrd="0" destOrd="0" presId="urn:microsoft.com/office/officeart/2018/2/layout/IconVerticalSolidList"/>
    <dgm:cxn modelId="{36A2D0B3-CCEE-4573-9A20-4CC8CD131113}" srcId="{F059AB36-0876-4BD3-98D4-F933A45352B7}" destId="{54BBA401-969F-4763-A90C-5EFBEBF3516B}" srcOrd="2" destOrd="0" parTransId="{8C4D6F29-7480-4AD6-9DD5-B2B51DE52F44}" sibTransId="{F36B5580-8978-4F88-AA82-DC0C6A6E2704}"/>
    <dgm:cxn modelId="{F8A913C9-1A26-40DE-BC42-5657D3090B21}" srcId="{F059AB36-0876-4BD3-98D4-F933A45352B7}" destId="{C60CE01A-B98C-4E18-B9EE-4A0283C2B07A}" srcOrd="1" destOrd="0" parTransId="{8538C77A-F73A-402F-9CF6-20D8586E1EF1}" sibTransId="{57CD1FC0-1215-49BC-A024-C3610EA5A63D}"/>
    <dgm:cxn modelId="{5A8093F5-BE91-4F96-8D68-84C3C69CEB91}" type="presParOf" srcId="{CCA5D51C-DDA1-4DBB-9C3A-98A259595AFC}" destId="{828516F3-B59A-45EC-B4CD-5D7057C502DA}" srcOrd="0" destOrd="0" presId="urn:microsoft.com/office/officeart/2018/2/layout/IconVerticalSolidList"/>
    <dgm:cxn modelId="{65C932F1-C8AE-44AA-9E09-A717CFB664EF}" type="presParOf" srcId="{828516F3-B59A-45EC-B4CD-5D7057C502DA}" destId="{A86E742E-FBCF-456F-8C06-C09A6CE7B5D5}" srcOrd="0" destOrd="0" presId="urn:microsoft.com/office/officeart/2018/2/layout/IconVerticalSolidList"/>
    <dgm:cxn modelId="{9E35FD2D-71E8-459C-BA9F-497318EEF9AF}" type="presParOf" srcId="{828516F3-B59A-45EC-B4CD-5D7057C502DA}" destId="{4AA2662F-3082-41CC-BB7A-F33863A40D5B}" srcOrd="1" destOrd="0" presId="urn:microsoft.com/office/officeart/2018/2/layout/IconVerticalSolidList"/>
    <dgm:cxn modelId="{92DB6241-DA79-449E-947D-F8F4E90A1580}" type="presParOf" srcId="{828516F3-B59A-45EC-B4CD-5D7057C502DA}" destId="{5B455A22-73FE-43F6-948F-FC406CBA0406}" srcOrd="2" destOrd="0" presId="urn:microsoft.com/office/officeart/2018/2/layout/IconVerticalSolidList"/>
    <dgm:cxn modelId="{EA1BE3A4-5338-4C4A-B17C-ED2890596B32}" type="presParOf" srcId="{828516F3-B59A-45EC-B4CD-5D7057C502DA}" destId="{3C7518C5-9CF0-4131-A906-369BD59F9E17}" srcOrd="3" destOrd="0" presId="urn:microsoft.com/office/officeart/2018/2/layout/IconVerticalSolidList"/>
    <dgm:cxn modelId="{712C88DD-8385-41D8-ABDF-25E8113366CA}" type="presParOf" srcId="{CCA5D51C-DDA1-4DBB-9C3A-98A259595AFC}" destId="{457E2906-3090-46BE-87F3-697D8D5025C1}" srcOrd="1" destOrd="0" presId="urn:microsoft.com/office/officeart/2018/2/layout/IconVerticalSolidList"/>
    <dgm:cxn modelId="{7F63B551-E3E6-4398-A476-EE041DF5BD3B}" type="presParOf" srcId="{CCA5D51C-DDA1-4DBB-9C3A-98A259595AFC}" destId="{390467C9-6C5A-42F4-99CF-061724006651}" srcOrd="2" destOrd="0" presId="urn:microsoft.com/office/officeart/2018/2/layout/IconVerticalSolidList"/>
    <dgm:cxn modelId="{C7732C08-D3B4-49EB-87D9-66E5ABB0DDFD}" type="presParOf" srcId="{390467C9-6C5A-42F4-99CF-061724006651}" destId="{DD113168-39E7-49C1-8D99-87455548978E}" srcOrd="0" destOrd="0" presId="urn:microsoft.com/office/officeart/2018/2/layout/IconVerticalSolidList"/>
    <dgm:cxn modelId="{56AA899C-3F9C-4B60-9827-C445F70D00FD}" type="presParOf" srcId="{390467C9-6C5A-42F4-99CF-061724006651}" destId="{8DAED6E2-1C0F-4D1D-B4A7-0246775CC654}" srcOrd="1" destOrd="0" presId="urn:microsoft.com/office/officeart/2018/2/layout/IconVerticalSolidList"/>
    <dgm:cxn modelId="{A9A3609A-9103-4F5A-9D42-3F308C0FF243}" type="presParOf" srcId="{390467C9-6C5A-42F4-99CF-061724006651}" destId="{F24417DC-B5CA-4CDF-A77A-A8A8B9A3FEAB}" srcOrd="2" destOrd="0" presId="urn:microsoft.com/office/officeart/2018/2/layout/IconVerticalSolidList"/>
    <dgm:cxn modelId="{F1EB1722-70B4-40B0-9F03-0EB8F04A36D2}" type="presParOf" srcId="{390467C9-6C5A-42F4-99CF-061724006651}" destId="{97FD28D7-325A-4C5F-861D-17EDCC306578}" srcOrd="3" destOrd="0" presId="urn:microsoft.com/office/officeart/2018/2/layout/IconVerticalSolidList"/>
    <dgm:cxn modelId="{D4B3CA16-51E9-4964-860A-E42761777C79}" type="presParOf" srcId="{CCA5D51C-DDA1-4DBB-9C3A-98A259595AFC}" destId="{6A516FFA-1549-41EB-8F2A-5CDB938CD438}" srcOrd="3" destOrd="0" presId="urn:microsoft.com/office/officeart/2018/2/layout/IconVerticalSolidList"/>
    <dgm:cxn modelId="{4D279744-53AD-40F9-A4C5-A30346D25DD0}" type="presParOf" srcId="{CCA5D51C-DDA1-4DBB-9C3A-98A259595AFC}" destId="{1366DDB8-FC62-4351-B870-DD9E9D4E3463}" srcOrd="4" destOrd="0" presId="urn:microsoft.com/office/officeart/2018/2/layout/IconVerticalSolidList"/>
    <dgm:cxn modelId="{2392FE3A-419F-44A6-A4F2-C1F5DB937BA0}" type="presParOf" srcId="{1366DDB8-FC62-4351-B870-DD9E9D4E3463}" destId="{079033F4-C375-4C70-B149-C5D033E0996D}" srcOrd="0" destOrd="0" presId="urn:microsoft.com/office/officeart/2018/2/layout/IconVerticalSolidList"/>
    <dgm:cxn modelId="{94CE086C-8494-4543-9C5C-8D571288437D}" type="presParOf" srcId="{1366DDB8-FC62-4351-B870-DD9E9D4E3463}" destId="{D3C7F511-EBE9-4555-BECE-737F9AD1B016}" srcOrd="1" destOrd="0" presId="urn:microsoft.com/office/officeart/2018/2/layout/IconVerticalSolidList"/>
    <dgm:cxn modelId="{F38D86E0-0AA7-48BF-850E-5053960D1DF7}" type="presParOf" srcId="{1366DDB8-FC62-4351-B870-DD9E9D4E3463}" destId="{8B4C19C9-7666-4673-84C3-3768AA0C7C1D}" srcOrd="2" destOrd="0" presId="urn:microsoft.com/office/officeart/2018/2/layout/IconVerticalSolidList"/>
    <dgm:cxn modelId="{E20A6B5B-72E5-4C11-AA0B-59C6FDF15F99}" type="presParOf" srcId="{1366DDB8-FC62-4351-B870-DD9E9D4E3463}" destId="{4DC88EF6-F1F8-4868-8C83-EA63F504AECE}" srcOrd="3" destOrd="0" presId="urn:microsoft.com/office/officeart/2018/2/layout/IconVerticalSolidList"/>
    <dgm:cxn modelId="{174DEB24-5245-407B-92A8-9D27533BE4BB}" type="presParOf" srcId="{CCA5D51C-DDA1-4DBB-9C3A-98A259595AFC}" destId="{B476FEB3-9EAB-48E0-87A4-94B31E1CCF4A}" srcOrd="5" destOrd="0" presId="urn:microsoft.com/office/officeart/2018/2/layout/IconVerticalSolidList"/>
    <dgm:cxn modelId="{6FF0AFF2-3080-488C-8509-5F399B12036B}" type="presParOf" srcId="{CCA5D51C-DDA1-4DBB-9C3A-98A259595AFC}" destId="{57FC9FE0-6D1B-4926-B27D-0CB2A3D4E221}" srcOrd="6" destOrd="0" presId="urn:microsoft.com/office/officeart/2018/2/layout/IconVerticalSolidList"/>
    <dgm:cxn modelId="{E5120584-4FB2-414F-B034-2CF072FAA112}" type="presParOf" srcId="{57FC9FE0-6D1B-4926-B27D-0CB2A3D4E221}" destId="{4151EA6B-59BA-4F5A-998B-A61308CBBEBD}" srcOrd="0" destOrd="0" presId="urn:microsoft.com/office/officeart/2018/2/layout/IconVerticalSolidList"/>
    <dgm:cxn modelId="{30A89596-EDF1-4100-BE59-90C3047AC24B}" type="presParOf" srcId="{57FC9FE0-6D1B-4926-B27D-0CB2A3D4E221}" destId="{EA6160C8-B7AB-45E2-B923-910F777532C4}" srcOrd="1" destOrd="0" presId="urn:microsoft.com/office/officeart/2018/2/layout/IconVerticalSolidList"/>
    <dgm:cxn modelId="{E1A65859-082B-4033-AAF0-E228E6C0B9A9}" type="presParOf" srcId="{57FC9FE0-6D1B-4926-B27D-0CB2A3D4E221}" destId="{50AF6085-1570-40D6-844E-4863235BEF43}" srcOrd="2" destOrd="0" presId="urn:microsoft.com/office/officeart/2018/2/layout/IconVerticalSolidList"/>
    <dgm:cxn modelId="{8DB822B0-57C1-4B62-B912-E8F240090737}" type="presParOf" srcId="{57FC9FE0-6D1B-4926-B27D-0CB2A3D4E221}" destId="{3D152ACA-186F-4F33-82CF-54566B4AAE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E742E-FBCF-456F-8C06-C09A6CE7B5D5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A2662F-3082-41CC-BB7A-F33863A40D5B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518C5-9CF0-4131-A906-369BD59F9E17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Virtual Assistants:</a:t>
          </a:r>
          <a:r>
            <a:rPr lang="en-US" sz="1500" b="0" i="0" kern="1200"/>
            <a:t> AI-powered virtual assistants like Siri, Google Assistant, and Alexa provide voice-based interaction and assistance to users.</a:t>
          </a:r>
          <a:endParaRPr lang="en-US" sz="1500" kern="1200"/>
        </a:p>
      </dsp:txBody>
      <dsp:txXfrm>
        <a:off x="1058686" y="1808"/>
        <a:ext cx="6828013" cy="916611"/>
      </dsp:txXfrm>
    </dsp:sp>
    <dsp:sp modelId="{DD113168-39E7-49C1-8D99-87455548978E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AED6E2-1C0F-4D1D-B4A7-0246775CC654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D28D7-325A-4C5F-861D-17EDCC306578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Healthcare Diagnosis and Imaging</a:t>
          </a:r>
          <a:r>
            <a:rPr lang="en-US" sz="1500" b="0" i="0" kern="1200"/>
            <a:t>: AI can assist in diagnosing diseases, analyzing medical images, and predicting patient outcomes, contributing to more accurate diagnoses and personalized treatment plans.</a:t>
          </a:r>
          <a:endParaRPr lang="en-US" sz="1500" kern="1200"/>
        </a:p>
      </dsp:txBody>
      <dsp:txXfrm>
        <a:off x="1058686" y="1147573"/>
        <a:ext cx="6828013" cy="916611"/>
      </dsp:txXfrm>
    </dsp:sp>
    <dsp:sp modelId="{079033F4-C375-4C70-B149-C5D033E0996D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C7F511-EBE9-4555-BECE-737F9AD1B016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88EF6-F1F8-4868-8C83-EA63F504AECE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Virtual Reality and Augmented Reality:</a:t>
          </a:r>
          <a:r>
            <a:rPr lang="en-US" sz="1500" b="0" i="0" kern="1200"/>
            <a:t> AI can be used to create immersive virtual and augmented reality experiences by simulating realistic environments and interactions.</a:t>
          </a:r>
          <a:endParaRPr lang="en-US" sz="1500" kern="1200"/>
        </a:p>
      </dsp:txBody>
      <dsp:txXfrm>
        <a:off x="1058686" y="2293338"/>
        <a:ext cx="6828013" cy="916611"/>
      </dsp:txXfrm>
    </dsp:sp>
    <dsp:sp modelId="{4151EA6B-59BA-4F5A-998B-A61308CBBEBD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6160C8-B7AB-45E2-B923-910F777532C4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52ACA-186F-4F33-82CF-54566B4AAEB3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Game-playing AI</a:t>
          </a:r>
          <a:r>
            <a:rPr lang="en-US" sz="1500" b="0" i="0" kern="1200"/>
            <a:t>: AI algorithms have been developed to play games such as chess, PubG, GTA, and poker at a superhuman level by analyzing game data and making predictions about the outcomes of moves.</a:t>
          </a:r>
          <a:endParaRPr lang="en-US" sz="1500" kern="1200"/>
        </a:p>
      </dsp:txBody>
      <dsp:txXfrm>
        <a:off x="1058686" y="3439103"/>
        <a:ext cx="68280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8756f0df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28756f0df0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g28756f0df0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rgbClr val="3865B4"/>
              </a:gs>
              <a:gs pos="25000">
                <a:srgbClr val="3865B4"/>
              </a:gs>
              <a:gs pos="94000">
                <a:srgbClr val="3A3838"/>
              </a:gs>
              <a:gs pos="100000">
                <a:srgbClr val="3A3838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2284026" y="2043663"/>
            <a:ext cx="4578895" cy="203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</a:rPr>
              <a:t>AI Infrastructure</a:t>
            </a:r>
            <a:endParaRPr/>
          </a:p>
        </p:txBody>
      </p:sp>
      <p:sp>
        <p:nvSpPr>
          <p:cNvPr id="92" name="Google Shape;92;p1"/>
          <p:cNvSpPr txBox="1">
            <a:spLocks noGrp="1"/>
          </p:cNvSpPr>
          <p:nvPr>
            <p:ph type="subTitle" idx="1"/>
          </p:nvPr>
        </p:nvSpPr>
        <p:spPr>
          <a:xfrm>
            <a:off x="2284026" y="4074718"/>
            <a:ext cx="4578895" cy="6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</a:pPr>
            <a:r>
              <a:rPr lang="en-US" sz="1500">
                <a:solidFill>
                  <a:srgbClr val="FFFFFF"/>
                </a:solidFill>
              </a:rPr>
              <a:t>Ioannis Papapanagiotou</a:t>
            </a:r>
            <a:endParaRPr sz="15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</a:pPr>
            <a:r>
              <a:rPr lang="en-US" sz="1500">
                <a:solidFill>
                  <a:srgbClr val="FFFFFF"/>
                </a:solidFill>
              </a:rPr>
              <a:t>Understanding AI Infrastructure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Students completing this module will be able to explain the motivation behind AI Infrastructure, how it is used today and the technical components.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AI Market Growth</a:t>
            </a:r>
            <a:endParaRPr/>
          </a:p>
        </p:txBody>
      </p:sp>
      <p:pic>
        <p:nvPicPr>
          <p:cNvPr id="105" name="Google Shape;10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4314" y="1543544"/>
            <a:ext cx="6695372" cy="5088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Prominent Players</a:t>
            </a:r>
            <a:endParaRPr/>
          </a:p>
        </p:txBody>
      </p:sp>
      <p:pic>
        <p:nvPicPr>
          <p:cNvPr id="111" name="Google Shape;11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690689"/>
            <a:ext cx="5791200" cy="4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6"/>
          <p:cNvSpPr/>
          <p:nvPr/>
        </p:nvSpPr>
        <p:spPr>
          <a:xfrm rot="-54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rgbClr val="1F3864"/>
              </a:gs>
            </a:gsLst>
            <a:lin ang="12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6"/>
          <p:cNvSpPr/>
          <p:nvPr/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0">
                <a:srgbClr val="000000">
                  <a:alpha val="51372"/>
                </a:srgbClr>
              </a:gs>
              <a:gs pos="8000">
                <a:srgbClr val="000000">
                  <a:alpha val="51372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6"/>
          <p:cNvSpPr/>
          <p:nvPr/>
        </p:nvSpPr>
        <p:spPr>
          <a:xfrm rot="-54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rgbClr val="9CC2E5">
                  <a:alpha val="0"/>
                </a:srgbClr>
              </a:gs>
              <a:gs pos="100000">
                <a:srgbClr val="000000">
                  <a:alpha val="45490"/>
                </a:srgbClr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6" descr="AI, ML, DL, and Generative AI Face Off: A Comparative Analysi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732950"/>
            <a:ext cx="8458200" cy="53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7"/>
          <p:cNvSpPr/>
          <p:nvPr/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7"/>
          <p:cNvSpPr/>
          <p:nvPr/>
        </p:nvSpPr>
        <p:spPr>
          <a:xfrm flipH="1">
            <a:off x="0" y="5486400"/>
            <a:ext cx="2004647" cy="1371600"/>
          </a:xfrm>
          <a:custGeom>
            <a:avLst/>
            <a:gdLst/>
            <a:ahLst/>
            <a:cxnLst/>
            <a:rect l="l" t="t" r="r" b="b"/>
            <a:pathLst>
              <a:path w="2672863" h="1371600" extrusionOk="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7"/>
          <p:cNvSpPr txBox="1">
            <a:spLocks noGrp="1"/>
          </p:cNvSpPr>
          <p:nvPr>
            <p:ph type="body" idx="1"/>
          </p:nvPr>
        </p:nvSpPr>
        <p:spPr>
          <a:xfrm>
            <a:off x="771525" y="3233167"/>
            <a:ext cx="7600950" cy="273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 b="0" i="0" dirty="0">
                <a:latin typeface="Heebo"/>
                <a:ea typeface="Heebo"/>
                <a:cs typeface="Heebo"/>
                <a:sym typeface="Heebo"/>
              </a:rPr>
              <a:t>AI is broadly defined as the ability of machines to mimic human behavior. It encompasses a broad range of techniques and approaches aimed at enabling machines to perceive, reason, learn, and make decisions. </a:t>
            </a:r>
            <a:endParaRPr lang="en-US" sz="1600" dirty="0">
              <a:latin typeface="Heebo"/>
              <a:ea typeface="Heebo"/>
              <a:cs typeface="Heebo"/>
              <a:sym typeface="Heebo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 b="0" i="0" dirty="0">
                <a:latin typeface="Heebo"/>
                <a:ea typeface="Heebo"/>
                <a:cs typeface="Heebo"/>
                <a:sym typeface="Heebo"/>
              </a:rPr>
              <a:t>AI can be rule-based, statistical, or involve machine learning algorithms. Machine learning, Deep Learning, and Generative AI.</a:t>
            </a:r>
            <a:endParaRPr sz="160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br>
              <a:rPr lang="en-US" sz="1600" dirty="0"/>
            </a:br>
            <a:endParaRPr sz="1600" dirty="0"/>
          </a:p>
        </p:txBody>
      </p:sp>
      <p:pic>
        <p:nvPicPr>
          <p:cNvPr id="2052" name="Picture 4" descr="What is Artificial Intelligence (AI)? Explained">
            <a:extLst>
              <a:ext uri="{FF2B5EF4-FFF2-40B4-BE49-F238E27FC236}">
                <a16:creationId xmlns:a16="http://schemas.microsoft.com/office/drawing/2014/main" id="{8876D8B1-8797-E5CC-EA1C-A7EEE6043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840" y="338710"/>
            <a:ext cx="5423065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There is an AI for that - a collection of interesting AI Applications -  skuma.pl">
            <a:extLst>
              <a:ext uri="{FF2B5EF4-FFF2-40B4-BE49-F238E27FC236}">
                <a16:creationId xmlns:a16="http://schemas.microsoft.com/office/drawing/2014/main" id="{D9490C49-FB30-B000-541E-EB8143F52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86467" y="643467"/>
            <a:ext cx="5571065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Isosceles Triangle 104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74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2C129-5158-A082-47FE-83D213013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Common Applications of AI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0152E80-6054-ADC4-5A8D-80B34171B7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2484533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2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8"/>
          <p:cNvSpPr/>
          <p:nvPr/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8"/>
          <p:cNvSpPr txBox="1"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lt1"/>
                </a:solidFill>
              </a:rPr>
              <a:t>What is needed to make AI work?</a:t>
            </a:r>
            <a:endParaRPr/>
          </a:p>
        </p:txBody>
      </p:sp>
      <p:grpSp>
        <p:nvGrpSpPr>
          <p:cNvPr id="138" name="Google Shape;138;p28"/>
          <p:cNvGrpSpPr/>
          <p:nvPr/>
        </p:nvGrpSpPr>
        <p:grpSpPr>
          <a:xfrm>
            <a:off x="0" y="202912"/>
            <a:ext cx="1432689" cy="709660"/>
            <a:chOff x="2267504" y="2540250"/>
            <a:chExt cx="1990951" cy="739640"/>
          </a:xfrm>
        </p:grpSpPr>
        <p:sp>
          <p:nvSpPr>
            <p:cNvPr id="139" name="Google Shape;139;p28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/>
              <a:ahLst/>
              <a:cxnLst/>
              <a:rect l="l" t="t" r="r" b="b"/>
              <a:pathLst>
                <a:path w="1990951" h="286230" extrusionOk="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8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/>
              <a:ahLst/>
              <a:cxnLst/>
              <a:rect l="l" t="t" r="r" b="b"/>
              <a:pathLst>
                <a:path w="1990951" h="286230" extrusionOk="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8"/>
          <p:cNvSpPr/>
          <p:nvPr/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29411"/>
            </a:schemeClr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28"/>
          <p:cNvGrpSpPr/>
          <p:nvPr/>
        </p:nvGrpSpPr>
        <p:grpSpPr>
          <a:xfrm>
            <a:off x="3082214" y="5539935"/>
            <a:ext cx="731374" cy="975171"/>
            <a:chOff x="5829300" y="3162300"/>
            <a:chExt cx="532256" cy="532257"/>
          </a:xfrm>
        </p:grpSpPr>
        <p:sp>
          <p:nvSpPr>
            <p:cNvPr id="144" name="Google Shape;144;p28"/>
            <p:cNvSpPr/>
            <p:nvPr/>
          </p:nvSpPr>
          <p:spPr>
            <a:xfrm>
              <a:off x="5859208" y="3192208"/>
              <a:ext cx="112966" cy="112966"/>
            </a:xfrm>
            <a:custGeom>
              <a:avLst/>
              <a:gdLst/>
              <a:ahLst/>
              <a:cxnLst/>
              <a:rect l="l" t="t" r="r" b="b"/>
              <a:pathLst>
                <a:path w="112966" h="112966" extrusionOk="0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8"/>
            <p:cNvSpPr/>
            <p:nvPr/>
          </p:nvSpPr>
          <p:spPr>
            <a:xfrm>
              <a:off x="5831205" y="3164205"/>
              <a:ext cx="230314" cy="230314"/>
            </a:xfrm>
            <a:custGeom>
              <a:avLst/>
              <a:gdLst/>
              <a:ahLst/>
              <a:cxnLst/>
              <a:rect l="l" t="t" r="r" b="b"/>
              <a:pathLst>
                <a:path w="230314" h="230314" extrusionOk="0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8"/>
            <p:cNvSpPr/>
            <p:nvPr/>
          </p:nvSpPr>
          <p:spPr>
            <a:xfrm>
              <a:off x="5829300" y="3162300"/>
              <a:ext cx="294131" cy="294131"/>
            </a:xfrm>
            <a:custGeom>
              <a:avLst/>
              <a:gdLst/>
              <a:ahLst/>
              <a:cxnLst/>
              <a:rect l="l" t="t" r="r" b="b"/>
              <a:pathLst>
                <a:path w="294131" h="294131" extrusionOk="0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8"/>
            <p:cNvSpPr/>
            <p:nvPr/>
          </p:nvSpPr>
          <p:spPr>
            <a:xfrm>
              <a:off x="5837205" y="3170110"/>
              <a:ext cx="337184" cy="337280"/>
            </a:xfrm>
            <a:custGeom>
              <a:avLst/>
              <a:gdLst/>
              <a:ahLst/>
              <a:cxnLst/>
              <a:rect l="l" t="t" r="r" b="b"/>
              <a:pathLst>
                <a:path w="337184" h="337280" extrusionOk="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8"/>
            <p:cNvSpPr/>
            <p:nvPr/>
          </p:nvSpPr>
          <p:spPr>
            <a:xfrm>
              <a:off x="5853207" y="3186207"/>
              <a:ext cx="364617" cy="364617"/>
            </a:xfrm>
            <a:custGeom>
              <a:avLst/>
              <a:gdLst/>
              <a:ahLst/>
              <a:cxnLst/>
              <a:rect l="l" t="t" r="r" b="b"/>
              <a:pathLst>
                <a:path w="364617" h="364617" extrusionOk="0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8"/>
            <p:cNvSpPr/>
            <p:nvPr/>
          </p:nvSpPr>
          <p:spPr>
            <a:xfrm>
              <a:off x="5875305" y="3208305"/>
              <a:ext cx="380238" cy="380238"/>
            </a:xfrm>
            <a:custGeom>
              <a:avLst/>
              <a:gdLst/>
              <a:ahLst/>
              <a:cxnLst/>
              <a:rect l="l" t="t" r="r" b="b"/>
              <a:pathLst>
                <a:path w="380238" h="380238" extrusionOk="0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8"/>
            <p:cNvSpPr/>
            <p:nvPr/>
          </p:nvSpPr>
          <p:spPr>
            <a:xfrm>
              <a:off x="5902832" y="3235832"/>
              <a:ext cx="385191" cy="385191"/>
            </a:xfrm>
            <a:custGeom>
              <a:avLst/>
              <a:gdLst/>
              <a:ahLst/>
              <a:cxnLst/>
              <a:rect l="l" t="t" r="r" b="b"/>
              <a:pathLst>
                <a:path w="385191" h="385191" extrusionOk="0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8"/>
            <p:cNvSpPr/>
            <p:nvPr/>
          </p:nvSpPr>
          <p:spPr>
            <a:xfrm>
              <a:off x="5935789" y="3268313"/>
              <a:ext cx="379761" cy="380237"/>
            </a:xfrm>
            <a:custGeom>
              <a:avLst/>
              <a:gdLst/>
              <a:ahLst/>
              <a:cxnLst/>
              <a:rect l="l" t="t" r="r" b="b"/>
              <a:pathLst>
                <a:path w="379761" h="380237" extrusionOk="0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8"/>
            <p:cNvSpPr/>
            <p:nvPr/>
          </p:nvSpPr>
          <p:spPr>
            <a:xfrm>
              <a:off x="5972841" y="3305841"/>
              <a:ext cx="364807" cy="364807"/>
            </a:xfrm>
            <a:custGeom>
              <a:avLst/>
              <a:gdLst/>
              <a:ahLst/>
              <a:cxnLst/>
              <a:rect l="l" t="t" r="r" b="b"/>
              <a:pathLst>
                <a:path w="364807" h="364807" extrusionOk="0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8"/>
            <p:cNvSpPr/>
            <p:nvPr/>
          </p:nvSpPr>
          <p:spPr>
            <a:xfrm>
              <a:off x="6016370" y="3349466"/>
              <a:ext cx="337280" cy="337280"/>
            </a:xfrm>
            <a:custGeom>
              <a:avLst/>
              <a:gdLst/>
              <a:ahLst/>
              <a:cxnLst/>
              <a:rect l="l" t="t" r="r" b="b"/>
              <a:pathLst>
                <a:path w="337280" h="337280" extrusionOk="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8"/>
            <p:cNvSpPr/>
            <p:nvPr/>
          </p:nvSpPr>
          <p:spPr>
            <a:xfrm>
              <a:off x="6067329" y="3400425"/>
              <a:ext cx="294227" cy="294132"/>
            </a:xfrm>
            <a:custGeom>
              <a:avLst/>
              <a:gdLst/>
              <a:ahLst/>
              <a:cxnLst/>
              <a:rect l="l" t="t" r="r" b="b"/>
              <a:pathLst>
                <a:path w="294227" h="294132" extrusionOk="0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8"/>
            <p:cNvSpPr/>
            <p:nvPr/>
          </p:nvSpPr>
          <p:spPr>
            <a:xfrm>
              <a:off x="6129337" y="3462337"/>
              <a:ext cx="230314" cy="230314"/>
            </a:xfrm>
            <a:custGeom>
              <a:avLst/>
              <a:gdLst/>
              <a:ahLst/>
              <a:cxnLst/>
              <a:rect l="l" t="t" r="r" b="b"/>
              <a:pathLst>
                <a:path w="230314" h="230314" extrusionOk="0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6218682" y="3551682"/>
              <a:ext cx="112871" cy="112871"/>
            </a:xfrm>
            <a:custGeom>
              <a:avLst/>
              <a:gdLst/>
              <a:ahLst/>
              <a:cxnLst/>
              <a:rect l="l" t="t" r="r" b="b"/>
              <a:pathLst>
                <a:path w="112871" h="112871" extrusionOk="0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28"/>
          <p:cNvGrpSpPr/>
          <p:nvPr/>
        </p:nvGrpSpPr>
        <p:grpSpPr>
          <a:xfrm>
            <a:off x="4113104" y="478257"/>
            <a:ext cx="4726201" cy="5877373"/>
            <a:chOff x="0" y="717"/>
            <a:chExt cx="4726201" cy="5877373"/>
          </a:xfrm>
        </p:grpSpPr>
        <p:sp>
          <p:nvSpPr>
            <p:cNvPr id="158" name="Google Shape;158;p28"/>
            <p:cNvSpPr/>
            <p:nvPr/>
          </p:nvSpPr>
          <p:spPr>
            <a:xfrm>
              <a:off x="0" y="717"/>
              <a:ext cx="4726201" cy="1679249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8"/>
            <p:cNvSpPr/>
            <p:nvPr/>
          </p:nvSpPr>
          <p:spPr>
            <a:xfrm>
              <a:off x="507973" y="378548"/>
              <a:ext cx="923587" cy="9235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8"/>
            <p:cNvSpPr/>
            <p:nvPr/>
          </p:nvSpPr>
          <p:spPr>
            <a:xfrm>
              <a:off x="1939533" y="717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8"/>
            <p:cNvSpPr txBox="1"/>
            <p:nvPr/>
          </p:nvSpPr>
          <p:spPr>
            <a:xfrm>
              <a:off x="1939533" y="717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700" tIns="177700" rIns="177700" bIns="177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is needed to make AI work?</a:t>
              </a:r>
              <a:endParaRPr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0" y="2099779"/>
              <a:ext cx="4726201" cy="1679249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507973" y="2477610"/>
              <a:ext cx="923587" cy="9235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>
              <a:off x="1939533" y="2099779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8"/>
            <p:cNvSpPr txBox="1"/>
            <p:nvPr/>
          </p:nvSpPr>
          <p:spPr>
            <a:xfrm>
              <a:off x="1939533" y="2099779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700" tIns="177700" rIns="177700" bIns="177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hardware and software technologies lie at its core?</a:t>
              </a:r>
              <a:endParaRPr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0" y="4198841"/>
              <a:ext cx="4726201" cy="1679249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507973" y="4576672"/>
              <a:ext cx="923587" cy="9235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1939533" y="4198841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8"/>
            <p:cNvSpPr txBox="1"/>
            <p:nvPr/>
          </p:nvSpPr>
          <p:spPr>
            <a:xfrm>
              <a:off x="1939533" y="4198841"/>
              <a:ext cx="2786667" cy="1679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700" tIns="177700" rIns="177700" bIns="177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How can AI performance be optimized at its fullest?</a:t>
              </a:r>
              <a:endParaRPr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0" y="-1"/>
            <a:ext cx="8824632" cy="2061837"/>
          </a:xfrm>
          <a:custGeom>
            <a:avLst/>
            <a:gdLst/>
            <a:ahLst/>
            <a:cxnLst/>
            <a:rect l="l" t="t" r="r" b="b"/>
            <a:pathLst>
              <a:path w="10768629" h="1978172" extrusionOk="0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450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>
            <a:spLocks noGrp="1"/>
          </p:cNvSpPr>
          <p:nvPr>
            <p:ph type="title"/>
          </p:nvPr>
        </p:nvSpPr>
        <p:spPr>
          <a:xfrm>
            <a:off x="852775" y="609597"/>
            <a:ext cx="7044316" cy="133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AI Infrastructure</a:t>
            </a:r>
            <a:endParaRPr/>
          </a:p>
        </p:txBody>
      </p:sp>
      <p:sp>
        <p:nvSpPr>
          <p:cNvPr id="177" name="Google Shape;177;p4"/>
          <p:cNvSpPr txBox="1">
            <a:spLocks noGrp="1"/>
          </p:cNvSpPr>
          <p:nvPr>
            <p:ph type="body" idx="1"/>
          </p:nvPr>
        </p:nvSpPr>
        <p:spPr>
          <a:xfrm>
            <a:off x="852775" y="2198362"/>
            <a:ext cx="7696865" cy="3917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700" dirty="0"/>
              <a:t>AI Infrastructure refers to the integrated system of hardware, software, and network resources that provides the foundation for developing and deploying artificial intelligence models and applications. </a:t>
            </a:r>
            <a:endParaRPr dirty="0"/>
          </a:p>
          <a:p>
            <a:pPr marL="228600" lvl="0" indent="-203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700" dirty="0"/>
              <a:t>It's the backbone that supports the entire lifecycle of AI solutions, from data preprocessing and model training to deployment and maintenance.</a:t>
            </a:r>
            <a:br>
              <a:rPr lang="en-US" sz="1700" dirty="0"/>
            </a:br>
            <a:endParaRPr sz="1700" dirty="0"/>
          </a:p>
        </p:txBody>
      </p:sp>
      <p:sp>
        <p:nvSpPr>
          <p:cNvPr id="179" name="Google Shape;179;p4"/>
          <p:cNvSpPr/>
          <p:nvPr/>
        </p:nvSpPr>
        <p:spPr>
          <a:xfrm rot="10800000">
            <a:off x="4036218" y="6209414"/>
            <a:ext cx="5107781" cy="648586"/>
          </a:xfrm>
          <a:custGeom>
            <a:avLst/>
            <a:gdLst/>
            <a:ahLst/>
            <a:cxnLst/>
            <a:rect l="l" t="t" r="r" b="b"/>
            <a:pathLst>
              <a:path w="10753706" h="1027260" extrusionOk="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450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What Is AI Infrastructure?">
            <a:extLst>
              <a:ext uri="{FF2B5EF4-FFF2-40B4-BE49-F238E27FC236}">
                <a16:creationId xmlns:a16="http://schemas.microsoft.com/office/drawing/2014/main" id="{041108CE-B846-3AE3-3982-D574CFBF1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323" y="3744322"/>
            <a:ext cx="6637353" cy="232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  <a:prstGeom prst="rect">
            <a:avLst/>
          </a:prstGeom>
        </p:spPr>
        <p:txBody>
          <a:bodyPr spcFirstLastPara="1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2800"/>
              <a:t>AI Infrastructure</a:t>
            </a:r>
          </a:p>
        </p:txBody>
      </p:sp>
      <p:pic>
        <p:nvPicPr>
          <p:cNvPr id="187" name="Picture 186" descr="Blue blocks and networks technology background">
            <a:extLst>
              <a:ext uri="{FF2B5EF4-FFF2-40B4-BE49-F238E27FC236}">
                <a16:creationId xmlns:a16="http://schemas.microsoft.com/office/drawing/2014/main" id="{93CED4EA-B226-7EED-26BD-58C12683A9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01" r="49612" b="-446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Google Shape;185;p5"/>
          <p:cNvSpPr txBox="1">
            <a:spLocks noGrp="1"/>
          </p:cNvSpPr>
          <p:nvPr>
            <p:ph type="body" idx="1"/>
          </p:nvPr>
        </p:nvSpPr>
        <p:spPr>
          <a:xfrm>
            <a:off x="4401417" y="2551176"/>
            <a:ext cx="4083287" cy="3591207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228600" lvl="0" indent="-22864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700" b="1"/>
              <a:t>Foundation of AI Projects:</a:t>
            </a:r>
            <a:r>
              <a:rPr lang="en-US" sz="1700"/>
              <a:t> AI Infrastructure is critical for the performance, scalability, and efficiency of AI applications, enabling them to process and analyze large datasets, learn from data, and make intelligent decisions.</a:t>
            </a:r>
          </a:p>
          <a:p>
            <a:pPr marL="228600" lvl="0" indent="-228641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700" b="1"/>
              <a:t>Enabler of Innovation:</a:t>
            </a:r>
            <a:r>
              <a:rPr lang="en-US" sz="1700"/>
              <a:t> A robust AI infrastructure allows organizations to innovate and stay competitive by leveraging the power of AI for improved decision-making, automation, and enhanced customer experiences.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FF81-F3E0-A392-B34A-136DC5397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Integrated Systems</a:t>
            </a:r>
          </a:p>
        </p:txBody>
      </p:sp>
      <p:pic>
        <p:nvPicPr>
          <p:cNvPr id="13" name="Picture 12" descr="Circuit board">
            <a:extLst>
              <a:ext uri="{FF2B5EF4-FFF2-40B4-BE49-F238E27FC236}">
                <a16:creationId xmlns:a16="http://schemas.microsoft.com/office/drawing/2014/main" id="{9984EDC3-4518-1586-029F-69C8B1F1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16" r="19280" b="-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C7BE7-B28C-36D3-C818-16995864E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1346" y="1918010"/>
            <a:ext cx="4884233" cy="4224373"/>
          </a:xfrm>
        </p:spPr>
        <p:txBody>
          <a:bodyPr>
            <a:noAutofit/>
          </a:bodyPr>
          <a:lstStyle/>
          <a:p>
            <a:pPr marL="228600" lvl="0" indent="-228641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dirty="0"/>
              <a:t>It encompasses a range of components, including:</a:t>
            </a:r>
          </a:p>
          <a:p>
            <a:pPr marL="685800" lvl="1" indent="-254041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b="1" dirty="0"/>
              <a:t>Compute Power:</a:t>
            </a:r>
            <a:r>
              <a:rPr lang="en-US" sz="1600" dirty="0"/>
              <a:t> High-performance processors like GPUs (Graphics Processing Units) and TPUs (Tensor Processing Units) that accelerate complex computations required for AI.</a:t>
            </a:r>
          </a:p>
          <a:p>
            <a:pPr marL="685800" lvl="1" indent="-254041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b="1" dirty="0"/>
              <a:t>Storage:</a:t>
            </a:r>
            <a:r>
              <a:rPr lang="en-US" sz="1600" dirty="0"/>
              <a:t> Robust storage solutions to handle vast amounts of data, ensuring it is accessible and secure for AI processing.</a:t>
            </a:r>
          </a:p>
          <a:p>
            <a:pPr marL="685800" lvl="1" indent="-254041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b="1" dirty="0"/>
              <a:t>Networking:</a:t>
            </a:r>
            <a:r>
              <a:rPr lang="en-US" sz="1600" dirty="0"/>
              <a:t> High-speed networks to facilitate swift data transfer and connectivity between different parts of the infrastructure, essential for cloud-based AI solutions and distributed computing.</a:t>
            </a:r>
          </a:p>
          <a:p>
            <a:pPr marL="685800" lvl="1" indent="-254041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b="1" dirty="0"/>
              <a:t>Software and Frameworks:</a:t>
            </a:r>
            <a:r>
              <a:rPr lang="en-US" sz="1600" dirty="0"/>
              <a:t> Specialized AI software and frameworks, such as TensorFlow or </a:t>
            </a:r>
            <a:r>
              <a:rPr lang="en-US" sz="1600" dirty="0" err="1"/>
              <a:t>PyTorch</a:t>
            </a:r>
            <a:r>
              <a:rPr lang="en-US" sz="1600" dirty="0"/>
              <a:t>, that provide the tools and environments necessary for developing and training AI models.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80832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8756f0df07_0_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Why is NVIDIA ahead?</a:t>
            </a:r>
            <a:endParaRPr/>
          </a:p>
        </p:txBody>
      </p:sp>
      <p:pic>
        <p:nvPicPr>
          <p:cNvPr id="192" name="Google Shape;192;g28756f0df07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5375" y="2314438"/>
            <a:ext cx="6753225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511</Words>
  <Application>Microsoft Office PowerPoint</Application>
  <PresentationFormat>On-screen Show (4:3)</PresentationFormat>
  <Paragraphs>35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Heebo</vt:lpstr>
      <vt:lpstr>Arial</vt:lpstr>
      <vt:lpstr>Office Theme</vt:lpstr>
      <vt:lpstr>AI Infrastructure</vt:lpstr>
      <vt:lpstr>Objectives</vt:lpstr>
      <vt:lpstr>AI Market Growth</vt:lpstr>
      <vt:lpstr>Prominent Players</vt:lpstr>
      <vt:lpstr>PowerPoint Presentation</vt:lpstr>
      <vt:lpstr>PowerPoint Presentation</vt:lpstr>
      <vt:lpstr>PowerPoint Presentation</vt:lpstr>
      <vt:lpstr>Common Applications of AI</vt:lpstr>
      <vt:lpstr>What is needed to make AI work?</vt:lpstr>
      <vt:lpstr>What is AI Infrastructure</vt:lpstr>
      <vt:lpstr>AI Infrastructure</vt:lpstr>
      <vt:lpstr>Integrated Systems</vt:lpstr>
      <vt:lpstr>Why is NVIDIA ahead?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Ioannis Papapanagiotou</dc:creator>
  <cp:lastModifiedBy>Ioannis Papapanagiotou</cp:lastModifiedBy>
  <cp:revision>7</cp:revision>
  <dcterms:created xsi:type="dcterms:W3CDTF">2020-04-05T15:03:49Z</dcterms:created>
  <dcterms:modified xsi:type="dcterms:W3CDTF">2024-12-21T18:23:21Z</dcterms:modified>
</cp:coreProperties>
</file>