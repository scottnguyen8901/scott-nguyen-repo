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9144000" cy="6858000" type="screen4x3"/>
  <p:notesSz cx="6858000" cy="9144000"/>
  <p:embeddedFontLst>
    <p:embeddedFont>
      <p:font typeface="Roboto" panose="020000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gfVexnPtG5Xu80yqLeIdQg4cfGy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90" y="16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96" name="Google Shape;9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0" name="Google Shape;11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7" name="Google Shape;11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4" name="Google Shape;12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716a79a5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16a79a5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g2c716a79a5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39" name="Google Shape;13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46" name="Google Shape;14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53" name="Google Shape;15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c716a79a52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c716a79a52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g2c716a79a52_0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c716a79a52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c716a79a52_0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2c716a79a52_0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c716a79a52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2c716a79a52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g2c716a79a52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c716a79a52_0_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c716a79a52_0_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g2c716a79a52_0_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c716a79a52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c716a79a52_0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2c716a79a52_0_4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c716a79a52_0_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c716a79a52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g2c716a79a52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08" name="Google Shape;20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6"/>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7"/>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1"/>
          <p:cNvSpPr>
            <a:spLocks noGrp="1"/>
          </p:cNvSpPr>
          <p:nvPr>
            <p:ph type="pic" idx="2"/>
          </p:nvPr>
        </p:nvSpPr>
        <p:spPr>
          <a:xfrm>
            <a:off x="3887391" y="987426"/>
            <a:ext cx="4629150" cy="4873625"/>
          </a:xfrm>
          <a:prstGeom prst="rect">
            <a:avLst/>
          </a:prstGeom>
          <a:noFill/>
          <a:ln>
            <a:noFill/>
          </a:ln>
        </p:spPr>
      </p:sp>
      <p:sp>
        <p:nvSpPr>
          <p:cNvPr id="68" name="Google Shape;68;p21"/>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
            <a:extLst>
              <a:ext uri="{C183D7F6-B498-43B3-948B-1728B52AA6E4}">
                <adec:decorative xmlns:adec="http://schemas.microsoft.com/office/drawing/2017/decorative" val="1"/>
              </a:ext>
            </a:extLst>
          </p:cNvPr>
          <p:cNvSpPr/>
          <p:nvPr/>
        </p:nvSpPr>
        <p:spPr>
          <a:xfrm>
            <a:off x="356616" y="0"/>
            <a:ext cx="8182719"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0" name="Google Shape;90;p1">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1" name="Google Shape;91;p1"/>
          <p:cNvSpPr txBox="1">
            <a:spLocks noGrp="1"/>
          </p:cNvSpPr>
          <p:nvPr>
            <p:ph type="ctrTitle"/>
          </p:nvPr>
        </p:nvSpPr>
        <p:spPr>
          <a:xfrm>
            <a:off x="2284026" y="2043663"/>
            <a:ext cx="4578895" cy="20310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600"/>
              <a:buFont typeface="Calibri"/>
              <a:buNone/>
            </a:pPr>
            <a:r>
              <a:rPr lang="en-US" sz="5600">
                <a:solidFill>
                  <a:srgbClr val="FFFFFF"/>
                </a:solidFill>
              </a:rPr>
              <a:t>AI Infrastructure</a:t>
            </a:r>
            <a:endParaRPr/>
          </a:p>
        </p:txBody>
      </p:sp>
      <p:sp>
        <p:nvSpPr>
          <p:cNvPr id="92" name="Google Shape;92;p1"/>
          <p:cNvSpPr txBox="1">
            <a:spLocks noGrp="1"/>
          </p:cNvSpPr>
          <p:nvPr>
            <p:ph type="subTitle" idx="1"/>
          </p:nvPr>
        </p:nvSpPr>
        <p:spPr>
          <a:xfrm>
            <a:off x="2284026" y="4074718"/>
            <a:ext cx="4578895" cy="682079"/>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FFFF"/>
              </a:buClr>
              <a:buSzPts val="1500"/>
              <a:buNone/>
            </a:pPr>
            <a:r>
              <a:rPr lang="en-US" sz="1500">
                <a:solidFill>
                  <a:srgbClr val="FFFFFF"/>
                </a:solidFill>
              </a:rPr>
              <a:t>Ioannis Papapanagiotou</a:t>
            </a:r>
            <a:endParaRPr sz="1500">
              <a:solidFill>
                <a:srgbClr val="FFFFFF"/>
              </a:solidFill>
            </a:endParaRPr>
          </a:p>
          <a:p>
            <a:pPr marL="0" lvl="0" indent="0" algn="ctr" rtl="0">
              <a:lnSpc>
                <a:spcPct val="90000"/>
              </a:lnSpc>
              <a:spcBef>
                <a:spcPts val="1000"/>
              </a:spcBef>
              <a:spcAft>
                <a:spcPts val="0"/>
              </a:spcAft>
              <a:buClr>
                <a:srgbClr val="FFFFFF"/>
              </a:buClr>
              <a:buSzPts val="1500"/>
              <a:buNone/>
            </a:pPr>
            <a:r>
              <a:rPr lang="en-US" sz="1500">
                <a:solidFill>
                  <a:srgbClr val="FFFFFF"/>
                </a:solidFill>
              </a:rPr>
              <a:t>Cloud and On premises AI Infrastructure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Cloud vs on-premises AI Infrastructure</a:t>
            </a:r>
            <a:endParaRPr/>
          </a:p>
        </p:txBody>
      </p:sp>
      <p:sp>
        <p:nvSpPr>
          <p:cNvPr id="99" name="Google Shape;99;p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457200" lvl="0" indent="-381000" algn="l" rtl="0">
              <a:lnSpc>
                <a:spcPct val="90000"/>
              </a:lnSpc>
              <a:spcBef>
                <a:spcPts val="0"/>
              </a:spcBef>
              <a:spcAft>
                <a:spcPts val="0"/>
              </a:spcAft>
              <a:buSzPts val="2400"/>
              <a:buChar char="•"/>
            </a:pPr>
            <a:r>
              <a:rPr lang="en-US" sz="2400" dirty="0">
                <a:highlight>
                  <a:srgbClr val="FFFFFF"/>
                </a:highlight>
                <a:latin typeface="Arial"/>
                <a:ea typeface="Arial"/>
                <a:cs typeface="Arial"/>
                <a:sym typeface="Arial"/>
              </a:rPr>
              <a:t>Navigating the cloud vs. on-premises dilemma for AI workloads requires a deep understanding of your</a:t>
            </a:r>
          </a:p>
          <a:p>
            <a:pPr lvl="1" indent="-381000">
              <a:spcBef>
                <a:spcPts val="0"/>
              </a:spcBef>
              <a:buSzPts val="2400"/>
            </a:pPr>
            <a:r>
              <a:rPr lang="en-US" sz="2000" dirty="0">
                <a:highlight>
                  <a:srgbClr val="FFFFFF"/>
                </a:highlight>
                <a:latin typeface="Arial"/>
                <a:ea typeface="Arial"/>
                <a:cs typeface="Arial"/>
                <a:sym typeface="Arial"/>
              </a:rPr>
              <a:t>Data, </a:t>
            </a:r>
          </a:p>
          <a:p>
            <a:pPr lvl="1" indent="-381000">
              <a:spcBef>
                <a:spcPts val="0"/>
              </a:spcBef>
              <a:buSzPts val="2400"/>
            </a:pPr>
            <a:r>
              <a:rPr lang="en-US" sz="2000" dirty="0">
                <a:highlight>
                  <a:srgbClr val="FFFFFF"/>
                </a:highlight>
                <a:latin typeface="Arial"/>
                <a:ea typeface="Arial"/>
                <a:cs typeface="Arial"/>
                <a:sym typeface="Arial"/>
              </a:rPr>
              <a:t>Budget</a:t>
            </a:r>
          </a:p>
          <a:p>
            <a:pPr lvl="1" indent="-381000">
              <a:spcBef>
                <a:spcPts val="0"/>
              </a:spcBef>
              <a:buSzPts val="2400"/>
            </a:pPr>
            <a:r>
              <a:rPr lang="en-US" sz="2000" dirty="0">
                <a:highlight>
                  <a:srgbClr val="FFFFFF"/>
                </a:highlight>
                <a:latin typeface="Arial"/>
                <a:ea typeface="Arial"/>
                <a:cs typeface="Arial"/>
                <a:sym typeface="Arial"/>
              </a:rPr>
              <a:t>Performance requirements. </a:t>
            </a:r>
            <a:endParaRPr sz="2000" dirty="0">
              <a:highlight>
                <a:srgbClr val="FFFFFF"/>
              </a:highlight>
              <a:latin typeface="Arial"/>
              <a:ea typeface="Arial"/>
              <a:cs typeface="Arial"/>
              <a:sym typeface="Arial"/>
            </a:endParaRPr>
          </a:p>
          <a:p>
            <a:pPr marL="457200" lvl="0" indent="-381000" algn="l" rtl="0">
              <a:lnSpc>
                <a:spcPct val="90000"/>
              </a:lnSpc>
              <a:spcBef>
                <a:spcPts val="0"/>
              </a:spcBef>
              <a:spcAft>
                <a:spcPts val="0"/>
              </a:spcAft>
              <a:buSzPts val="2400"/>
              <a:buChar char="•"/>
            </a:pPr>
            <a:r>
              <a:rPr lang="en-US" sz="2400" dirty="0">
                <a:highlight>
                  <a:srgbClr val="FFFFFF"/>
                </a:highlight>
                <a:latin typeface="Arial"/>
                <a:ea typeface="Arial"/>
                <a:cs typeface="Arial"/>
                <a:sym typeface="Arial"/>
              </a:rPr>
              <a:t>While the cloud offers flexibility and scalability, on-premises infrastructure provides control and cost-effectiveness, especially in the face of </a:t>
            </a:r>
            <a:r>
              <a:rPr lang="en-US" sz="2400" dirty="0">
                <a:solidFill>
                  <a:schemeClr val="accent1"/>
                </a:solidFill>
                <a:highlight>
                  <a:srgbClr val="FFFFFF"/>
                </a:highlight>
                <a:latin typeface="Arial"/>
                <a:ea typeface="Arial"/>
                <a:cs typeface="Arial"/>
                <a:sym typeface="Arial"/>
              </a:rPr>
              <a:t>data gravity</a:t>
            </a:r>
            <a:r>
              <a:rPr lang="en-US" sz="2400" dirty="0">
                <a:highlight>
                  <a:srgbClr val="FFFFFF"/>
                </a:highlight>
                <a:latin typeface="Arial"/>
                <a:ea typeface="Arial"/>
                <a:cs typeface="Arial"/>
                <a:sym typeface="Arial"/>
              </a:rPr>
              <a:t>.</a:t>
            </a:r>
          </a:p>
          <a:p>
            <a:pPr indent="-381000">
              <a:spcBef>
                <a:spcPts val="0"/>
              </a:spcBef>
              <a:buSzPts val="2400"/>
            </a:pPr>
            <a:r>
              <a:rPr lang="en-US" sz="2400" dirty="0"/>
              <a:t>This session explores both, helping you make informed decisions tailored to your specific needs.</a:t>
            </a:r>
          </a:p>
          <a:p>
            <a:pPr marL="76200" lvl="0" indent="0" algn="l" rtl="0">
              <a:lnSpc>
                <a:spcPct val="90000"/>
              </a:lnSpc>
              <a:spcBef>
                <a:spcPts val="0"/>
              </a:spcBef>
              <a:spcAft>
                <a:spcPts val="0"/>
              </a:spcAft>
              <a:buSzPts val="2400"/>
              <a:buNone/>
            </a:pPr>
            <a:r>
              <a:rPr lang="en-US" sz="2400" dirty="0">
                <a:highlight>
                  <a:srgbClr val="FFFFFF"/>
                </a:highlight>
                <a:latin typeface="Arial"/>
                <a:ea typeface="Arial"/>
                <a:cs typeface="Arial"/>
                <a:sym typeface="Arial"/>
              </a:rPr>
              <a:t> </a:t>
            </a:r>
            <a:endParaRPr sz="2400" dirty="0">
              <a:highlight>
                <a:srgbClr val="FFFFFF"/>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is Cloud based AI Infrastructure</a:t>
            </a:r>
            <a:endParaRPr/>
          </a:p>
        </p:txBody>
      </p:sp>
      <p:sp>
        <p:nvSpPr>
          <p:cNvPr id="113" name="Google Shape;113;p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Cloud-based AI infrastructure utilizes remote servers hosted on the internet to manage and process data. </a:t>
            </a:r>
          </a:p>
          <a:p>
            <a:pPr marL="685800" lvl="1" indent="-228600">
              <a:spcBef>
                <a:spcPts val="0"/>
              </a:spcBef>
              <a:buSzPts val="2800"/>
            </a:pPr>
            <a:r>
              <a:rPr lang="en-US" dirty="0"/>
              <a:t>A Cloud vendor is hosting the compute, storage resources (data location) and in some cases you can also use AI/ML models running on the Cloud</a:t>
            </a:r>
            <a:endParaRPr dirty="0"/>
          </a:p>
          <a:p>
            <a:pPr marL="228600" lvl="0" indent="-228600" algn="l" rtl="0">
              <a:lnSpc>
                <a:spcPct val="90000"/>
              </a:lnSpc>
              <a:spcBef>
                <a:spcPts val="0"/>
              </a:spcBef>
              <a:spcAft>
                <a:spcPts val="0"/>
              </a:spcAft>
              <a:buClr>
                <a:schemeClr val="dk1"/>
              </a:buClr>
              <a:buSzPts val="2800"/>
              <a:buChar char="•"/>
            </a:pPr>
            <a:r>
              <a:rPr lang="en-US" dirty="0"/>
              <a:t>This model offers flexibility and scalability, allowing organizations to access vast computational resources on-demand without significant upfront investment.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Pros of Cloud-based AI Infrastructure</a:t>
            </a:r>
            <a:endParaRPr/>
          </a:p>
        </p:txBody>
      </p:sp>
      <p:sp>
        <p:nvSpPr>
          <p:cNvPr id="120" name="Google Shape;120;p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2800"/>
              <a:buChar char="•"/>
            </a:pPr>
            <a:r>
              <a:rPr lang="en-US" b="1" dirty="0"/>
              <a:t>Cost-Effective</a:t>
            </a:r>
            <a:r>
              <a:rPr lang="en-US" dirty="0"/>
              <a:t>: Reduces the need for upfront hardware investment and ongoing maintenance costs.</a:t>
            </a:r>
          </a:p>
          <a:p>
            <a:pPr marL="685800" lvl="1" indent="-228600">
              <a:spcBef>
                <a:spcPts val="0"/>
              </a:spcBef>
              <a:buSzPts val="2800"/>
            </a:pPr>
            <a:r>
              <a:rPr lang="en-US" dirty="0"/>
              <a:t>Reducing CAPEX and increasing OPEX due to the Cloud providers charging a margin cost for each service they offer.</a:t>
            </a:r>
            <a:endParaRPr dirty="0"/>
          </a:p>
          <a:p>
            <a:pPr marL="228600" lvl="0" indent="-228600" algn="l" rtl="0">
              <a:lnSpc>
                <a:spcPct val="90000"/>
              </a:lnSpc>
              <a:spcBef>
                <a:spcPts val="1000"/>
              </a:spcBef>
              <a:spcAft>
                <a:spcPts val="0"/>
              </a:spcAft>
              <a:buClr>
                <a:schemeClr val="dk1"/>
              </a:buClr>
              <a:buSzPts val="2800"/>
              <a:buChar char="•"/>
            </a:pPr>
            <a:r>
              <a:rPr lang="en-US" b="1" dirty="0"/>
              <a:t>Scalability</a:t>
            </a:r>
            <a:r>
              <a:rPr lang="en-US" dirty="0"/>
              <a:t>: Easily scales resources up or down based on demand.</a:t>
            </a:r>
            <a:endParaRPr dirty="0"/>
          </a:p>
          <a:p>
            <a:pPr marL="228600" lvl="0" indent="-228600" algn="l" rtl="0">
              <a:lnSpc>
                <a:spcPct val="90000"/>
              </a:lnSpc>
              <a:spcBef>
                <a:spcPts val="1000"/>
              </a:spcBef>
              <a:spcAft>
                <a:spcPts val="0"/>
              </a:spcAft>
              <a:buClr>
                <a:schemeClr val="dk1"/>
              </a:buClr>
              <a:buSzPts val="2800"/>
              <a:buChar char="•"/>
            </a:pPr>
            <a:r>
              <a:rPr lang="en-US" b="1" dirty="0"/>
              <a:t>Accessibility</a:t>
            </a:r>
            <a:r>
              <a:rPr lang="en-US" dirty="0"/>
              <a:t>: Facilitates remote access, collaboration, and integration with various services.</a:t>
            </a:r>
          </a:p>
          <a:p>
            <a:pPr marL="228600" lvl="0" indent="-228600" algn="l" rtl="0">
              <a:lnSpc>
                <a:spcPct val="90000"/>
              </a:lnSpc>
              <a:spcBef>
                <a:spcPts val="1000"/>
              </a:spcBef>
              <a:spcAft>
                <a:spcPts val="0"/>
              </a:spcAft>
              <a:buClr>
                <a:schemeClr val="dk1"/>
              </a:buClr>
              <a:buSzPts val="2800"/>
              <a:buChar char="•"/>
            </a:pPr>
            <a:r>
              <a:rPr lang="en-US" b="1" dirty="0"/>
              <a:t>Talent</a:t>
            </a:r>
            <a:r>
              <a:rPr lang="en-US" dirty="0"/>
              <a:t>: An AI based application company can focus on acquiring talent in the area that they are competitive than hiring datacenter operations teams.</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Cons of Cloud-based AI Infrastructure</a:t>
            </a:r>
            <a:endParaRPr/>
          </a:p>
        </p:txBody>
      </p:sp>
      <p:sp>
        <p:nvSpPr>
          <p:cNvPr id="127" name="Google Shape;127;p6"/>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b="1" dirty="0"/>
              <a:t>Data Security</a:t>
            </a:r>
            <a:r>
              <a:rPr lang="en-US" dirty="0"/>
              <a:t>: Potential vulnerabilities in data privacy and security. </a:t>
            </a:r>
          </a:p>
          <a:p>
            <a:pPr marL="685800" lvl="1" indent="-228600">
              <a:spcBef>
                <a:spcPts val="0"/>
              </a:spcBef>
              <a:buSzPts val="2800"/>
            </a:pPr>
            <a:r>
              <a:rPr lang="en-US" dirty="0"/>
              <a:t>While Cloud provide state-of-art security capability there is confusion on who owns the “security” of the platform</a:t>
            </a:r>
            <a:endParaRPr dirty="0"/>
          </a:p>
          <a:p>
            <a:pPr marL="228600" lvl="0" indent="-228600" algn="l" rtl="0">
              <a:lnSpc>
                <a:spcPct val="90000"/>
              </a:lnSpc>
              <a:spcBef>
                <a:spcPts val="1000"/>
              </a:spcBef>
              <a:spcAft>
                <a:spcPts val="0"/>
              </a:spcAft>
              <a:buClr>
                <a:schemeClr val="dk1"/>
              </a:buClr>
              <a:buSzPts val="2800"/>
              <a:buChar char="•"/>
            </a:pPr>
            <a:r>
              <a:rPr lang="en-US" b="1" dirty="0"/>
              <a:t>Internet Dependency:</a:t>
            </a:r>
            <a:r>
              <a:rPr lang="en-US" dirty="0"/>
              <a:t> Relies heavily on internet connectivity, which can affect access and speed.</a:t>
            </a:r>
            <a:endParaRPr dirty="0"/>
          </a:p>
          <a:p>
            <a:pPr marL="228600" lvl="0" indent="-228600" algn="l" rtl="0">
              <a:lnSpc>
                <a:spcPct val="90000"/>
              </a:lnSpc>
              <a:spcBef>
                <a:spcPts val="1000"/>
              </a:spcBef>
              <a:spcAft>
                <a:spcPts val="0"/>
              </a:spcAft>
              <a:buClr>
                <a:schemeClr val="dk1"/>
              </a:buClr>
              <a:buSzPts val="2800"/>
              <a:buChar char="•"/>
            </a:pPr>
            <a:r>
              <a:rPr lang="en-US" b="1" dirty="0"/>
              <a:t>Latency Issues</a:t>
            </a:r>
            <a:r>
              <a:rPr lang="en-US" dirty="0"/>
              <a:t>: Possible delays in data processing due to network lag.</a:t>
            </a:r>
          </a:p>
          <a:p>
            <a:pPr marL="685800" lvl="1" indent="-228600">
              <a:spcBef>
                <a:spcPts val="1000"/>
              </a:spcBef>
              <a:buSzPts val="2800"/>
            </a:pPr>
            <a:r>
              <a:rPr lang="en-US" dirty="0"/>
              <a:t>This can be significant when you are loading significant sized data for training an AI model.</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2"/>
        <p:cNvGrpSpPr/>
        <p:nvPr/>
      </p:nvGrpSpPr>
      <p:grpSpPr>
        <a:xfrm>
          <a:off x="0" y="0"/>
          <a:ext cx="0" cy="0"/>
          <a:chOff x="0" y="0"/>
          <a:chExt cx="0" cy="0"/>
        </a:xfrm>
      </p:grpSpPr>
      <p:sp>
        <p:nvSpPr>
          <p:cNvPr id="133" name="Google Shape;133;g2c716a79a52_0_0"/>
          <p:cNvSpPr txBox="1">
            <a:spLocks noGrp="1"/>
          </p:cNvSpPr>
          <p:nvPr>
            <p:ph type="title"/>
          </p:nvPr>
        </p:nvSpPr>
        <p:spPr>
          <a:xfrm>
            <a:off x="360759" y="3752849"/>
            <a:ext cx="2468166" cy="2452687"/>
          </a:xfrm>
          <a:prstGeom prst="rect">
            <a:avLst/>
          </a:prstGeom>
        </p:spPr>
        <p:txBody>
          <a:bodyPr spcFirstLastPara="1" lIns="91425" tIns="45700" rIns="91425" bIns="45700" anchor="ctr" anchorCtr="0">
            <a:normAutofit/>
          </a:bodyPr>
          <a:lstStyle/>
          <a:p>
            <a:pPr marL="0" lvl="0" indent="0" rtl="0">
              <a:spcBef>
                <a:spcPts val="0"/>
              </a:spcBef>
              <a:spcAft>
                <a:spcPts val="0"/>
              </a:spcAft>
              <a:buNone/>
            </a:pPr>
            <a:r>
              <a:rPr lang="en-US" sz="3100"/>
              <a:t>Cloud Security</a:t>
            </a:r>
          </a:p>
        </p:txBody>
      </p:sp>
      <p:pic>
        <p:nvPicPr>
          <p:cNvPr id="135" name="Google Shape;135;g2c716a79a52_0_0">
            <a:extLst>
              <a:ext uri="{C183D7F6-B498-43B3-948B-1728B52AA6E4}">
                <adec:decorative xmlns:adec="http://schemas.microsoft.com/office/drawing/2017/decorative" val="1"/>
              </a:ext>
            </a:extLst>
          </p:cNvPr>
          <p:cNvPicPr preferRelativeResize="0"/>
          <p:nvPr/>
        </p:nvPicPr>
        <p:blipFill>
          <a:blip r:embed="rId3"/>
          <a:srcRect t="18295" b="9563"/>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p:spPr>
      </p:pic>
      <p:sp>
        <p:nvSpPr>
          <p:cNvPr id="134" name="Google Shape;134;g2c716a79a52_0_0"/>
          <p:cNvSpPr txBox="1">
            <a:spLocks noGrp="1"/>
          </p:cNvSpPr>
          <p:nvPr>
            <p:ph type="body" idx="1"/>
          </p:nvPr>
        </p:nvSpPr>
        <p:spPr>
          <a:xfrm>
            <a:off x="3167986" y="3752850"/>
            <a:ext cx="5614060" cy="2452687"/>
          </a:xfrm>
          <a:prstGeom prst="rect">
            <a:avLst/>
          </a:prstGeom>
        </p:spPr>
        <p:txBody>
          <a:bodyPr spcFirstLastPara="1" lIns="91425" tIns="45700" rIns="91425" bIns="45700" anchor="ctr" anchorCtr="0">
            <a:normAutofit/>
          </a:bodyPr>
          <a:lstStyle/>
          <a:p>
            <a:pPr marL="457200" lvl="0" indent="-302577" rtl="0">
              <a:spcBef>
                <a:spcPts val="1000"/>
              </a:spcBef>
              <a:spcAft>
                <a:spcPts val="0"/>
              </a:spcAft>
              <a:buSzPts val="1165"/>
              <a:buChar char="●"/>
            </a:pPr>
            <a:r>
              <a:rPr lang="en-US" sz="1400" b="1" dirty="0"/>
              <a:t>Cloud Security Standards:</a:t>
            </a:r>
            <a:r>
              <a:rPr lang="en-US" sz="1400" dirty="0"/>
              <a:t> Cloud providers do indeed adhere to high standards of security and often hold certifications like ISO 27001, SOC 2, etc. They invest heavily in securing their infrastructure with advanced security protocols, regular audits, and compliance checks.</a:t>
            </a:r>
          </a:p>
          <a:p>
            <a:pPr marL="457200" lvl="0" indent="-302577" rtl="0">
              <a:spcBef>
                <a:spcPts val="1000"/>
              </a:spcBef>
              <a:spcAft>
                <a:spcPts val="0"/>
              </a:spcAft>
              <a:buSzPts val="1165"/>
              <a:buChar char="●"/>
            </a:pPr>
            <a:r>
              <a:rPr lang="en-US" sz="1400" b="1" dirty="0"/>
              <a:t>Shared Responsibility Model: </a:t>
            </a:r>
            <a:r>
              <a:rPr lang="en-US" sz="1400" dirty="0"/>
              <a:t>In the cloud, security is a shared responsibility between the provider and the customer. </a:t>
            </a:r>
          </a:p>
          <a:p>
            <a:pPr lvl="1" indent="-302577">
              <a:spcBef>
                <a:spcPts val="1000"/>
              </a:spcBef>
              <a:buSzPts val="1165"/>
              <a:buChar char="●"/>
            </a:pPr>
            <a:r>
              <a:rPr lang="en-US" sz="1000" dirty="0"/>
              <a:t>While cloud providers secure the infrastructure, customers are responsible for securing their data and applications on the cloud. This division of responsibility can lead to vulnerabilities if customers do not adequately manage their part.</a:t>
            </a:r>
            <a:endParaRPr lang="en-US" sz="1000" dirty="0">
              <a:highlight>
                <a:srgbClr val="FFFFFF"/>
              </a:highlight>
              <a:latin typeface="Roboto"/>
              <a:ea typeface="Roboto"/>
              <a:cs typeface="Roboto"/>
              <a:sym typeface="Roboto"/>
            </a:endParaRPr>
          </a:p>
          <a:p>
            <a:pPr marL="0" lvl="0" indent="0" rtl="0">
              <a:spcBef>
                <a:spcPts val="1000"/>
              </a:spcBef>
              <a:spcAft>
                <a:spcPts val="0"/>
              </a:spcAft>
              <a:buSzPts val="1018"/>
              <a:buNone/>
            </a:pP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0"/>
        <p:cNvGrpSpPr/>
        <p:nvPr/>
      </p:nvGrpSpPr>
      <p:grpSpPr>
        <a:xfrm>
          <a:off x="0" y="0"/>
          <a:ext cx="0" cy="0"/>
          <a:chOff x="0" y="0"/>
          <a:chExt cx="0" cy="0"/>
        </a:xfrm>
      </p:grpSpPr>
      <p:sp>
        <p:nvSpPr>
          <p:cNvPr id="141" name="Google Shape;141;p7"/>
          <p:cNvSpPr txBox="1">
            <a:spLocks noGrp="1"/>
          </p:cNvSpPr>
          <p:nvPr>
            <p:ph type="title"/>
          </p:nvPr>
        </p:nvSpPr>
        <p:spPr>
          <a:xfrm>
            <a:off x="360759" y="3752849"/>
            <a:ext cx="2468166" cy="2452687"/>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4400"/>
              <a:buFont typeface="Calibri"/>
              <a:buNone/>
            </a:pPr>
            <a:r>
              <a:rPr lang="en-US" sz="3100"/>
              <a:t>What is On-premises AI Infrastructure</a:t>
            </a:r>
          </a:p>
        </p:txBody>
      </p:sp>
      <p:pic>
        <p:nvPicPr>
          <p:cNvPr id="144" name="Picture 143">
            <a:extLst>
              <a:ext uri="{FF2B5EF4-FFF2-40B4-BE49-F238E27FC236}">
                <a16:creationId xmlns:a16="http://schemas.microsoft.com/office/drawing/2014/main" id="{367C6545-8172-73A7-A8B2-27F873B44F92}"/>
              </a:ext>
              <a:ext uri="{C183D7F6-B498-43B3-948B-1728B52AA6E4}">
                <adec:decorative xmlns:adec="http://schemas.microsoft.com/office/drawing/2017/decorative" val="1"/>
              </a:ext>
            </a:extLst>
          </p:cNvPr>
          <p:cNvPicPr>
            <a:picLocks noChangeAspect="1"/>
          </p:cNvPicPr>
          <p:nvPr/>
        </p:nvPicPr>
        <p:blipFill>
          <a:blip r:embed="rId3"/>
          <a:srcRect t="20495" b="7041"/>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142" name="Google Shape;142;p7"/>
          <p:cNvSpPr txBox="1">
            <a:spLocks noGrp="1"/>
          </p:cNvSpPr>
          <p:nvPr>
            <p:ph type="body" idx="1"/>
          </p:nvPr>
        </p:nvSpPr>
        <p:spPr>
          <a:xfrm>
            <a:off x="3167986" y="3752850"/>
            <a:ext cx="5614060" cy="2452687"/>
          </a:xfrm>
          <a:prstGeom prst="rect">
            <a:avLst/>
          </a:prstGeom>
        </p:spPr>
        <p:txBody>
          <a:bodyPr spcFirstLastPara="1" lIns="91425" tIns="45700" rIns="91425" bIns="45700" anchor="ctr" anchorCtr="0">
            <a:normAutofit/>
          </a:bodyPr>
          <a:lstStyle/>
          <a:p>
            <a:pPr marL="228600" lvl="0" indent="-228600" rtl="0">
              <a:spcBef>
                <a:spcPts val="0"/>
              </a:spcBef>
              <a:spcAft>
                <a:spcPts val="600"/>
              </a:spcAft>
              <a:buClr>
                <a:schemeClr val="dk1"/>
              </a:buClr>
              <a:buSzPts val="2800"/>
              <a:buChar char="•"/>
            </a:pPr>
            <a:r>
              <a:rPr lang="en-US" sz="1600" dirty="0"/>
              <a:t>On-premises AI infrastructure refers to the resources located within an organization's physical premises. </a:t>
            </a:r>
          </a:p>
          <a:p>
            <a:pPr marL="685800" lvl="1" indent="-228600">
              <a:spcBef>
                <a:spcPts val="0"/>
              </a:spcBef>
              <a:spcAft>
                <a:spcPts val="600"/>
              </a:spcAft>
              <a:buSzPts val="2800"/>
            </a:pPr>
            <a:r>
              <a:rPr lang="en-US" sz="1200" dirty="0"/>
              <a:t>That is the resources are in a physical datacenter that is run with the company who is deploying AI applications.</a:t>
            </a:r>
          </a:p>
          <a:p>
            <a:pPr marL="228600" lvl="0" indent="-228600" rtl="0">
              <a:spcBef>
                <a:spcPts val="0"/>
              </a:spcBef>
              <a:spcAft>
                <a:spcPts val="600"/>
              </a:spcAft>
              <a:buClr>
                <a:schemeClr val="dk1"/>
              </a:buClr>
              <a:buSzPts val="2800"/>
              <a:buChar char="•"/>
            </a:pPr>
            <a:r>
              <a:rPr lang="en-US" sz="1600" dirty="0"/>
              <a:t>This model offers complete control over the hardware and software environment, ensuring higher levels of security and customization.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Pros of On-premises AI Infrastructure</a:t>
            </a:r>
            <a:endParaRPr/>
          </a:p>
        </p:txBody>
      </p:sp>
      <p:sp>
        <p:nvSpPr>
          <p:cNvPr id="149" name="Google Shape;149;p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dirty="0"/>
              <a:t>Complete Control</a:t>
            </a:r>
            <a:r>
              <a:rPr lang="en-US" dirty="0"/>
              <a:t>: Full authority over the infrastructure, offering customization and optimization.</a:t>
            </a:r>
            <a:endParaRPr dirty="0"/>
          </a:p>
          <a:p>
            <a:pPr marL="228600" lvl="0" indent="-228600" algn="l" rtl="0">
              <a:lnSpc>
                <a:spcPct val="90000"/>
              </a:lnSpc>
              <a:spcBef>
                <a:spcPts val="1000"/>
              </a:spcBef>
              <a:spcAft>
                <a:spcPts val="0"/>
              </a:spcAft>
              <a:buClr>
                <a:schemeClr val="dk1"/>
              </a:buClr>
              <a:buSzPts val="2800"/>
              <a:buChar char="•"/>
            </a:pPr>
            <a:r>
              <a:rPr lang="en-US" b="1" dirty="0"/>
              <a:t>Security</a:t>
            </a:r>
            <a:r>
              <a:rPr lang="en-US" dirty="0"/>
              <a:t>: Greater control over data security and compliance with regulatory requirements.</a:t>
            </a:r>
            <a:endParaRPr dirty="0"/>
          </a:p>
          <a:p>
            <a:pPr marL="228600" lvl="0" indent="-228600" algn="l" rtl="0">
              <a:lnSpc>
                <a:spcPct val="90000"/>
              </a:lnSpc>
              <a:spcBef>
                <a:spcPts val="1000"/>
              </a:spcBef>
              <a:spcAft>
                <a:spcPts val="0"/>
              </a:spcAft>
              <a:buClr>
                <a:schemeClr val="dk1"/>
              </a:buClr>
              <a:buSzPts val="2800"/>
              <a:buChar char="•"/>
            </a:pPr>
            <a:r>
              <a:rPr lang="en-US" b="1" dirty="0"/>
              <a:t>Network Performance</a:t>
            </a:r>
            <a:r>
              <a:rPr lang="en-US" dirty="0"/>
              <a:t>: Reduced latency to transfer large amounts of data as the data are within the datacenter.</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Cons of On-premises AI Infrastructure</a:t>
            </a:r>
            <a:endParaRPr/>
          </a:p>
        </p:txBody>
      </p:sp>
      <p:sp>
        <p:nvSpPr>
          <p:cNvPr id="156" name="Google Shape;156;p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a:t>Higher Initial Costs</a:t>
            </a:r>
            <a:r>
              <a:rPr lang="en-US"/>
              <a:t>: Significant investment required for hardware purchase and setup.</a:t>
            </a:r>
            <a:endParaRPr/>
          </a:p>
          <a:p>
            <a:pPr marL="228600" lvl="0" indent="-228600" algn="l" rtl="0">
              <a:lnSpc>
                <a:spcPct val="90000"/>
              </a:lnSpc>
              <a:spcBef>
                <a:spcPts val="1000"/>
              </a:spcBef>
              <a:spcAft>
                <a:spcPts val="0"/>
              </a:spcAft>
              <a:buClr>
                <a:schemeClr val="dk1"/>
              </a:buClr>
              <a:buSzPts val="2800"/>
              <a:buChar char="•"/>
            </a:pPr>
            <a:r>
              <a:rPr lang="en-US" b="1"/>
              <a:t>Complexity in Management</a:t>
            </a:r>
            <a:r>
              <a:rPr lang="en-US"/>
              <a:t>: Requires skilled personnel for ongoing maintenance and upgrades.</a:t>
            </a:r>
            <a:endParaRPr/>
          </a:p>
          <a:p>
            <a:pPr marL="228600" lvl="0" indent="-228600" algn="l" rtl="0">
              <a:lnSpc>
                <a:spcPct val="90000"/>
              </a:lnSpc>
              <a:spcBef>
                <a:spcPts val="1000"/>
              </a:spcBef>
              <a:spcAft>
                <a:spcPts val="0"/>
              </a:spcAft>
              <a:buClr>
                <a:schemeClr val="dk1"/>
              </a:buClr>
              <a:buSzPts val="2800"/>
              <a:buChar char="•"/>
            </a:pPr>
            <a:r>
              <a:rPr lang="en-US" b="1"/>
              <a:t>Limited Scalability</a:t>
            </a:r>
            <a:r>
              <a:rPr lang="en-US"/>
              <a:t>: Expanding capacity can be costly and physically constrained.</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1"/>
        <p:cNvGrpSpPr/>
        <p:nvPr/>
      </p:nvGrpSpPr>
      <p:grpSpPr>
        <a:xfrm>
          <a:off x="0" y="0"/>
          <a:ext cx="0" cy="0"/>
          <a:chOff x="0" y="0"/>
          <a:chExt cx="0" cy="0"/>
        </a:xfrm>
      </p:grpSpPr>
      <p:sp>
        <p:nvSpPr>
          <p:cNvPr id="162" name="Google Shape;162;g2c716a79a52_0_9"/>
          <p:cNvSpPr txBox="1">
            <a:spLocks noGrp="1"/>
          </p:cNvSpPr>
          <p:nvPr>
            <p:ph type="title"/>
          </p:nvPr>
        </p:nvSpPr>
        <p:spPr>
          <a:xfrm>
            <a:off x="360759" y="3752849"/>
            <a:ext cx="2468166" cy="2452687"/>
          </a:xfrm>
          <a:prstGeom prst="rect">
            <a:avLst/>
          </a:prstGeom>
        </p:spPr>
        <p:txBody>
          <a:bodyPr spcFirstLastPara="1" lIns="91425" tIns="45700" rIns="91425" bIns="45700" anchor="ctr" anchorCtr="0">
            <a:normAutofit/>
          </a:bodyPr>
          <a:lstStyle/>
          <a:p>
            <a:pPr marL="0" lvl="0" indent="0" rtl="0">
              <a:spcBef>
                <a:spcPts val="0"/>
              </a:spcBef>
              <a:spcAft>
                <a:spcPts val="0"/>
              </a:spcAft>
              <a:buNone/>
            </a:pPr>
            <a:r>
              <a:rPr lang="en-US" sz="3100"/>
              <a:t>On Prem AI Infrastructure</a:t>
            </a:r>
          </a:p>
        </p:txBody>
      </p:sp>
      <p:pic>
        <p:nvPicPr>
          <p:cNvPr id="164" name="Google Shape;164;g2c716a79a52_0_9">
            <a:extLst>
              <a:ext uri="{C183D7F6-B498-43B3-948B-1728B52AA6E4}">
                <adec:decorative xmlns:adec="http://schemas.microsoft.com/office/drawing/2017/decorative" val="1"/>
              </a:ext>
            </a:extLst>
          </p:cNvPr>
          <p:cNvPicPr preferRelativeResize="0"/>
          <p:nvPr/>
        </p:nvPicPr>
        <p:blipFill>
          <a:blip r:embed="rId3"/>
          <a:srcRect t="27858"/>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p:spPr>
      </p:pic>
      <p:sp>
        <p:nvSpPr>
          <p:cNvPr id="163" name="Google Shape;163;g2c716a79a52_0_9"/>
          <p:cNvSpPr txBox="1">
            <a:spLocks noGrp="1"/>
          </p:cNvSpPr>
          <p:nvPr>
            <p:ph type="body" idx="1"/>
          </p:nvPr>
        </p:nvSpPr>
        <p:spPr>
          <a:xfrm>
            <a:off x="3167986" y="3752850"/>
            <a:ext cx="5614060" cy="2452687"/>
          </a:xfrm>
          <a:prstGeom prst="rect">
            <a:avLst/>
          </a:prstGeom>
        </p:spPr>
        <p:txBody>
          <a:bodyPr spcFirstLastPara="1" lIns="91425" tIns="45700" rIns="91425" bIns="45700" anchor="ctr" anchorCtr="0">
            <a:normAutofit/>
          </a:bodyPr>
          <a:lstStyle/>
          <a:p>
            <a:pPr marL="457200" lvl="0" indent="-298450" rtl="0">
              <a:spcBef>
                <a:spcPts val="1000"/>
              </a:spcBef>
              <a:spcAft>
                <a:spcPts val="0"/>
              </a:spcAft>
              <a:buSzPts val="1100"/>
              <a:buChar char="•"/>
            </a:pPr>
            <a:r>
              <a:rPr lang="en-US" sz="1600" dirty="0"/>
              <a:t>In-house data center deployment cost can be high because a deployment of computation intensive systems with GPUs can require a lot of electricity, cooling, networking and expensive real estate.</a:t>
            </a:r>
          </a:p>
          <a:p>
            <a:pPr marL="457200" lvl="0" indent="-298450" rtl="0">
              <a:spcBef>
                <a:spcPts val="0"/>
              </a:spcBef>
              <a:spcAft>
                <a:spcPts val="0"/>
              </a:spcAft>
              <a:buSzPts val="1100"/>
              <a:buChar char="•"/>
            </a:pPr>
            <a:r>
              <a:rPr lang="en-US" sz="1600" dirty="0"/>
              <a:t>While experimenting with AI, choosing the pay as you go options would save costs.</a:t>
            </a:r>
          </a:p>
          <a:p>
            <a:pPr marL="914400" lvl="1" indent="-298450" rtl="0">
              <a:spcBef>
                <a:spcPts val="0"/>
              </a:spcBef>
              <a:spcAft>
                <a:spcPts val="0"/>
              </a:spcAft>
              <a:buSzPts val="1100"/>
              <a:buChar char="•"/>
            </a:pPr>
            <a:r>
              <a:rPr lang="en-US" sz="1600" dirty="0"/>
              <a:t>However, maintenance costs can increase over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9"/>
        <p:cNvGrpSpPr/>
        <p:nvPr/>
      </p:nvGrpSpPr>
      <p:grpSpPr>
        <a:xfrm>
          <a:off x="0" y="0"/>
          <a:ext cx="0" cy="0"/>
          <a:chOff x="0" y="0"/>
          <a:chExt cx="0" cy="0"/>
        </a:xfrm>
      </p:grpSpPr>
      <p:sp>
        <p:nvSpPr>
          <p:cNvPr id="170" name="Google Shape;170;g2c716a79a52_0_17"/>
          <p:cNvSpPr txBox="1">
            <a:spLocks noGrp="1"/>
          </p:cNvSpPr>
          <p:nvPr>
            <p:ph type="title"/>
          </p:nvPr>
        </p:nvSpPr>
        <p:spPr>
          <a:xfrm>
            <a:off x="4813299" y="490537"/>
            <a:ext cx="3968748" cy="1628775"/>
          </a:xfrm>
          <a:prstGeom prst="rect">
            <a:avLst/>
          </a:prstGeom>
        </p:spPr>
        <p:txBody>
          <a:bodyPr spcFirstLastPara="1" lIns="91425" tIns="45700" rIns="91425" bIns="45700" anchor="b" anchorCtr="0">
            <a:normAutofit/>
          </a:bodyPr>
          <a:lstStyle/>
          <a:p>
            <a:pPr marL="0" lvl="0" indent="0" rtl="0">
              <a:spcBef>
                <a:spcPts val="0"/>
              </a:spcBef>
              <a:spcAft>
                <a:spcPts val="0"/>
              </a:spcAft>
              <a:buNone/>
            </a:pPr>
            <a:r>
              <a:rPr lang="en-US" sz="3500"/>
              <a:t>Scalability</a:t>
            </a:r>
          </a:p>
        </p:txBody>
      </p:sp>
      <p:pic>
        <p:nvPicPr>
          <p:cNvPr id="172" name="Google Shape;172;g2c716a79a52_0_17">
            <a:extLst>
              <a:ext uri="{C183D7F6-B498-43B3-948B-1728B52AA6E4}">
                <adec:decorative xmlns:adec="http://schemas.microsoft.com/office/drawing/2017/decorative" val="1"/>
              </a:ext>
            </a:extLst>
          </p:cNvPr>
          <p:cNvPicPr preferRelativeResize="0"/>
          <p:nvPr/>
        </p:nvPicPr>
        <p:blipFill>
          <a:blip r:embed="rId3"/>
          <a:srcRect l="27424" r="35068"/>
          <a:stretch/>
        </p:blipFill>
        <p:spPr>
          <a:xfrm>
            <a:off x="1" y="1587"/>
            <a:ext cx="4571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a:noFill/>
        </p:spPr>
      </p:pic>
      <p:sp>
        <p:nvSpPr>
          <p:cNvPr id="171" name="Google Shape;171;g2c716a79a52_0_17"/>
          <p:cNvSpPr txBox="1">
            <a:spLocks noGrp="1"/>
          </p:cNvSpPr>
          <p:nvPr>
            <p:ph type="body" idx="1"/>
          </p:nvPr>
        </p:nvSpPr>
        <p:spPr>
          <a:xfrm>
            <a:off x="4813300" y="2614612"/>
            <a:ext cx="3968747" cy="3752849"/>
          </a:xfrm>
          <a:prstGeom prst="rect">
            <a:avLst/>
          </a:prstGeom>
        </p:spPr>
        <p:txBody>
          <a:bodyPr spcFirstLastPara="1" lIns="91425" tIns="45700" rIns="91425" bIns="45700" anchorCtr="0">
            <a:normAutofit/>
          </a:bodyPr>
          <a:lstStyle/>
          <a:p>
            <a:pPr marL="457200" lvl="0" indent="-285750" rtl="0">
              <a:spcBef>
                <a:spcPts val="1000"/>
              </a:spcBef>
              <a:spcAft>
                <a:spcPts val="0"/>
              </a:spcAft>
              <a:buSzPts val="900"/>
              <a:buChar char="•"/>
            </a:pPr>
            <a:r>
              <a:rPr lang="en-US" sz="1600" dirty="0"/>
              <a:t>On-premise hosting offers complete control over the hardware, which means that the administrators of a company can tightly control updates.</a:t>
            </a:r>
          </a:p>
          <a:p>
            <a:pPr marL="457200" lvl="0" indent="-285750" rtl="0">
              <a:spcBef>
                <a:spcPts val="0"/>
              </a:spcBef>
              <a:spcAft>
                <a:spcPts val="0"/>
              </a:spcAft>
              <a:buSzPts val="900"/>
              <a:buChar char="•"/>
            </a:pPr>
            <a:r>
              <a:rPr lang="en-US" sz="1600" dirty="0"/>
              <a:t>But on-premise hosting does require advanced planning to scale hardware.</a:t>
            </a:r>
          </a:p>
          <a:p>
            <a:pPr marL="457200" lvl="0" indent="-285750" rtl="0">
              <a:spcBef>
                <a:spcPts val="0"/>
              </a:spcBef>
              <a:spcAft>
                <a:spcPts val="0"/>
              </a:spcAft>
              <a:buSzPts val="900"/>
              <a:buChar char="•"/>
            </a:pPr>
            <a:r>
              <a:rPr lang="en-US" sz="1600" dirty="0"/>
              <a:t>This is because it requires time to gather the necessary data for updating it.</a:t>
            </a:r>
          </a:p>
          <a:p>
            <a:pPr marL="457200" lvl="0" indent="-285750" rtl="0">
              <a:spcBef>
                <a:spcPts val="0"/>
              </a:spcBef>
              <a:spcAft>
                <a:spcPts val="0"/>
              </a:spcAft>
              <a:buSzPts val="900"/>
              <a:buChar char="•"/>
            </a:pPr>
            <a:r>
              <a:rPr lang="en-US" sz="1600" dirty="0"/>
              <a:t>Cloud resources can be rapidly adjusted to accommodate specific demands and increase the scalability of hardware.</a:t>
            </a:r>
          </a:p>
          <a:p>
            <a:pPr marL="457200" lvl="0" indent="-285750" rtl="0">
              <a:spcBef>
                <a:spcPts val="0"/>
              </a:spcBef>
              <a:spcAft>
                <a:spcPts val="0"/>
              </a:spcAft>
              <a:buSzPts val="900"/>
              <a:buChar char="•"/>
            </a:pPr>
            <a:r>
              <a:rPr lang="en-US" sz="1600" dirty="0"/>
              <a:t>With cloud services, there is too much software clutter within the hardware stacks that reduces the scalability.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7"/>
        <p:cNvGrpSpPr/>
        <p:nvPr/>
      </p:nvGrpSpPr>
      <p:grpSpPr>
        <a:xfrm>
          <a:off x="0" y="0"/>
          <a:ext cx="0" cy="0"/>
          <a:chOff x="0" y="0"/>
          <a:chExt cx="0" cy="0"/>
        </a:xfrm>
      </p:grpSpPr>
      <p:sp useBgFill="1">
        <p:nvSpPr>
          <p:cNvPr id="185" name="Rectangle 18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Google Shape;178;g2c716a79a52_0_25"/>
          <p:cNvSpPr txBox="1">
            <a:spLocks noGrp="1"/>
          </p:cNvSpPr>
          <p:nvPr>
            <p:ph type="title"/>
          </p:nvPr>
        </p:nvSpPr>
        <p:spPr>
          <a:xfrm>
            <a:off x="429369" y="238539"/>
            <a:ext cx="8263890" cy="1434415"/>
          </a:xfrm>
          <a:prstGeom prst="rect">
            <a:avLst/>
          </a:prstGeom>
        </p:spPr>
        <p:txBody>
          <a:bodyPr spcFirstLastPara="1" lIns="91425" tIns="45700" rIns="91425" bIns="45700" anchor="b" anchorCtr="0">
            <a:normAutofit/>
          </a:bodyPr>
          <a:lstStyle/>
          <a:p>
            <a:pPr marL="0" lvl="0" indent="0" rtl="0">
              <a:spcBef>
                <a:spcPts val="0"/>
              </a:spcBef>
              <a:spcAft>
                <a:spcPts val="0"/>
              </a:spcAft>
              <a:buNone/>
            </a:pPr>
            <a:r>
              <a:rPr lang="en-US" sz="4700"/>
              <a:t>Data Gravity</a:t>
            </a:r>
          </a:p>
        </p:txBody>
      </p:sp>
      <p:sp>
        <p:nvSpPr>
          <p:cNvPr id="18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Google Shape;179;g2c716a79a52_0_25"/>
          <p:cNvSpPr txBox="1">
            <a:spLocks noGrp="1"/>
          </p:cNvSpPr>
          <p:nvPr>
            <p:ph type="body" idx="1"/>
          </p:nvPr>
        </p:nvSpPr>
        <p:spPr>
          <a:xfrm>
            <a:off x="429369" y="2071316"/>
            <a:ext cx="5035164" cy="4119172"/>
          </a:xfrm>
          <a:prstGeom prst="rect">
            <a:avLst/>
          </a:prstGeom>
        </p:spPr>
        <p:txBody>
          <a:bodyPr spcFirstLastPara="1" lIns="91425" tIns="45700" rIns="91425" bIns="45700" anchor="t" anchorCtr="0">
            <a:normAutofit/>
          </a:bodyPr>
          <a:lstStyle/>
          <a:p>
            <a:pPr marL="0" lvl="0" indent="0" rtl="0">
              <a:spcBef>
                <a:spcPts val="1000"/>
              </a:spcBef>
              <a:spcAft>
                <a:spcPts val="0"/>
              </a:spcAft>
              <a:buClr>
                <a:schemeClr val="dk1"/>
              </a:buClr>
              <a:buSzPts val="1018"/>
              <a:buFont typeface="Arial"/>
              <a:buNone/>
            </a:pPr>
            <a:r>
              <a:rPr lang="en-US" sz="1600"/>
              <a:t>Considering the costs of training neural networks with massive datasets for data transfer, companies may want to deploy their AI applications on-premises if the data is available there.</a:t>
            </a:r>
          </a:p>
          <a:p>
            <a:pPr marL="0" lvl="0" indent="0" rtl="0">
              <a:spcBef>
                <a:spcPts val="1000"/>
              </a:spcBef>
              <a:spcAft>
                <a:spcPts val="0"/>
              </a:spcAft>
              <a:buClr>
                <a:schemeClr val="dk1"/>
              </a:buClr>
              <a:buSzPts val="1018"/>
              <a:buFont typeface="Arial"/>
              <a:buNone/>
            </a:pPr>
            <a:r>
              <a:rPr lang="en-US" sz="1600"/>
              <a:t>If the data required to build AI applications resides on the cloud, then it’s best to deploy applications there.</a:t>
            </a:r>
          </a:p>
          <a:p>
            <a:pPr marL="457200" lvl="0" indent="-277177" rtl="0">
              <a:spcBef>
                <a:spcPts val="1000"/>
              </a:spcBef>
              <a:spcAft>
                <a:spcPts val="0"/>
              </a:spcAft>
              <a:buSzPts val="765"/>
              <a:buChar char="●"/>
            </a:pPr>
            <a:r>
              <a:rPr lang="en-US" sz="1600"/>
              <a:t>The location of the largest source of data for an enterprise determines the location of its most critical applications, as explained by the concept of ‘data gravity’.</a:t>
            </a:r>
          </a:p>
          <a:p>
            <a:pPr marL="457200" lvl="0" indent="-277177" rtl="0">
              <a:spcBef>
                <a:spcPts val="1000"/>
              </a:spcBef>
              <a:spcAft>
                <a:spcPts val="0"/>
              </a:spcAft>
              <a:buSzPts val="765"/>
              <a:buChar char="●"/>
            </a:pPr>
            <a:r>
              <a:rPr lang="en-US" sz="1600"/>
              <a:t>Data gravity is the ability of data to attract applications, services, and other data towards itself. It is among the most important factors to be considered while choosing between cloud and on-premise platforms.</a:t>
            </a:r>
          </a:p>
          <a:p>
            <a:pPr marL="0" lvl="0" indent="0" rtl="0">
              <a:spcBef>
                <a:spcPts val="1000"/>
              </a:spcBef>
              <a:spcAft>
                <a:spcPts val="0"/>
              </a:spcAft>
              <a:buSzPts val="1018"/>
              <a:buNone/>
            </a:pPr>
            <a:endParaRPr lang="en-US" sz="1600"/>
          </a:p>
        </p:txBody>
      </p:sp>
      <p:pic>
        <p:nvPicPr>
          <p:cNvPr id="180" name="Google Shape;180;g2c716a79a52_0_25">
            <a:extLst>
              <a:ext uri="{C183D7F6-B498-43B3-948B-1728B52AA6E4}">
                <adec:decorative xmlns:adec="http://schemas.microsoft.com/office/drawing/2017/decorative" val="1"/>
              </a:ext>
            </a:extLst>
          </p:cNvPr>
          <p:cNvPicPr preferRelativeResize="0"/>
          <p:nvPr/>
        </p:nvPicPr>
        <p:blipFill>
          <a:blip r:embed="rId3"/>
          <a:srcRect l="36968" r="24431" b="2"/>
          <a:stretch/>
        </p:blipFill>
        <p:spPr>
          <a:xfrm>
            <a:off x="5756743" y="2093976"/>
            <a:ext cx="2955798" cy="4096512"/>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5"/>
        <p:cNvGrpSpPr/>
        <p:nvPr/>
      </p:nvGrpSpPr>
      <p:grpSpPr>
        <a:xfrm>
          <a:off x="0" y="0"/>
          <a:ext cx="0" cy="0"/>
          <a:chOff x="0" y="0"/>
          <a:chExt cx="0" cy="0"/>
        </a:xfrm>
      </p:grpSpPr>
      <p:sp useBgFill="1">
        <p:nvSpPr>
          <p:cNvPr id="193" name="Rectangle 19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Google Shape;186;g2c716a79a52_0_33"/>
          <p:cNvSpPr txBox="1">
            <a:spLocks noGrp="1"/>
          </p:cNvSpPr>
          <p:nvPr>
            <p:ph type="title"/>
          </p:nvPr>
        </p:nvSpPr>
        <p:spPr>
          <a:xfrm>
            <a:off x="429369" y="238539"/>
            <a:ext cx="8263890" cy="1434415"/>
          </a:xfrm>
          <a:prstGeom prst="rect">
            <a:avLst/>
          </a:prstGeom>
        </p:spPr>
        <p:txBody>
          <a:bodyPr spcFirstLastPara="1" lIns="91425" tIns="45700" rIns="91425" bIns="45700" anchor="b" anchorCtr="0">
            <a:normAutofit/>
          </a:bodyPr>
          <a:lstStyle/>
          <a:p>
            <a:pPr marL="0" lvl="0" indent="0" rtl="0">
              <a:spcBef>
                <a:spcPts val="0"/>
              </a:spcBef>
              <a:spcAft>
                <a:spcPts val="0"/>
              </a:spcAft>
              <a:buNone/>
            </a:pPr>
            <a:r>
              <a:rPr lang="en-US" sz="4700" dirty="0"/>
              <a:t>The Case for Cloud Based AI Applications</a:t>
            </a:r>
          </a:p>
        </p:txBody>
      </p:sp>
      <p:sp>
        <p:nvSpPr>
          <p:cNvPr id="19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Google Shape;187;g2c716a79a52_0_33"/>
          <p:cNvSpPr txBox="1">
            <a:spLocks noGrp="1"/>
          </p:cNvSpPr>
          <p:nvPr>
            <p:ph type="body" idx="1"/>
          </p:nvPr>
        </p:nvSpPr>
        <p:spPr>
          <a:xfrm>
            <a:off x="429369" y="2071316"/>
            <a:ext cx="5035164" cy="4119172"/>
          </a:xfrm>
          <a:prstGeom prst="rect">
            <a:avLst/>
          </a:prstGeom>
        </p:spPr>
        <p:txBody>
          <a:bodyPr spcFirstLastPara="1" lIns="91425" tIns="45700" rIns="91425" bIns="45700" anchor="t" anchorCtr="0">
            <a:normAutofit/>
          </a:bodyPr>
          <a:lstStyle/>
          <a:p>
            <a:pPr marL="457200" lvl="0" indent="-281305" rtl="0">
              <a:spcBef>
                <a:spcPts val="1000"/>
              </a:spcBef>
              <a:spcAft>
                <a:spcPts val="0"/>
              </a:spcAft>
              <a:buSzPts val="830"/>
              <a:buChar char="•"/>
            </a:pPr>
            <a:r>
              <a:rPr lang="en-US" sz="1600" dirty="0"/>
              <a:t>Cloud-based AI services are an ideal solution for many organizations. Instead of building out a massive data center to gain access to compute, you can use the infrastructure someone else already maintains.</a:t>
            </a:r>
          </a:p>
          <a:p>
            <a:pPr marL="457200" lvl="0" indent="-281305" rtl="0">
              <a:spcBef>
                <a:spcPts val="0"/>
              </a:spcBef>
              <a:spcAft>
                <a:spcPts val="0"/>
              </a:spcAft>
              <a:buSzPts val="830"/>
              <a:buChar char="•"/>
            </a:pPr>
            <a:r>
              <a:rPr lang="en-US" sz="1600" dirty="0"/>
              <a:t>In fact, one reason why AI has become so pervasive is cloud providers offering plug-and-play AI cloud services, as well as access to enough compute power and pre-trained models to launch AI applications.</a:t>
            </a:r>
          </a:p>
          <a:p>
            <a:pPr marL="457200" lvl="0" indent="-281305" rtl="0">
              <a:spcBef>
                <a:spcPts val="0"/>
              </a:spcBef>
              <a:spcAft>
                <a:spcPts val="0"/>
              </a:spcAft>
              <a:buSzPts val="830"/>
              <a:buChar char="•"/>
            </a:pPr>
            <a:r>
              <a:rPr lang="en-US" sz="1600" u="sng" dirty="0"/>
              <a:t>This significantly reduces the barriers to entry.</a:t>
            </a:r>
          </a:p>
          <a:p>
            <a:pPr marL="457200" lvl="0" indent="-281305" rtl="0">
              <a:spcBef>
                <a:spcPts val="0"/>
              </a:spcBef>
              <a:spcAft>
                <a:spcPts val="0"/>
              </a:spcAft>
              <a:buSzPts val="830"/>
              <a:buChar char="•"/>
            </a:pPr>
            <a:r>
              <a:rPr lang="en-US" sz="1600" dirty="0"/>
              <a:t>In many cases the pre-trained models or storage requirements of the cloud can be cost-prohibitive; higher GPU counts get expensive fast and training large datasets on the public cloud can be too slow.</a:t>
            </a:r>
          </a:p>
          <a:p>
            <a:pPr marL="457200" lvl="0" indent="-281305" rtl="0">
              <a:spcBef>
                <a:spcPts val="0"/>
              </a:spcBef>
              <a:spcAft>
                <a:spcPts val="0"/>
              </a:spcAft>
              <a:buSzPts val="830"/>
              <a:buChar char="•"/>
            </a:pPr>
            <a:r>
              <a:rPr lang="en-US" sz="1600" dirty="0"/>
              <a:t>The cloud can often be the best option in terms of “testing the waters” of AI and experimenting with which AI initiatives work best for an organization.</a:t>
            </a:r>
          </a:p>
        </p:txBody>
      </p:sp>
      <p:pic>
        <p:nvPicPr>
          <p:cNvPr id="188" name="Google Shape;188;g2c716a79a52_0_33">
            <a:extLst>
              <a:ext uri="{C183D7F6-B498-43B3-948B-1728B52AA6E4}">
                <adec:decorative xmlns:adec="http://schemas.microsoft.com/office/drawing/2017/decorative" val="1"/>
              </a:ext>
            </a:extLst>
          </p:cNvPr>
          <p:cNvPicPr preferRelativeResize="0"/>
          <p:nvPr/>
        </p:nvPicPr>
        <p:blipFill>
          <a:blip r:embed="rId3"/>
          <a:srcRect l="29426" r="32151" b="-2"/>
          <a:stretch/>
        </p:blipFill>
        <p:spPr>
          <a:xfrm>
            <a:off x="5756743" y="2093976"/>
            <a:ext cx="2955798" cy="4096512"/>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3"/>
        <p:cNvGrpSpPr/>
        <p:nvPr/>
      </p:nvGrpSpPr>
      <p:grpSpPr>
        <a:xfrm>
          <a:off x="0" y="0"/>
          <a:ext cx="0" cy="0"/>
          <a:chOff x="0" y="0"/>
          <a:chExt cx="0" cy="0"/>
        </a:xfrm>
      </p:grpSpPr>
      <p:sp useBgFill="1">
        <p:nvSpPr>
          <p:cNvPr id="201" name="Rectangle 20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Google Shape;194;g2c716a79a52_0_41"/>
          <p:cNvSpPr txBox="1">
            <a:spLocks noGrp="1"/>
          </p:cNvSpPr>
          <p:nvPr>
            <p:ph type="title"/>
          </p:nvPr>
        </p:nvSpPr>
        <p:spPr>
          <a:xfrm>
            <a:off x="429369" y="238539"/>
            <a:ext cx="8263890" cy="1434415"/>
          </a:xfrm>
          <a:prstGeom prst="rect">
            <a:avLst/>
          </a:prstGeom>
        </p:spPr>
        <p:txBody>
          <a:bodyPr spcFirstLastPara="1" lIns="91425" tIns="45700" rIns="91425" bIns="45700" anchor="b" anchorCtr="0">
            <a:normAutofit/>
          </a:bodyPr>
          <a:lstStyle/>
          <a:p>
            <a:pPr marL="0" lvl="0" indent="0" rtl="0">
              <a:spcBef>
                <a:spcPts val="0"/>
              </a:spcBef>
              <a:spcAft>
                <a:spcPts val="0"/>
              </a:spcAft>
              <a:buNone/>
            </a:pPr>
            <a:r>
              <a:rPr lang="en-US" sz="4700"/>
              <a:t>The case for On premises AI</a:t>
            </a:r>
          </a:p>
        </p:txBody>
      </p:sp>
      <p:sp>
        <p:nvSpPr>
          <p:cNvPr id="20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Google Shape;195;g2c716a79a52_0_41"/>
          <p:cNvSpPr txBox="1">
            <a:spLocks noGrp="1"/>
          </p:cNvSpPr>
          <p:nvPr>
            <p:ph type="body" idx="1"/>
          </p:nvPr>
        </p:nvSpPr>
        <p:spPr>
          <a:xfrm>
            <a:off x="429369" y="2071316"/>
            <a:ext cx="5035164" cy="4119172"/>
          </a:xfrm>
          <a:prstGeom prst="rect">
            <a:avLst/>
          </a:prstGeom>
        </p:spPr>
        <p:txBody>
          <a:bodyPr spcFirstLastPara="1" lIns="91425" tIns="45700" rIns="91425" bIns="45700" anchor="t" anchorCtr="0">
            <a:normAutofit/>
          </a:bodyPr>
          <a:lstStyle/>
          <a:p>
            <a:pPr marL="457200" lvl="0" indent="-317182" rtl="0">
              <a:spcBef>
                <a:spcPts val="1000"/>
              </a:spcBef>
              <a:spcAft>
                <a:spcPts val="0"/>
              </a:spcAft>
              <a:buSzPct val="64285"/>
              <a:buChar char="•"/>
            </a:pPr>
            <a:r>
              <a:rPr lang="en-US" sz="1900"/>
              <a:t>There’s a whole ecosystem of tools built for on-premise infrastructure that can work with mass amounts of compute power–which can be very expensive in the cloud.</a:t>
            </a:r>
          </a:p>
          <a:p>
            <a:pPr marL="457200" lvl="0" indent="-317182" rtl="0">
              <a:spcBef>
                <a:spcPts val="0"/>
              </a:spcBef>
              <a:spcAft>
                <a:spcPts val="0"/>
              </a:spcAft>
              <a:buSzPct val="64285"/>
              <a:buChar char="•"/>
            </a:pPr>
            <a:r>
              <a:rPr lang="en-US" sz="1900"/>
              <a:t>Thus, some IT directors find it more economical to do this on-premise or prefer a capital expense to an operational expense model.</a:t>
            </a:r>
          </a:p>
          <a:p>
            <a:pPr marL="457200" lvl="0" indent="-317182" rtl="0">
              <a:spcBef>
                <a:spcPts val="0"/>
              </a:spcBef>
              <a:spcAft>
                <a:spcPts val="0"/>
              </a:spcAft>
              <a:buSzPct val="64285"/>
              <a:buChar char="•"/>
            </a:pPr>
            <a:r>
              <a:rPr lang="en-US" sz="1900"/>
              <a:t>Furthermore, if your organization determines that it wants to get more involved in this or roll-out AI at scale, then it may make more sense to invest in on-premises infrastructure instead of consuming cloud-based services.</a:t>
            </a:r>
          </a:p>
        </p:txBody>
      </p:sp>
      <p:pic>
        <p:nvPicPr>
          <p:cNvPr id="196" name="Google Shape;196;g2c716a79a52_0_41">
            <a:extLst>
              <a:ext uri="{C183D7F6-B498-43B3-948B-1728B52AA6E4}">
                <adec:decorative xmlns:adec="http://schemas.microsoft.com/office/drawing/2017/decorative" val="1"/>
              </a:ext>
            </a:extLst>
          </p:cNvPr>
          <p:cNvPicPr preferRelativeResize="0"/>
          <p:nvPr/>
        </p:nvPicPr>
        <p:blipFill>
          <a:blip r:embed="rId3"/>
          <a:srcRect l="31104" r="28310" b="2"/>
          <a:stretch/>
        </p:blipFill>
        <p:spPr>
          <a:xfrm>
            <a:off x="5756743" y="2093976"/>
            <a:ext cx="2955798" cy="4096512"/>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2c716a79a52_0_49"/>
          <p:cNvSpPr txBox="1">
            <a:spLocks noGrp="1"/>
          </p:cNvSpPr>
          <p:nvPr>
            <p:ph type="title"/>
          </p:nvPr>
        </p:nvSpPr>
        <p:spPr>
          <a:xfrm>
            <a:off x="628650" y="365126"/>
            <a:ext cx="7886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Challenges to Implementing AI</a:t>
            </a:r>
            <a:endParaRPr/>
          </a:p>
        </p:txBody>
      </p:sp>
      <p:sp>
        <p:nvSpPr>
          <p:cNvPr id="203" name="Google Shape;203;g2c716a79a52_0_49"/>
          <p:cNvSpPr txBox="1">
            <a:spLocks noGrp="1"/>
          </p:cNvSpPr>
          <p:nvPr>
            <p:ph type="body" idx="1"/>
          </p:nvPr>
        </p:nvSpPr>
        <p:spPr>
          <a:xfrm>
            <a:off x="628650" y="1597025"/>
            <a:ext cx="7886700" cy="312960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Clr>
                <a:schemeClr val="dk1"/>
              </a:buClr>
              <a:buSzPct val="48785"/>
              <a:buFont typeface="Arial"/>
              <a:buNone/>
            </a:pPr>
            <a:r>
              <a:rPr lang="en-US" sz="2254"/>
              <a:t>As you evaluate how to implement AI initiatives, it’s important to remember that much of the data driving AI is actually siloed in legacy infrastructure and is not necessarily in the right format nor is it easily accessible.</a:t>
            </a:r>
            <a:endParaRPr sz="2254"/>
          </a:p>
          <a:p>
            <a:pPr marL="0" lvl="0" indent="0" algn="l" rtl="0">
              <a:spcBef>
                <a:spcPts val="1000"/>
              </a:spcBef>
              <a:spcAft>
                <a:spcPts val="0"/>
              </a:spcAft>
              <a:buClr>
                <a:schemeClr val="dk1"/>
              </a:buClr>
              <a:buSzPct val="48785"/>
              <a:buFont typeface="Arial"/>
              <a:buNone/>
            </a:pPr>
            <a:r>
              <a:rPr lang="en-US" sz="2254"/>
              <a:t>What’s more, there’s a massive amount of unstructured data to be processed!</a:t>
            </a:r>
            <a:endParaRPr sz="2254"/>
          </a:p>
          <a:p>
            <a:pPr marL="0" lvl="0" indent="0" algn="l" rtl="0">
              <a:spcBef>
                <a:spcPts val="1000"/>
              </a:spcBef>
              <a:spcAft>
                <a:spcPts val="0"/>
              </a:spcAft>
              <a:buClr>
                <a:schemeClr val="dk1"/>
              </a:buClr>
              <a:buSzPct val="48785"/>
              <a:buFont typeface="Arial"/>
              <a:buNone/>
            </a:pPr>
            <a:r>
              <a:rPr lang="en-US" sz="2254"/>
              <a:t>And in many cases, that data has grown beyond a company’s infrastructure.</a:t>
            </a:r>
            <a:endParaRPr sz="2254"/>
          </a:p>
          <a:p>
            <a:pPr marL="0" lvl="0" indent="0" algn="l" rtl="0">
              <a:spcBef>
                <a:spcPts val="1000"/>
              </a:spcBef>
              <a:spcAft>
                <a:spcPts val="0"/>
              </a:spcAft>
              <a:buClr>
                <a:schemeClr val="dk1"/>
              </a:buClr>
              <a:buSzPct val="48785"/>
              <a:buFont typeface="Arial"/>
              <a:buNone/>
            </a:pPr>
            <a:r>
              <a:rPr lang="en-US" sz="2254"/>
              <a:t>Dealing with much larger data sets requires more difficult computation and algorithms; the truth is, most of your time could be spent cleaning data, de-identifying it, and getting it to a point where it can be used to gather insights.</a:t>
            </a:r>
            <a:endParaRPr sz="2254"/>
          </a:p>
          <a:p>
            <a:pPr marL="0" lvl="0" indent="0" algn="l" rtl="0">
              <a:lnSpc>
                <a:spcPct val="115000"/>
              </a:lnSpc>
              <a:spcBef>
                <a:spcPts val="0"/>
              </a:spcBef>
              <a:spcAft>
                <a:spcPts val="0"/>
              </a:spcAft>
              <a:buClr>
                <a:schemeClr val="dk1"/>
              </a:buClr>
              <a:buSzPct val="100000"/>
              <a:buFont typeface="Arial"/>
              <a:buNone/>
            </a:pPr>
            <a:endParaRPr sz="1100">
              <a:latin typeface="Arial"/>
              <a:ea typeface="Arial"/>
              <a:cs typeface="Arial"/>
              <a:sym typeface="Arial"/>
            </a:endParaRPr>
          </a:p>
          <a:p>
            <a:pPr marL="0" lvl="0" indent="0" algn="l" rtl="0">
              <a:spcBef>
                <a:spcPts val="1000"/>
              </a:spcBef>
              <a:spcAft>
                <a:spcPts val="0"/>
              </a:spcAft>
              <a:buNone/>
            </a:pPr>
            <a:endParaRPr/>
          </a:p>
        </p:txBody>
      </p:sp>
      <p:pic>
        <p:nvPicPr>
          <p:cNvPr id="204" name="Google Shape;204;g2c716a79a52_0_49" descr="A PyTorch Workflow.&#10;1. Get data ready (turn into tensors).&#10;2. Build or pick a pretrained model to suit your problem.&#10;2.1. Pick a loss function &amp; optimizer.&#10;2.2. Build a training loop.&#10;3. Fit the model to the data and make a prediction.&#10;4. Evaluate the model.&#10;5. Improve through experimentation.&#10;6. Save and reload your trained model."/>
          <p:cNvPicPr preferRelativeResize="0"/>
          <p:nvPr/>
        </p:nvPicPr>
        <p:blipFill>
          <a:blip r:embed="rId3">
            <a:alphaModFix/>
          </a:blip>
          <a:stretch>
            <a:fillRect/>
          </a:stretch>
        </p:blipFill>
        <p:spPr>
          <a:xfrm>
            <a:off x="1702800" y="4185875"/>
            <a:ext cx="6422077" cy="2307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9"/>
        <p:cNvGrpSpPr/>
        <p:nvPr/>
      </p:nvGrpSpPr>
      <p:grpSpPr>
        <a:xfrm>
          <a:off x="0" y="0"/>
          <a:ext cx="0" cy="0"/>
          <a:chOff x="0" y="0"/>
          <a:chExt cx="0" cy="0"/>
        </a:xfrm>
      </p:grpSpPr>
      <p:sp useBgFill="1">
        <p:nvSpPr>
          <p:cNvPr id="216" name="Rectangle 21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Google Shape;210;p10"/>
          <p:cNvSpPr txBox="1">
            <a:spLocks noGrp="1"/>
          </p:cNvSpPr>
          <p:nvPr>
            <p:ph type="title"/>
          </p:nvPr>
        </p:nvSpPr>
        <p:spPr>
          <a:xfrm>
            <a:off x="628650" y="365126"/>
            <a:ext cx="7886700" cy="1325563"/>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fr-FR" sz="4300"/>
              <a:t>Comparing Cloud vs On-premises AI Infrastructure</a:t>
            </a:r>
          </a:p>
        </p:txBody>
      </p:sp>
      <p:sp>
        <p:nvSpPr>
          <p:cNvPr id="21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Google Shape;211;p10"/>
          <p:cNvSpPr txBox="1">
            <a:spLocks noGrp="1"/>
          </p:cNvSpPr>
          <p:nvPr>
            <p:ph type="body" idx="1"/>
          </p:nvPr>
        </p:nvSpPr>
        <p:spPr>
          <a:xfrm>
            <a:off x="628650" y="1929384"/>
            <a:ext cx="7886700" cy="4251960"/>
          </a:xfrm>
          <a:prstGeom prst="rect">
            <a:avLst/>
          </a:prstGeom>
        </p:spPr>
        <p:txBody>
          <a:bodyPr spcFirstLastPara="1" lIns="91425" tIns="45700" rIns="91425" bIns="45700" anchorCtr="0">
            <a:normAutofit/>
          </a:bodyPr>
          <a:lstStyle/>
          <a:p>
            <a:pPr marL="228600" lvl="0" indent="-228600" rtl="0">
              <a:spcBef>
                <a:spcPts val="0"/>
              </a:spcBef>
              <a:spcAft>
                <a:spcPts val="600"/>
              </a:spcAft>
              <a:buClr>
                <a:schemeClr val="dk1"/>
              </a:buClr>
              <a:buSzPts val="2800"/>
              <a:buChar char="•"/>
            </a:pPr>
            <a:r>
              <a:rPr lang="en-US" sz="1900"/>
              <a:t>Both cloud-based and on-premises AI infrastructures have their unique advantages and challenges. </a:t>
            </a:r>
          </a:p>
          <a:p>
            <a:pPr marL="228600" lvl="0" indent="-228600" rtl="0">
              <a:spcBef>
                <a:spcPts val="0"/>
              </a:spcBef>
              <a:spcAft>
                <a:spcPts val="600"/>
              </a:spcAft>
              <a:buClr>
                <a:schemeClr val="dk1"/>
              </a:buClr>
              <a:buSzPts val="2800"/>
              <a:buChar char="•"/>
            </a:pPr>
            <a:r>
              <a:rPr lang="en-US" sz="1900"/>
              <a:t>The choice between them depends on specific project requirements, such as cost, scalability, security, and operational control.</a:t>
            </a: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1267</Words>
  <Application>Microsoft Office PowerPoint</Application>
  <PresentationFormat>On-screen Show (4:3)</PresentationFormat>
  <Paragraphs>92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Roboto</vt:lpstr>
      <vt:lpstr>Calibri</vt:lpstr>
      <vt:lpstr>Office Theme</vt:lpstr>
      <vt:lpstr>AI Infrastructure</vt:lpstr>
      <vt:lpstr>Cloud vs on-premises AI Infrastructure</vt:lpstr>
      <vt:lpstr>What is Cloud based AI Infrastructure</vt:lpstr>
      <vt:lpstr>Pros of Cloud-based AI Infrastructure</vt:lpstr>
      <vt:lpstr>Cons of Cloud-based AI Infrastructure</vt:lpstr>
      <vt:lpstr>Cloud Security</vt:lpstr>
      <vt:lpstr>What is On-premises AI Infrastructure</vt:lpstr>
      <vt:lpstr>Pros of On-premises AI Infrastructure</vt:lpstr>
      <vt:lpstr>Cons of On-premises AI Infrastructure</vt:lpstr>
      <vt:lpstr>On Prem AI Infrastructure</vt:lpstr>
      <vt:lpstr>Scalability</vt:lpstr>
      <vt:lpstr>Data Gravity</vt:lpstr>
      <vt:lpstr>The Case for Cloud Based AI Applications</vt:lpstr>
      <vt:lpstr>The case for On premises AI</vt:lpstr>
      <vt:lpstr>Challenges to Implementing AI</vt:lpstr>
      <vt:lpstr>Comparing Cloud vs On-premises AI Infrastructure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Ioannis Papapanagiotou</dc:creator>
  <cp:lastModifiedBy>Mitch Marty</cp:lastModifiedBy>
  <cp:revision>3</cp:revision>
  <dcterms:created xsi:type="dcterms:W3CDTF">2020-04-05T15:03:49Z</dcterms:created>
  <dcterms:modified xsi:type="dcterms:W3CDTF">2024-09-27T18:16:52Z</dcterms:modified>
</cp:coreProperties>
</file>