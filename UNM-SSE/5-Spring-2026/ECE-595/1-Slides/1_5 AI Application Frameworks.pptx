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5"/>
  </p:notesMasterIdLst>
  <p:sldIdLst>
    <p:sldId id="256" r:id="rId2"/>
    <p:sldId id="269" r:id="rId3"/>
    <p:sldId id="270" r:id="rId4"/>
    <p:sldId id="273" r:id="rId5"/>
    <p:sldId id="274" r:id="rId6"/>
    <p:sldId id="275" r:id="rId7"/>
    <p:sldId id="281" r:id="rId8"/>
    <p:sldId id="282" r:id="rId9"/>
    <p:sldId id="284" r:id="rId10"/>
    <p:sldId id="277" r:id="rId11"/>
    <p:sldId id="278" r:id="rId12"/>
    <p:sldId id="271" r:id="rId13"/>
    <p:sldId id="283" r:id="rId14"/>
  </p:sldIdLst>
  <p:sldSz cx="9144000" cy="6858000" type="screen4x3"/>
  <p:notesSz cx="6858000" cy="9144000"/>
  <p:embeddedFontLst>
    <p:embeddedFont>
      <p:font typeface="Roboto" panose="02000000000000000000" pitchFamily="2" charset="0"/>
      <p:regular r:id="rId16"/>
      <p:bold r:id="rId17"/>
      <p:italic r:id="rId18"/>
      <p:boldItalic r:id="rId1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6" roundtripDataSignature="AMtx7mgikUHbJcE4elXKVQyERLHAEgjSdw=="/>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37"/>
    <p:restoredTop sz="94669"/>
  </p:normalViewPr>
  <p:slideViewPr>
    <p:cSldViewPr snapToGrid="0">
      <p:cViewPr varScale="1">
        <p:scale>
          <a:sx n="150" d="100"/>
          <a:sy n="150" d="100"/>
        </p:scale>
        <p:origin x="2094" y="1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39"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notesMaster" Target="notesMasters/notesMaster1.xml"/><Relationship Id="rId36" Type="http://customschemas.google.com/relationships/presentationmetadata" Target="metadata"/><Relationship Id="rId10" Type="http://schemas.openxmlformats.org/officeDocument/2006/relationships/slide" Target="slides/slide9.xml"/><Relationship Id="rId19"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8" name="Google Shape;178;p1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5" name="Google Shape;185;p1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g2c71adec0ba_0_5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4" name="Google Shape;204;g2c71adec0ba_0_5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5" name="Google Shape;205;g2c71adec0ba_0_54: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g2c71adec0ba_0_6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1" name="Google Shape;211;g2c71adec0ba_0_6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2" name="Google Shape;212;g2c71adec0ba_0_61: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g2c71adec0ba_0_6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8" name="Google Shape;218;g2c71adec0ba_0_68: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9" name="Google Shape;219;g2c71adec0ba_0_68: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https://yann.lecun.com/exdb/mnist/</a:t>
            </a:r>
          </a:p>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8</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05517662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p1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1" name="Google Shape;231;p1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p:cNvGrpSpPr/>
        <p:nvPr/>
      </p:nvGrpSpPr>
      <p:grpSpPr>
        <a:xfrm>
          <a:off x="0" y="0"/>
          <a:ext cx="0" cy="0"/>
          <a:chOff x="0" y="0"/>
          <a:chExt cx="0" cy="0"/>
        </a:xfrm>
      </p:grpSpPr>
      <p:sp>
        <p:nvSpPr>
          <p:cNvPr id="236" name="Google Shape;236;p1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7" name="Google Shape;237;p1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g2c716a79a52_0_4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9" name="Google Shape;199;g2c716a79a52_0_4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0" name="Google Shape;200;g2c716a79a52_0_4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19"/>
          <p:cNvSpPr txBox="1">
            <a:spLocks noGrp="1"/>
          </p:cNvSpPr>
          <p:nvPr>
            <p:ph type="ctrTitle"/>
          </p:nvPr>
        </p:nvSpPr>
        <p:spPr>
          <a:xfrm>
            <a:off x="685800" y="1122363"/>
            <a:ext cx="77724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19"/>
          <p:cNvSpPr txBox="1">
            <a:spLocks noGrp="1"/>
          </p:cNvSpPr>
          <p:nvPr>
            <p:ph type="subTitle" idx="1"/>
          </p:nvPr>
        </p:nvSpPr>
        <p:spPr>
          <a:xfrm>
            <a:off x="1143000" y="3602038"/>
            <a:ext cx="6858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19"/>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19"/>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19"/>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20"/>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20"/>
          <p:cNvSpPr txBox="1">
            <a:spLocks noGrp="1"/>
          </p:cNvSpPr>
          <p:nvPr>
            <p:ph type="body" idx="1"/>
          </p:nvPr>
        </p:nvSpPr>
        <p:spPr>
          <a:xfrm>
            <a:off x="628650" y="1825625"/>
            <a:ext cx="78867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 name="Google Shape;24;p20"/>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20"/>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20"/>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21"/>
          <p:cNvSpPr txBox="1">
            <a:spLocks noGrp="1"/>
          </p:cNvSpPr>
          <p:nvPr>
            <p:ph type="title"/>
          </p:nvPr>
        </p:nvSpPr>
        <p:spPr>
          <a:xfrm>
            <a:off x="623888" y="1709739"/>
            <a:ext cx="78867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21"/>
          <p:cNvSpPr txBox="1">
            <a:spLocks noGrp="1"/>
          </p:cNvSpPr>
          <p:nvPr>
            <p:ph type="body" idx="1"/>
          </p:nvPr>
        </p:nvSpPr>
        <p:spPr>
          <a:xfrm>
            <a:off x="623888" y="4589464"/>
            <a:ext cx="78867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2400"/>
              <a:buNone/>
              <a:defRPr sz="2400">
                <a:solidFill>
                  <a:schemeClr val="dk1"/>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0" name="Google Shape;30;p21"/>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21"/>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21"/>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22"/>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22"/>
          <p:cNvSpPr txBox="1">
            <a:spLocks noGrp="1"/>
          </p:cNvSpPr>
          <p:nvPr>
            <p:ph type="body" idx="1"/>
          </p:nvPr>
        </p:nvSpPr>
        <p:spPr>
          <a:xfrm>
            <a:off x="628650" y="1825625"/>
            <a:ext cx="38862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22"/>
          <p:cNvSpPr txBox="1">
            <a:spLocks noGrp="1"/>
          </p:cNvSpPr>
          <p:nvPr>
            <p:ph type="body" idx="2"/>
          </p:nvPr>
        </p:nvSpPr>
        <p:spPr>
          <a:xfrm>
            <a:off x="4629150" y="1825625"/>
            <a:ext cx="38862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22"/>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22"/>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22"/>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23"/>
          <p:cNvSpPr txBox="1">
            <a:spLocks noGrp="1"/>
          </p:cNvSpPr>
          <p:nvPr>
            <p:ph type="title"/>
          </p:nvPr>
        </p:nvSpPr>
        <p:spPr>
          <a:xfrm>
            <a:off x="629841"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23"/>
          <p:cNvSpPr txBox="1">
            <a:spLocks noGrp="1"/>
          </p:cNvSpPr>
          <p:nvPr>
            <p:ph type="body" idx="1"/>
          </p:nvPr>
        </p:nvSpPr>
        <p:spPr>
          <a:xfrm>
            <a:off x="629842" y="1681163"/>
            <a:ext cx="3868340"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3" name="Google Shape;43;p23"/>
          <p:cNvSpPr txBox="1">
            <a:spLocks noGrp="1"/>
          </p:cNvSpPr>
          <p:nvPr>
            <p:ph type="body" idx="2"/>
          </p:nvPr>
        </p:nvSpPr>
        <p:spPr>
          <a:xfrm>
            <a:off x="629842" y="2505075"/>
            <a:ext cx="3868340"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23"/>
          <p:cNvSpPr txBox="1">
            <a:spLocks noGrp="1"/>
          </p:cNvSpPr>
          <p:nvPr>
            <p:ph type="body" idx="3"/>
          </p:nvPr>
        </p:nvSpPr>
        <p:spPr>
          <a:xfrm>
            <a:off x="4629150" y="1681163"/>
            <a:ext cx="3887391"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5" name="Google Shape;45;p23"/>
          <p:cNvSpPr txBox="1">
            <a:spLocks noGrp="1"/>
          </p:cNvSpPr>
          <p:nvPr>
            <p:ph type="body" idx="4"/>
          </p:nvPr>
        </p:nvSpPr>
        <p:spPr>
          <a:xfrm>
            <a:off x="4629150" y="2505075"/>
            <a:ext cx="3887391"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23"/>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23"/>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3"/>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24"/>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24"/>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4"/>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4"/>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25"/>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25"/>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25"/>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26"/>
          <p:cNvSpPr txBox="1">
            <a:spLocks noGrp="1"/>
          </p:cNvSpPr>
          <p:nvPr>
            <p:ph type="title"/>
          </p:nvPr>
        </p:nvSpPr>
        <p:spPr>
          <a:xfrm>
            <a:off x="629841" y="457200"/>
            <a:ext cx="2949178"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26"/>
          <p:cNvSpPr txBox="1">
            <a:spLocks noGrp="1"/>
          </p:cNvSpPr>
          <p:nvPr>
            <p:ph type="body" idx="1"/>
          </p:nvPr>
        </p:nvSpPr>
        <p:spPr>
          <a:xfrm>
            <a:off x="3887391" y="987426"/>
            <a:ext cx="462915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1" name="Google Shape;61;p26"/>
          <p:cNvSpPr txBox="1">
            <a:spLocks noGrp="1"/>
          </p:cNvSpPr>
          <p:nvPr>
            <p:ph type="body" idx="2"/>
          </p:nvPr>
        </p:nvSpPr>
        <p:spPr>
          <a:xfrm>
            <a:off x="629841" y="2057400"/>
            <a:ext cx="2949178"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2" name="Google Shape;62;p26"/>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26"/>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26"/>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27"/>
          <p:cNvSpPr txBox="1">
            <a:spLocks noGrp="1"/>
          </p:cNvSpPr>
          <p:nvPr>
            <p:ph type="title"/>
          </p:nvPr>
        </p:nvSpPr>
        <p:spPr>
          <a:xfrm>
            <a:off x="629841" y="457200"/>
            <a:ext cx="2949178"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27"/>
          <p:cNvSpPr>
            <a:spLocks noGrp="1"/>
          </p:cNvSpPr>
          <p:nvPr>
            <p:ph type="pic" idx="2"/>
          </p:nvPr>
        </p:nvSpPr>
        <p:spPr>
          <a:xfrm>
            <a:off x="3887391" y="987426"/>
            <a:ext cx="4629150" cy="4873625"/>
          </a:xfrm>
          <a:prstGeom prst="rect">
            <a:avLst/>
          </a:prstGeom>
          <a:noFill/>
          <a:ln>
            <a:noFill/>
          </a:ln>
        </p:spPr>
      </p:sp>
      <p:sp>
        <p:nvSpPr>
          <p:cNvPr id="68" name="Google Shape;68;p27"/>
          <p:cNvSpPr txBox="1">
            <a:spLocks noGrp="1"/>
          </p:cNvSpPr>
          <p:nvPr>
            <p:ph type="body" idx="1"/>
          </p:nvPr>
        </p:nvSpPr>
        <p:spPr>
          <a:xfrm>
            <a:off x="629841" y="2057400"/>
            <a:ext cx="2949178"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27"/>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27"/>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27"/>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28"/>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28"/>
          <p:cNvSpPr txBox="1">
            <a:spLocks noGrp="1"/>
          </p:cNvSpPr>
          <p:nvPr>
            <p:ph type="body" idx="1"/>
          </p:nvPr>
        </p:nvSpPr>
        <p:spPr>
          <a:xfrm rot="5400000">
            <a:off x="2396331" y="57944"/>
            <a:ext cx="4351338" cy="78867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28"/>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28"/>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28"/>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29"/>
          <p:cNvSpPr txBox="1">
            <a:spLocks noGrp="1"/>
          </p:cNvSpPr>
          <p:nvPr>
            <p:ph type="title"/>
          </p:nvPr>
        </p:nvSpPr>
        <p:spPr>
          <a:xfrm rot="5400000">
            <a:off x="4623594" y="2285207"/>
            <a:ext cx="5811838" cy="197167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29"/>
          <p:cNvSpPr txBox="1">
            <a:spLocks noGrp="1"/>
          </p:cNvSpPr>
          <p:nvPr>
            <p:ph type="body" idx="1"/>
          </p:nvPr>
        </p:nvSpPr>
        <p:spPr>
          <a:xfrm rot="5400000">
            <a:off x="623094" y="370681"/>
            <a:ext cx="5811838" cy="58007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29"/>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29"/>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29"/>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8"/>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8"/>
          <p:cNvSpPr txBox="1">
            <a:spLocks noGrp="1"/>
          </p:cNvSpPr>
          <p:nvPr>
            <p:ph type="body" idx="1"/>
          </p:nvPr>
        </p:nvSpPr>
        <p:spPr>
          <a:xfrm>
            <a:off x="628650" y="1825625"/>
            <a:ext cx="78867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8"/>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8"/>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8"/>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www.simplilearn.com/blockchain-beyond-bitcoin-making-world-a-better-place-article"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hyperlink" Target="http://www.simplilearn.com/introducing-blockchain-certification-program-in-partnership-with-iit-kanpur-article" TargetMode="Externa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8"/>
        <p:cNvGrpSpPr/>
        <p:nvPr/>
      </p:nvGrpSpPr>
      <p:grpSpPr>
        <a:xfrm>
          <a:off x="0" y="0"/>
          <a:ext cx="0" cy="0"/>
          <a:chOff x="0" y="0"/>
          <a:chExt cx="0" cy="0"/>
        </a:xfrm>
      </p:grpSpPr>
      <p:sp>
        <p:nvSpPr>
          <p:cNvPr id="89" name="Google Shape;89;p1"/>
          <p:cNvSpPr/>
          <p:nvPr/>
        </p:nvSpPr>
        <p:spPr>
          <a:xfrm>
            <a:off x="356616" y="0"/>
            <a:ext cx="8182719" cy="6858000"/>
          </a:xfrm>
          <a:prstGeom prst="rect">
            <a:avLst/>
          </a:prstGeom>
          <a:gradFill>
            <a:gsLst>
              <a:gs pos="0">
                <a:srgbClr val="3865B4"/>
              </a:gs>
              <a:gs pos="25000">
                <a:srgbClr val="3865B4"/>
              </a:gs>
              <a:gs pos="94000">
                <a:srgbClr val="3A3838"/>
              </a:gs>
              <a:gs pos="100000">
                <a:srgbClr val="3A3838"/>
              </a:gs>
            </a:gsLst>
            <a:lin ang="4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pic>
        <p:nvPicPr>
          <p:cNvPr id="90" name="Google Shape;90;p1"/>
          <p:cNvPicPr preferRelativeResize="0"/>
          <p:nvPr/>
        </p:nvPicPr>
        <p:blipFill rotWithShape="1">
          <a:blip r:embed="rId3">
            <a:alphaModFix/>
          </a:blip>
          <a:srcRect/>
          <a:stretch/>
        </p:blipFill>
        <p:spPr>
          <a:xfrm>
            <a:off x="0" y="0"/>
            <a:ext cx="9144000" cy="6858000"/>
          </a:xfrm>
          <a:prstGeom prst="rect">
            <a:avLst/>
          </a:prstGeom>
          <a:noFill/>
          <a:ln>
            <a:noFill/>
          </a:ln>
        </p:spPr>
      </p:pic>
      <p:sp>
        <p:nvSpPr>
          <p:cNvPr id="91" name="Google Shape;91;p1"/>
          <p:cNvSpPr txBox="1">
            <a:spLocks noGrp="1"/>
          </p:cNvSpPr>
          <p:nvPr>
            <p:ph type="ctrTitle"/>
          </p:nvPr>
        </p:nvSpPr>
        <p:spPr>
          <a:xfrm>
            <a:off x="2284026" y="2043663"/>
            <a:ext cx="4578895" cy="2031055"/>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rgbClr val="FFFFFF"/>
              </a:buClr>
              <a:buSzPts val="5600"/>
              <a:buFont typeface="Calibri"/>
              <a:buNone/>
            </a:pPr>
            <a:r>
              <a:rPr lang="en-US" sz="5600">
                <a:solidFill>
                  <a:srgbClr val="FFFFFF"/>
                </a:solidFill>
              </a:rPr>
              <a:t>AI Infrastructure</a:t>
            </a:r>
            <a:endParaRPr/>
          </a:p>
        </p:txBody>
      </p:sp>
      <p:sp>
        <p:nvSpPr>
          <p:cNvPr id="92" name="Google Shape;92;p1"/>
          <p:cNvSpPr txBox="1">
            <a:spLocks noGrp="1"/>
          </p:cNvSpPr>
          <p:nvPr>
            <p:ph type="subTitle" idx="1"/>
          </p:nvPr>
        </p:nvSpPr>
        <p:spPr>
          <a:xfrm>
            <a:off x="2284026" y="4074718"/>
            <a:ext cx="4578895" cy="682079"/>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rgbClr val="FFFFFF"/>
              </a:buClr>
              <a:buSzPts val="1500"/>
              <a:buNone/>
            </a:pPr>
            <a:r>
              <a:rPr lang="en-US" sz="1500" dirty="0">
                <a:solidFill>
                  <a:srgbClr val="FFFFFF"/>
                </a:solidFill>
              </a:rPr>
              <a:t>Ioannis Papapanagiotou</a:t>
            </a:r>
            <a:endParaRPr sz="1500" dirty="0">
              <a:solidFill>
                <a:srgbClr val="FFFFFF"/>
              </a:solidFill>
            </a:endParaRPr>
          </a:p>
          <a:p>
            <a:pPr marL="0" lvl="0" indent="0" algn="ctr" rtl="0">
              <a:lnSpc>
                <a:spcPct val="90000"/>
              </a:lnSpc>
              <a:spcBef>
                <a:spcPts val="1000"/>
              </a:spcBef>
              <a:spcAft>
                <a:spcPts val="0"/>
              </a:spcAft>
              <a:buClr>
                <a:srgbClr val="FFFFFF"/>
              </a:buClr>
              <a:buSzPts val="1500"/>
              <a:buNone/>
            </a:pPr>
            <a:r>
              <a:rPr lang="en-US" sz="1500" dirty="0">
                <a:solidFill>
                  <a:srgbClr val="FFFFFF"/>
                </a:solidFill>
              </a:rPr>
              <a:t>AI Application Frameworks</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p10"/>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AI Frameworks and Libraries</a:t>
            </a:r>
            <a:endParaRPr/>
          </a:p>
        </p:txBody>
      </p:sp>
      <p:sp>
        <p:nvSpPr>
          <p:cNvPr id="181" name="Google Shape;181;p10"/>
          <p:cNvSpPr txBox="1">
            <a:spLocks noGrp="1"/>
          </p:cNvSpPr>
          <p:nvPr>
            <p:ph type="body" idx="1"/>
          </p:nvPr>
        </p:nvSpPr>
        <p:spPr>
          <a:xfrm>
            <a:off x="252248" y="1825625"/>
            <a:ext cx="4981905" cy="4659258"/>
          </a:xfrm>
          <a:prstGeom prst="rect">
            <a:avLst/>
          </a:prstGeom>
          <a:noFill/>
          <a:ln>
            <a:noFill/>
          </a:ln>
        </p:spPr>
        <p:txBody>
          <a:bodyPr spcFirstLastPara="1" wrap="square" lIns="91425" tIns="45700" rIns="91425" bIns="45700" anchor="t" anchorCtr="0">
            <a:normAutofit fontScale="55000" lnSpcReduction="20000"/>
          </a:bodyPr>
          <a:lstStyle/>
          <a:p>
            <a:pPr marL="228600" lvl="0" indent="-228600" algn="l" rtl="0">
              <a:lnSpc>
                <a:spcPct val="90000"/>
              </a:lnSpc>
              <a:spcBef>
                <a:spcPts val="0"/>
              </a:spcBef>
              <a:spcAft>
                <a:spcPts val="0"/>
              </a:spcAft>
              <a:buClr>
                <a:schemeClr val="dk1"/>
              </a:buClr>
              <a:buSzPct val="100000"/>
              <a:buChar char="•"/>
            </a:pPr>
            <a:r>
              <a:rPr lang="en-US" dirty="0"/>
              <a:t>AI software, particularly frameworks and libraries, are pivotal in developing and deploying AI models. These tools provide the environments and functionalities necessary for AI research and production.</a:t>
            </a:r>
            <a:endParaRPr dirty="0"/>
          </a:p>
          <a:p>
            <a:pPr marL="228600" lvl="0" indent="-228600" algn="l" rtl="0">
              <a:lnSpc>
                <a:spcPct val="90000"/>
              </a:lnSpc>
              <a:spcBef>
                <a:spcPts val="1000"/>
              </a:spcBef>
              <a:spcAft>
                <a:spcPts val="0"/>
              </a:spcAft>
              <a:buClr>
                <a:schemeClr val="dk1"/>
              </a:buClr>
              <a:buSzPct val="100000"/>
              <a:buChar char="•"/>
            </a:pPr>
            <a:r>
              <a:rPr lang="en-US" b="1" dirty="0"/>
              <a:t>AI Frameworks: The Backbone of AI Development</a:t>
            </a:r>
            <a:endParaRPr dirty="0"/>
          </a:p>
          <a:p>
            <a:pPr marL="685800" lvl="1" indent="-228600" algn="l" rtl="0">
              <a:lnSpc>
                <a:spcPct val="90000"/>
              </a:lnSpc>
              <a:spcBef>
                <a:spcPts val="500"/>
              </a:spcBef>
              <a:spcAft>
                <a:spcPts val="0"/>
              </a:spcAft>
              <a:buClr>
                <a:schemeClr val="dk1"/>
              </a:buClr>
              <a:buSzPct val="100000"/>
              <a:buChar char="•"/>
            </a:pPr>
            <a:r>
              <a:rPr lang="en-US" dirty="0"/>
              <a:t>Frameworks like TensorFlow, </a:t>
            </a:r>
            <a:r>
              <a:rPr lang="en-US" dirty="0" err="1"/>
              <a:t>PyTorch</a:t>
            </a:r>
            <a:r>
              <a:rPr lang="en-US" dirty="0"/>
              <a:t>, and </a:t>
            </a:r>
            <a:r>
              <a:rPr lang="en-US" dirty="0" err="1"/>
              <a:t>Keras</a:t>
            </a:r>
            <a:r>
              <a:rPr lang="en-US" dirty="0"/>
              <a:t> offer comprehensive, flexible platforms for designing, training, and validating AI models.</a:t>
            </a:r>
            <a:endParaRPr dirty="0"/>
          </a:p>
          <a:p>
            <a:pPr marL="685800" lvl="1" indent="-228600" algn="l" rtl="0">
              <a:lnSpc>
                <a:spcPct val="90000"/>
              </a:lnSpc>
              <a:spcBef>
                <a:spcPts val="500"/>
              </a:spcBef>
              <a:spcAft>
                <a:spcPts val="0"/>
              </a:spcAft>
              <a:buClr>
                <a:schemeClr val="dk1"/>
              </a:buClr>
              <a:buSzPct val="100000"/>
              <a:buChar char="•"/>
            </a:pPr>
            <a:r>
              <a:rPr lang="en-US" dirty="0"/>
              <a:t>They support various AI tasks, from simple linear regression to complex deep learning networks, accommodating the needs of both novice and expert AI practitioners.</a:t>
            </a:r>
            <a:endParaRPr dirty="0"/>
          </a:p>
          <a:p>
            <a:pPr marL="228600" lvl="0" indent="-228600" algn="l" rtl="0">
              <a:lnSpc>
                <a:spcPct val="90000"/>
              </a:lnSpc>
              <a:spcBef>
                <a:spcPts val="1000"/>
              </a:spcBef>
              <a:spcAft>
                <a:spcPts val="0"/>
              </a:spcAft>
              <a:buClr>
                <a:schemeClr val="dk1"/>
              </a:buClr>
              <a:buSzPct val="100000"/>
              <a:buChar char="•"/>
            </a:pPr>
            <a:r>
              <a:rPr lang="en-US" b="1" dirty="0"/>
              <a:t>AI Libraries: Specialized Tools for AI Tasks</a:t>
            </a:r>
            <a:endParaRPr dirty="0"/>
          </a:p>
          <a:p>
            <a:pPr marL="685800" lvl="1" indent="-228600" algn="l" rtl="0">
              <a:lnSpc>
                <a:spcPct val="90000"/>
              </a:lnSpc>
              <a:spcBef>
                <a:spcPts val="500"/>
              </a:spcBef>
              <a:spcAft>
                <a:spcPts val="0"/>
              </a:spcAft>
              <a:buClr>
                <a:schemeClr val="dk1"/>
              </a:buClr>
              <a:buSzPct val="100000"/>
              <a:buChar char="•"/>
            </a:pPr>
            <a:r>
              <a:rPr lang="en-US" dirty="0"/>
              <a:t>Libraries such as NumPy, SciPy, and scikit-learn provide specific functionalities and algorithms that can be leveraged within larger AI projects.</a:t>
            </a:r>
            <a:endParaRPr dirty="0"/>
          </a:p>
          <a:p>
            <a:pPr marL="685800" lvl="1" indent="-228600" algn="l" rtl="0">
              <a:lnSpc>
                <a:spcPct val="90000"/>
              </a:lnSpc>
              <a:spcBef>
                <a:spcPts val="500"/>
              </a:spcBef>
              <a:spcAft>
                <a:spcPts val="0"/>
              </a:spcAft>
              <a:buClr>
                <a:schemeClr val="dk1"/>
              </a:buClr>
              <a:buSzPct val="100000"/>
              <a:buChar char="•"/>
            </a:pPr>
            <a:r>
              <a:rPr lang="en-US" dirty="0"/>
              <a:t>These libraries are often used in conjunction with frameworks to perform tasks like data manipulation, statistical analysis, and machine learning.</a:t>
            </a:r>
            <a:endParaRPr dirty="0"/>
          </a:p>
          <a:p>
            <a:pPr marL="228600" lvl="0" indent="-228600" algn="l" rtl="0">
              <a:lnSpc>
                <a:spcPct val="90000"/>
              </a:lnSpc>
              <a:spcBef>
                <a:spcPts val="1000"/>
              </a:spcBef>
              <a:spcAft>
                <a:spcPts val="0"/>
              </a:spcAft>
              <a:buClr>
                <a:schemeClr val="dk1"/>
              </a:buClr>
              <a:buSzPct val="100000"/>
              <a:buChar char="•"/>
            </a:pPr>
            <a:r>
              <a:rPr lang="en-US" b="1" dirty="0"/>
              <a:t>Interplay between Frameworks and Libraries</a:t>
            </a:r>
            <a:endParaRPr dirty="0"/>
          </a:p>
          <a:p>
            <a:pPr marL="685800" lvl="1" indent="-228600" algn="l" rtl="0">
              <a:lnSpc>
                <a:spcPct val="90000"/>
              </a:lnSpc>
              <a:spcBef>
                <a:spcPts val="500"/>
              </a:spcBef>
              <a:spcAft>
                <a:spcPts val="0"/>
              </a:spcAft>
              <a:buClr>
                <a:schemeClr val="dk1"/>
              </a:buClr>
              <a:buSzPct val="100000"/>
              <a:buChar char="•"/>
            </a:pPr>
            <a:r>
              <a:rPr lang="en-US" dirty="0"/>
              <a:t>The choice of framework or library depends on the specific requirements of the AI project, including the type of algorithm, computational efficiency, scalability, and ease of use.</a:t>
            </a:r>
            <a:endParaRPr dirty="0"/>
          </a:p>
          <a:p>
            <a:pPr marL="685800" lvl="1" indent="-228600" algn="l" rtl="0">
              <a:lnSpc>
                <a:spcPct val="90000"/>
              </a:lnSpc>
              <a:spcBef>
                <a:spcPts val="500"/>
              </a:spcBef>
              <a:spcAft>
                <a:spcPts val="0"/>
              </a:spcAft>
              <a:buClr>
                <a:schemeClr val="dk1"/>
              </a:buClr>
              <a:buSzPct val="100000"/>
              <a:buChar char="•"/>
            </a:pPr>
            <a:r>
              <a:rPr lang="en-US" dirty="0"/>
              <a:t>Integration between different software components is crucial for building efficient and effective AI solutions.</a:t>
            </a:r>
            <a:endParaRPr dirty="0"/>
          </a:p>
          <a:p>
            <a:pPr marL="228600" lvl="0" indent="-130810" algn="l" rtl="0">
              <a:lnSpc>
                <a:spcPct val="90000"/>
              </a:lnSpc>
              <a:spcBef>
                <a:spcPts val="1000"/>
              </a:spcBef>
              <a:spcAft>
                <a:spcPts val="0"/>
              </a:spcAft>
              <a:buClr>
                <a:schemeClr val="dk1"/>
              </a:buClr>
              <a:buSzPct val="100000"/>
              <a:buNone/>
            </a:pPr>
            <a:endParaRPr dirty="0"/>
          </a:p>
        </p:txBody>
      </p:sp>
      <p:pic>
        <p:nvPicPr>
          <p:cNvPr id="182" name="Google Shape;182;p10"/>
          <p:cNvPicPr preferRelativeResize="0"/>
          <p:nvPr/>
        </p:nvPicPr>
        <p:blipFill rotWithShape="1">
          <a:blip r:embed="rId3">
            <a:alphaModFix/>
          </a:blip>
          <a:srcRect/>
          <a:stretch/>
        </p:blipFill>
        <p:spPr>
          <a:xfrm>
            <a:off x="5520777" y="3225877"/>
            <a:ext cx="2994573" cy="1685517"/>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186"/>
        <p:cNvGrpSpPr/>
        <p:nvPr/>
      </p:nvGrpSpPr>
      <p:grpSpPr>
        <a:xfrm>
          <a:off x="0" y="0"/>
          <a:ext cx="0" cy="0"/>
          <a:chOff x="0" y="0"/>
          <a:chExt cx="0" cy="0"/>
        </a:xfrm>
      </p:grpSpPr>
      <p:sp>
        <p:nvSpPr>
          <p:cNvPr id="187" name="Google Shape;187;p11"/>
          <p:cNvSpPr txBox="1">
            <a:spLocks noGrp="1"/>
          </p:cNvSpPr>
          <p:nvPr>
            <p:ph type="title"/>
          </p:nvPr>
        </p:nvSpPr>
        <p:spPr>
          <a:xfrm>
            <a:off x="4401417" y="1138036"/>
            <a:ext cx="4083287" cy="1402470"/>
          </a:xfrm>
          <a:prstGeom prst="rect">
            <a:avLst/>
          </a:prstGeom>
        </p:spPr>
        <p:txBody>
          <a:bodyPr spcFirstLastPara="1" lIns="91425" tIns="45700" rIns="91425" bIns="45700" anchor="t" anchorCtr="0">
            <a:normAutofit/>
          </a:bodyPr>
          <a:lstStyle/>
          <a:p>
            <a:pPr marL="0" lvl="0" indent="0" rtl="0">
              <a:spcBef>
                <a:spcPts val="0"/>
              </a:spcBef>
              <a:spcAft>
                <a:spcPts val="0"/>
              </a:spcAft>
              <a:buClr>
                <a:schemeClr val="dk1"/>
              </a:buClr>
              <a:buSzPts val="4400"/>
              <a:buFont typeface="Calibri"/>
              <a:buNone/>
            </a:pPr>
            <a:r>
              <a:rPr lang="en-US" sz="2800" dirty="0"/>
              <a:t>Benefits of AI Frameworks</a:t>
            </a:r>
          </a:p>
        </p:txBody>
      </p:sp>
      <p:pic>
        <p:nvPicPr>
          <p:cNvPr id="190" name="Picture 189" descr="Cubes connected with a red line">
            <a:extLst>
              <a:ext uri="{FF2B5EF4-FFF2-40B4-BE49-F238E27FC236}">
                <a16:creationId xmlns:a16="http://schemas.microsoft.com/office/drawing/2014/main" id="{ECBB7A22-33E2-A74E-6FE3-E2D593B39459}"/>
              </a:ext>
            </a:extLst>
          </p:cNvPr>
          <p:cNvPicPr>
            <a:picLocks noChangeAspect="1"/>
          </p:cNvPicPr>
          <p:nvPr/>
        </p:nvPicPr>
        <p:blipFill>
          <a:blip r:embed="rId3"/>
          <a:srcRect l="34026" r="22596" b="-1"/>
          <a:stretch/>
        </p:blipFill>
        <p:spPr>
          <a:xfrm>
            <a:off x="20" y="10"/>
            <a:ext cx="3863363" cy="6857990"/>
          </a:xfrm>
          <a:prstGeom prst="rect">
            <a:avLst/>
          </a:prstGeom>
        </p:spPr>
      </p:pic>
      <p:cxnSp>
        <p:nvCxnSpPr>
          <p:cNvPr id="194" name="Straight Connector 193">
            <a:extLst>
              <a:ext uri="{FF2B5EF4-FFF2-40B4-BE49-F238E27FC236}">
                <a16:creationId xmlns:a16="http://schemas.microsoft.com/office/drawing/2014/main" id="{1503BFE4-729B-D9D0-C17B-501E6AF112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478772" y="871146"/>
            <a:ext cx="552705"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188" name="Google Shape;188;p11"/>
          <p:cNvSpPr txBox="1">
            <a:spLocks noGrp="1"/>
          </p:cNvSpPr>
          <p:nvPr>
            <p:ph type="body" idx="1"/>
          </p:nvPr>
        </p:nvSpPr>
        <p:spPr>
          <a:xfrm>
            <a:off x="4401417" y="2551176"/>
            <a:ext cx="4083287" cy="3591207"/>
          </a:xfrm>
          <a:prstGeom prst="rect">
            <a:avLst/>
          </a:prstGeom>
        </p:spPr>
        <p:txBody>
          <a:bodyPr spcFirstLastPara="1" lIns="91425" tIns="45700" rIns="91425" bIns="45700" anchorCtr="0">
            <a:normAutofit/>
          </a:bodyPr>
          <a:lstStyle/>
          <a:p>
            <a:pPr marL="228600" lvl="0" indent="-228600" rtl="0">
              <a:spcBef>
                <a:spcPts val="0"/>
              </a:spcBef>
              <a:spcAft>
                <a:spcPts val="0"/>
              </a:spcAft>
              <a:buClr>
                <a:schemeClr val="dk1"/>
              </a:buClr>
              <a:buSzPct val="100000"/>
              <a:buChar char="•"/>
            </a:pPr>
            <a:r>
              <a:rPr lang="en-US" sz="1400" dirty="0"/>
              <a:t>Apart from accelerating the project completion, they establish a common set of practices thus standardizing the process and ensuring consistency. They also ensure scalability. </a:t>
            </a:r>
          </a:p>
          <a:p>
            <a:pPr marL="228600" lvl="0" indent="-228600" rtl="0">
              <a:spcBef>
                <a:spcPts val="1000"/>
              </a:spcBef>
              <a:spcAft>
                <a:spcPts val="0"/>
              </a:spcAft>
              <a:buClr>
                <a:schemeClr val="dk1"/>
              </a:buClr>
              <a:buSzPct val="100000"/>
              <a:buChar char="•"/>
            </a:pPr>
            <a:r>
              <a:rPr lang="en-US" sz="1400" dirty="0"/>
              <a:t>AI frameworks are designed to handle the complexities of scaling AI models. They can accommodate varying workloads. </a:t>
            </a:r>
          </a:p>
          <a:p>
            <a:pPr marL="228600" lvl="0" indent="-228600" rtl="0">
              <a:spcBef>
                <a:spcPts val="1000"/>
              </a:spcBef>
              <a:spcAft>
                <a:spcPts val="0"/>
              </a:spcAft>
              <a:buClr>
                <a:schemeClr val="dk1"/>
              </a:buClr>
              <a:buSzPct val="100000"/>
              <a:buChar char="•"/>
            </a:pPr>
            <a:r>
              <a:rPr lang="en-US" sz="1400" dirty="0"/>
              <a:t>But perhaps the most important role is keeping up with advancements. Since AI is an ongoingly evolving field, these frameworks help development stay up-to-date with the latest developments. They can incorporate innovative approaches into their libraries.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206"/>
        <p:cNvGrpSpPr/>
        <p:nvPr/>
      </p:nvGrpSpPr>
      <p:grpSpPr>
        <a:xfrm>
          <a:off x="0" y="0"/>
          <a:ext cx="0" cy="0"/>
          <a:chOff x="0" y="0"/>
          <a:chExt cx="0" cy="0"/>
        </a:xfrm>
      </p:grpSpPr>
      <p:sp>
        <p:nvSpPr>
          <p:cNvPr id="207" name="Google Shape;207;g2c71adec0ba_0_54"/>
          <p:cNvSpPr txBox="1">
            <a:spLocks noGrp="1"/>
          </p:cNvSpPr>
          <p:nvPr>
            <p:ph type="title"/>
          </p:nvPr>
        </p:nvSpPr>
        <p:spPr>
          <a:xfrm>
            <a:off x="840699" y="687480"/>
            <a:ext cx="5605629" cy="994172"/>
          </a:xfrm>
          <a:prstGeom prst="rect">
            <a:avLst/>
          </a:prstGeom>
        </p:spPr>
        <p:txBody>
          <a:bodyPr spcFirstLastPara="1" lIns="91425" tIns="45700" rIns="91425" bIns="45700" anchorCtr="0">
            <a:normAutofit/>
          </a:bodyPr>
          <a:lstStyle/>
          <a:p>
            <a:pPr marL="0" lvl="0" indent="0" rtl="0">
              <a:spcBef>
                <a:spcPts val="0"/>
              </a:spcBef>
              <a:spcAft>
                <a:spcPts val="0"/>
              </a:spcAft>
              <a:buNone/>
            </a:pPr>
            <a:r>
              <a:rPr lang="en-US" sz="3850"/>
              <a:t>Pytorch</a:t>
            </a:r>
          </a:p>
        </p:txBody>
      </p:sp>
      <p:sp>
        <p:nvSpPr>
          <p:cNvPr id="208" name="Google Shape;208;g2c71adec0ba_0_54"/>
          <p:cNvSpPr txBox="1">
            <a:spLocks noGrp="1"/>
          </p:cNvSpPr>
          <p:nvPr>
            <p:ph type="body" idx="1"/>
          </p:nvPr>
        </p:nvSpPr>
        <p:spPr>
          <a:xfrm>
            <a:off x="852321" y="2227943"/>
            <a:ext cx="5033221" cy="3788227"/>
          </a:xfrm>
          <a:prstGeom prst="rect">
            <a:avLst/>
          </a:prstGeom>
        </p:spPr>
        <p:txBody>
          <a:bodyPr spcFirstLastPara="1" lIns="91425" tIns="45700" rIns="91425" bIns="45700" anchor="ctr" anchorCtr="0">
            <a:normAutofit/>
          </a:bodyPr>
          <a:lstStyle/>
          <a:p>
            <a:pPr marL="0" lvl="0" indent="0" rtl="0">
              <a:spcBef>
                <a:spcPts val="1000"/>
              </a:spcBef>
              <a:spcAft>
                <a:spcPts val="0"/>
              </a:spcAft>
              <a:buClr>
                <a:schemeClr val="dk1"/>
              </a:buClr>
              <a:buSzPts val="1100"/>
              <a:buFont typeface="Arial"/>
              <a:buNone/>
            </a:pPr>
            <a:r>
              <a:rPr lang="en-US" sz="2100"/>
              <a:t>PyTorch is a relatively new deep learning framework based on Torch. Developed by Facebook’s AI research group and open-sourced on GitHub in 2017, it’s used for natural language processing applications. PyTorch has a reputation for simplicity, ease of use, flexibility, efficient memory usage, and dynamic computational graphs. It also feels native, making coding more manageable and increasing processing speed.</a:t>
            </a:r>
          </a:p>
          <a:p>
            <a:pPr marL="0" lvl="0" indent="0" rtl="0">
              <a:spcBef>
                <a:spcPts val="0"/>
              </a:spcBef>
              <a:spcAft>
                <a:spcPts val="0"/>
              </a:spcAft>
              <a:buClr>
                <a:schemeClr val="dk1"/>
              </a:buClr>
              <a:buSzPts val="1100"/>
              <a:buFont typeface="Arial"/>
              <a:buNone/>
            </a:pPr>
            <a:endParaRPr lang="en-US" sz="2100">
              <a:highlight>
                <a:srgbClr val="FFFFFF"/>
              </a:highlight>
              <a:latin typeface="Roboto"/>
              <a:ea typeface="Roboto"/>
              <a:cs typeface="Roboto"/>
              <a:sym typeface="Roboto"/>
            </a:endParaRPr>
          </a:p>
          <a:p>
            <a:pPr marL="0" lvl="0" indent="0" rtl="0">
              <a:spcBef>
                <a:spcPts val="1000"/>
              </a:spcBef>
              <a:spcAft>
                <a:spcPts val="0"/>
              </a:spcAft>
              <a:buNone/>
            </a:pPr>
            <a:endParaRPr lang="en-US" sz="2100"/>
          </a:p>
        </p:txBody>
      </p:sp>
      <p:sp>
        <p:nvSpPr>
          <p:cNvPr id="2055" name="Rectangle 2054">
            <a:extLst>
              <a:ext uri="{FF2B5EF4-FFF2-40B4-BE49-F238E27FC236}">
                <a16:creationId xmlns:a16="http://schemas.microsoft.com/office/drawing/2014/main" id="{59A309A7-1751-4ABE-A3C1-EEC40366AD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89435" y="0"/>
            <a:ext cx="1954565" cy="6858000"/>
          </a:xfrm>
          <a:prstGeom prst="rect">
            <a:avLst/>
          </a:prstGeom>
          <a:solidFill>
            <a:srgbClr val="D671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057" name="Oval 2056">
            <a:extLst>
              <a:ext uri="{FF2B5EF4-FFF2-40B4-BE49-F238E27FC236}">
                <a16:creationId xmlns:a16="http://schemas.microsoft.com/office/drawing/2014/main" id="{967D8EB6-EAE1-4F9C-B398-83321E2872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29567" y="2369132"/>
            <a:ext cx="2119736" cy="2119736"/>
          </a:xfrm>
          <a:prstGeom prst="ellipse">
            <a:avLst/>
          </a:prstGeom>
          <a:solidFill>
            <a:srgbClr val="FFFFFF"/>
          </a:solidFill>
          <a:ln w="22225">
            <a:solidFill>
              <a:srgbClr val="F75E3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pic>
        <p:nvPicPr>
          <p:cNvPr id="2050" name="Picture 2" descr="PyTorch 2.0 release accelerates open-source machine learning | VentureBeat">
            <a:extLst>
              <a:ext uri="{FF2B5EF4-FFF2-40B4-BE49-F238E27FC236}">
                <a16:creationId xmlns:a16="http://schemas.microsoft.com/office/drawing/2014/main" id="{91595154-91AE-113A-DE7C-BB37C5FBBB76}"/>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6465356" y="3248549"/>
            <a:ext cx="1462672" cy="37663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213"/>
        <p:cNvGrpSpPr/>
        <p:nvPr/>
      </p:nvGrpSpPr>
      <p:grpSpPr>
        <a:xfrm>
          <a:off x="0" y="0"/>
          <a:ext cx="0" cy="0"/>
          <a:chOff x="0" y="0"/>
          <a:chExt cx="0" cy="0"/>
        </a:xfrm>
      </p:grpSpPr>
      <p:sp>
        <p:nvSpPr>
          <p:cNvPr id="214" name="Google Shape;214;g2c71adec0ba_0_61"/>
          <p:cNvSpPr txBox="1">
            <a:spLocks noGrp="1"/>
          </p:cNvSpPr>
          <p:nvPr>
            <p:ph type="title"/>
          </p:nvPr>
        </p:nvSpPr>
        <p:spPr>
          <a:xfrm>
            <a:off x="840699" y="687480"/>
            <a:ext cx="5605629" cy="994172"/>
          </a:xfrm>
          <a:prstGeom prst="rect">
            <a:avLst/>
          </a:prstGeom>
        </p:spPr>
        <p:txBody>
          <a:bodyPr spcFirstLastPara="1" lIns="91425" tIns="45700" rIns="91425" bIns="45700" anchorCtr="0">
            <a:normAutofit/>
          </a:bodyPr>
          <a:lstStyle/>
          <a:p>
            <a:pPr marL="0" lvl="0" indent="0" rtl="0">
              <a:spcBef>
                <a:spcPts val="0"/>
              </a:spcBef>
              <a:spcAft>
                <a:spcPts val="0"/>
              </a:spcAft>
              <a:buNone/>
            </a:pPr>
            <a:r>
              <a:rPr lang="en-US" sz="3850"/>
              <a:t>Tensorflow</a:t>
            </a:r>
          </a:p>
        </p:txBody>
      </p:sp>
      <p:sp>
        <p:nvSpPr>
          <p:cNvPr id="215" name="Google Shape;215;g2c71adec0ba_0_61"/>
          <p:cNvSpPr txBox="1">
            <a:spLocks noGrp="1"/>
          </p:cNvSpPr>
          <p:nvPr>
            <p:ph type="body" idx="1"/>
          </p:nvPr>
        </p:nvSpPr>
        <p:spPr>
          <a:xfrm>
            <a:off x="852321" y="2227943"/>
            <a:ext cx="5033221" cy="3788227"/>
          </a:xfrm>
          <a:prstGeom prst="rect">
            <a:avLst/>
          </a:prstGeom>
        </p:spPr>
        <p:txBody>
          <a:bodyPr spcFirstLastPara="1" lIns="91425" tIns="45700" rIns="91425" bIns="45700" anchor="ctr" anchorCtr="0">
            <a:normAutofit/>
          </a:bodyPr>
          <a:lstStyle/>
          <a:p>
            <a:pPr marL="114300" indent="0" algn="l">
              <a:lnSpc>
                <a:spcPct val="120000"/>
              </a:lnSpc>
              <a:spcAft>
                <a:spcPts val="1950"/>
              </a:spcAft>
              <a:buNone/>
            </a:pPr>
            <a:r>
              <a:rPr lang="en-US" sz="1200" b="0" i="0" u="none" strike="noStrike" dirty="0">
                <a:solidFill>
                  <a:schemeClr val="tx1"/>
                </a:solidFill>
                <a:effectLst/>
                <a:latin typeface="+mn-lt"/>
                <a:hlinkClick r:id="rId3" tooltip="Google">
                  <a:extLst>
                    <a:ext uri="{A12FA001-AC4F-418D-AE19-62706E023703}">
                      <ahyp:hlinkClr xmlns:ahyp="http://schemas.microsoft.com/office/drawing/2018/hyperlinkcolor" val="tx"/>
                    </a:ext>
                  </a:extLst>
                </a:hlinkClick>
              </a:rPr>
              <a:t>Google</a:t>
            </a:r>
            <a:r>
              <a:rPr lang="en-US" sz="1200" b="0" i="0" dirty="0">
                <a:solidFill>
                  <a:schemeClr val="tx1"/>
                </a:solidFill>
                <a:effectLst/>
                <a:latin typeface="+mn-lt"/>
              </a:rPr>
              <a:t> Brain created the open-source TensorFlow framework, which is extensively employed in many artificial intelligence, machine learning, and deep learning projects. TensorFlow's extensive and adaptable ecosystem of tools, libraries, and community resources allows researchers to advance the state of machine learning. At the same time, developers can easily create and </a:t>
            </a:r>
            <a:r>
              <a:rPr lang="en-US" sz="1200" b="0" i="0" u="none" strike="noStrike" dirty="0">
                <a:solidFill>
                  <a:schemeClr val="tx1"/>
                </a:solidFill>
                <a:effectLst/>
                <a:latin typeface="+mn-lt"/>
                <a:hlinkClick r:id="rId4" tooltip="implement">
                  <a:extLst>
                    <a:ext uri="{A12FA001-AC4F-418D-AE19-62706E023703}">
                      <ahyp:hlinkClr xmlns:ahyp="http://schemas.microsoft.com/office/drawing/2018/hyperlinkcolor" val="tx"/>
                    </a:ext>
                  </a:extLst>
                </a:hlinkClick>
              </a:rPr>
              <a:t>implement</a:t>
            </a:r>
            <a:r>
              <a:rPr lang="en-US" sz="1200" b="0" i="0" dirty="0">
                <a:solidFill>
                  <a:schemeClr val="tx1"/>
                </a:solidFill>
                <a:effectLst/>
                <a:latin typeface="+mn-lt"/>
              </a:rPr>
              <a:t> machine learning-powered apps.</a:t>
            </a:r>
          </a:p>
          <a:p>
            <a:pPr marL="114300" indent="0" algn="l">
              <a:lnSpc>
                <a:spcPct val="120000"/>
              </a:lnSpc>
              <a:spcAft>
                <a:spcPts val="1950"/>
              </a:spcAft>
              <a:buNone/>
            </a:pPr>
            <a:r>
              <a:rPr lang="en-US" sz="1200" dirty="0">
                <a:latin typeface="+mn-lt"/>
              </a:rPr>
              <a:t>A promising and fast-growing entry in the world of deep learning, TensorFlow offers a flexible, comprehensive ecosystem of community resources, libraries, and tools that facilitate building and deploying machine learning apps. </a:t>
            </a:r>
          </a:p>
          <a:p>
            <a:pPr marL="0" lvl="0" indent="0" rtl="0">
              <a:spcBef>
                <a:spcPts val="1000"/>
              </a:spcBef>
              <a:spcAft>
                <a:spcPts val="0"/>
              </a:spcAft>
              <a:buNone/>
            </a:pPr>
            <a:endParaRPr lang="en-US" sz="1300" dirty="0"/>
          </a:p>
        </p:txBody>
      </p:sp>
      <p:sp>
        <p:nvSpPr>
          <p:cNvPr id="3083" name="Rectangle 3082">
            <a:extLst>
              <a:ext uri="{FF2B5EF4-FFF2-40B4-BE49-F238E27FC236}">
                <a16:creationId xmlns:a16="http://schemas.microsoft.com/office/drawing/2014/main" id="{59A309A7-1751-4ABE-A3C1-EEC40366AD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89435" y="0"/>
            <a:ext cx="1954565" cy="6858000"/>
          </a:xfrm>
          <a:prstGeom prst="rect">
            <a:avLst/>
          </a:prstGeom>
          <a:solidFill>
            <a:srgbClr val="8465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3084" name="Oval 3083">
            <a:extLst>
              <a:ext uri="{FF2B5EF4-FFF2-40B4-BE49-F238E27FC236}">
                <a16:creationId xmlns:a16="http://schemas.microsoft.com/office/drawing/2014/main" id="{967D8EB6-EAE1-4F9C-B398-83321E2872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29567" y="2369132"/>
            <a:ext cx="2119736" cy="2119736"/>
          </a:xfrm>
          <a:prstGeom prst="ellipse">
            <a:avLst/>
          </a:prstGeom>
          <a:solidFill>
            <a:srgbClr val="FFFFFF"/>
          </a:solidFill>
          <a:ln w="22225">
            <a:solidFill>
              <a:srgbClr val="FF965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pic>
        <p:nvPicPr>
          <p:cNvPr id="3074" name="Picture 2" descr="TensorFlow - Wikipedia">
            <a:extLst>
              <a:ext uri="{FF2B5EF4-FFF2-40B4-BE49-F238E27FC236}">
                <a16:creationId xmlns:a16="http://schemas.microsoft.com/office/drawing/2014/main" id="{EB5B3127-5628-2B22-9D36-674504202B11}"/>
              </a:ext>
            </a:extLst>
          </p:cNvPr>
          <p:cNvPicPr>
            <a:picLocks noChangeAspect="1" noChangeArrowheads="1"/>
          </p:cNvPicPr>
          <p:nvPr/>
        </p:nvPicPr>
        <p:blipFill>
          <a:blip r:embed="rId5">
            <a:extLst>
              <a:ext uri="{28A0092B-C50C-407E-A947-70E740481C1C}">
                <a14:useLocalDpi xmlns:a14="http://schemas.microsoft.com/office/drawing/2010/main" val="0"/>
              </a:ext>
            </a:extLst>
          </a:blip>
          <a:stretch>
            <a:fillRect/>
          </a:stretch>
        </p:blipFill>
        <p:spPr bwMode="auto">
          <a:xfrm>
            <a:off x="6465356" y="2971000"/>
            <a:ext cx="1462672" cy="93173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220"/>
        <p:cNvGrpSpPr/>
        <p:nvPr/>
      </p:nvGrpSpPr>
      <p:grpSpPr>
        <a:xfrm>
          <a:off x="0" y="0"/>
          <a:ext cx="0" cy="0"/>
          <a:chOff x="0" y="0"/>
          <a:chExt cx="0" cy="0"/>
        </a:xfrm>
      </p:grpSpPr>
      <p:sp useBgFill="1">
        <p:nvSpPr>
          <p:cNvPr id="226" name="Rectangle 225">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1" name="Google Shape;221;g2c71adec0ba_0_68"/>
          <p:cNvSpPr txBox="1">
            <a:spLocks noGrp="1"/>
          </p:cNvSpPr>
          <p:nvPr>
            <p:ph type="title"/>
          </p:nvPr>
        </p:nvSpPr>
        <p:spPr>
          <a:xfrm>
            <a:off x="606478" y="386930"/>
            <a:ext cx="6927525" cy="1188950"/>
          </a:xfrm>
          <a:prstGeom prst="rect">
            <a:avLst/>
          </a:prstGeom>
        </p:spPr>
        <p:txBody>
          <a:bodyPr spcFirstLastPara="1" lIns="91425" tIns="45700" rIns="91425" bIns="45700" anchor="b" anchorCtr="0">
            <a:normAutofit/>
          </a:bodyPr>
          <a:lstStyle/>
          <a:p>
            <a:pPr marL="0" lvl="0" indent="0" rtl="0">
              <a:spcBef>
                <a:spcPts val="0"/>
              </a:spcBef>
              <a:spcAft>
                <a:spcPts val="0"/>
              </a:spcAft>
              <a:buNone/>
            </a:pPr>
            <a:r>
              <a:rPr lang="en-US" sz="4000"/>
              <a:t>TensorFlow vs PyTorch: Ease of Use</a:t>
            </a:r>
          </a:p>
        </p:txBody>
      </p:sp>
      <p:grpSp>
        <p:nvGrpSpPr>
          <p:cNvPr id="228" name="Group 227">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1998368"/>
            <a:ext cx="8771274" cy="782176"/>
            <a:chOff x="-2" y="1998368"/>
            <a:chExt cx="11695083" cy="782176"/>
          </a:xfrm>
        </p:grpSpPr>
        <p:sp>
          <p:nvSpPr>
            <p:cNvPr id="229" name="Rectangle 228">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0" name="Rectangle 229">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32" name="Rectangle 231">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8537521"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Placeholder 2">
            <a:extLst>
              <a:ext uri="{FF2B5EF4-FFF2-40B4-BE49-F238E27FC236}">
                <a16:creationId xmlns:a16="http://schemas.microsoft.com/office/drawing/2014/main" id="{10230224-DB12-6E7F-9289-9A96A193AAB8}"/>
              </a:ext>
            </a:extLst>
          </p:cNvPr>
          <p:cNvSpPr>
            <a:spLocks noGrp="1"/>
          </p:cNvSpPr>
          <p:nvPr>
            <p:ph type="body" idx="1"/>
          </p:nvPr>
        </p:nvSpPr>
        <p:spPr>
          <a:xfrm>
            <a:off x="595245" y="2599509"/>
            <a:ext cx="7607751" cy="3435531"/>
          </a:xfrm>
        </p:spPr>
        <p:txBody>
          <a:bodyPr anchor="ctr">
            <a:normAutofit/>
          </a:bodyPr>
          <a:lstStyle/>
          <a:p>
            <a:r>
              <a:rPr lang="en-US" sz="1300" b="1" i="0">
                <a:effectLst/>
                <a:latin typeface="+mn-lt"/>
              </a:rPr>
              <a:t>PyTorch: </a:t>
            </a:r>
            <a:r>
              <a:rPr lang="en-US" sz="1300" b="0" i="0">
                <a:effectLst/>
                <a:latin typeface="+mn-lt"/>
              </a:rPr>
              <a:t>Known for its </a:t>
            </a:r>
            <a:r>
              <a:rPr lang="en-US" sz="1300" b="0" i="1">
                <a:effectLst/>
                <a:latin typeface="+mn-lt"/>
              </a:rPr>
              <a:t>Pythonic nature</a:t>
            </a:r>
            <a:r>
              <a:rPr lang="en-US" sz="1300" b="0" i="0">
                <a:effectLst/>
                <a:latin typeface="+mn-lt"/>
              </a:rPr>
              <a:t> and </a:t>
            </a:r>
            <a:r>
              <a:rPr lang="en-US" sz="1300" b="0" i="1">
                <a:effectLst/>
                <a:latin typeface="+mn-lt"/>
              </a:rPr>
              <a:t>simplicity</a:t>
            </a:r>
            <a:r>
              <a:rPr lang="en-US" sz="1300" b="0" i="0">
                <a:effectLst/>
                <a:latin typeface="+mn-lt"/>
              </a:rPr>
              <a:t>, </a:t>
            </a:r>
          </a:p>
          <a:p>
            <a:pPr lvl="1"/>
            <a:r>
              <a:rPr lang="en-US" sz="1300" b="0" i="0">
                <a:effectLst/>
                <a:latin typeface="+mn-lt"/>
              </a:rPr>
              <a:t>PyTorch often </a:t>
            </a:r>
            <a:r>
              <a:rPr lang="en-US" sz="1300" b="1" i="0">
                <a:effectLst/>
                <a:latin typeface="+mn-lt"/>
              </a:rPr>
              <a:t>appeals to beginners</a:t>
            </a:r>
            <a:r>
              <a:rPr lang="en-US" sz="1300" b="0" i="0">
                <a:effectLst/>
                <a:latin typeface="+mn-lt"/>
              </a:rPr>
              <a:t> for its </a:t>
            </a:r>
            <a:r>
              <a:rPr lang="en-US" sz="1300" b="0" i="1">
                <a:effectLst/>
                <a:latin typeface="+mn-lt"/>
              </a:rPr>
              <a:t>intuitive syntax and ease of understanding</a:t>
            </a:r>
            <a:r>
              <a:rPr lang="en-US" sz="1300" b="0" i="0">
                <a:effectLst/>
                <a:latin typeface="+mn-lt"/>
              </a:rPr>
              <a:t>. It mirrors Python’s way of doing things, making it accessible to those familiar with it. Users often commend PyTorch for its </a:t>
            </a:r>
            <a:r>
              <a:rPr lang="en-US" sz="1300" b="0" i="1">
                <a:effectLst/>
                <a:latin typeface="+mn-lt"/>
              </a:rPr>
              <a:t>straightforward approach to building and training neural networks</a:t>
            </a:r>
            <a:r>
              <a:rPr lang="en-US" sz="1300" b="0" i="0">
                <a:effectLst/>
                <a:latin typeface="+mn-lt"/>
              </a:rPr>
              <a:t>, especially with its dynamic computation graph, which allows for changes on the fly. This makes experimenting and debugging relatively easier for beginners. </a:t>
            </a:r>
          </a:p>
          <a:p>
            <a:r>
              <a:rPr lang="en-US" sz="1300" b="1" i="0">
                <a:effectLst/>
                <a:latin typeface="+mn-lt"/>
              </a:rPr>
              <a:t>TensorFlow</a:t>
            </a:r>
            <a:r>
              <a:rPr lang="en-US" sz="1300" b="0" i="0">
                <a:effectLst/>
                <a:latin typeface="+mn-lt"/>
              </a:rPr>
              <a:t>: Historically, TensorFlow was considered to have a steeper learning curve, primarily due to its static computation graph and more verbose syntax. However, this has changed significantly with the introduction of </a:t>
            </a:r>
            <a:r>
              <a:rPr lang="en-US" sz="1300" b="1" i="0">
                <a:effectLst/>
                <a:latin typeface="+mn-lt"/>
              </a:rPr>
              <a:t>Keras </a:t>
            </a:r>
            <a:r>
              <a:rPr lang="en-US" sz="1300" b="0" i="0">
                <a:effectLst/>
                <a:latin typeface="+mn-lt"/>
              </a:rPr>
              <a:t>as a high-level API within TensorFlow. </a:t>
            </a:r>
          </a:p>
          <a:p>
            <a:pPr lvl="1"/>
            <a:r>
              <a:rPr lang="en-US" sz="1300" b="0" i="0">
                <a:effectLst/>
                <a:latin typeface="+mn-lt"/>
              </a:rPr>
              <a:t>Keras provides an easier entry point for beginners with its user-friendly interface. TensorFlow’s recent versions have focused on improving user-friendliness, but it might still be perceived as more challenging initially than PyTorch. </a:t>
            </a:r>
          </a:p>
          <a:p>
            <a:endParaRPr lang="en-US" sz="1300">
              <a:latin typeface="+mn-lt"/>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6C6E0DD-0CA2-C8FD-EFB4-F88535CD2E8E}"/>
              </a:ext>
            </a:extLst>
          </p:cNvPr>
          <p:cNvSpPr>
            <a:spLocks noGrp="1"/>
          </p:cNvSpPr>
          <p:nvPr>
            <p:ph type="title"/>
          </p:nvPr>
        </p:nvSpPr>
        <p:spPr>
          <a:xfrm>
            <a:off x="606478" y="386930"/>
            <a:ext cx="6927525" cy="1188950"/>
          </a:xfrm>
        </p:spPr>
        <p:txBody>
          <a:bodyPr anchor="b">
            <a:normAutofit/>
          </a:bodyPr>
          <a:lstStyle/>
          <a:p>
            <a:r>
              <a:rPr lang="en-US" sz="3600" dirty="0"/>
              <a:t>TensorFlow vs </a:t>
            </a:r>
            <a:r>
              <a:rPr lang="en-US" sz="3600" dirty="0" err="1"/>
              <a:t>PyTorch</a:t>
            </a:r>
            <a:r>
              <a:rPr lang="en-US" sz="3600" dirty="0"/>
              <a:t>: Impact on Practical Model Building</a:t>
            </a:r>
          </a:p>
        </p:txBody>
      </p:sp>
      <p:grpSp>
        <p:nvGrpSpPr>
          <p:cNvPr id="10" name="Group 9">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1998368"/>
            <a:ext cx="8771274" cy="782176"/>
            <a:chOff x="-2" y="1998368"/>
            <a:chExt cx="11695083" cy="782176"/>
          </a:xfrm>
        </p:grpSpPr>
        <p:sp>
          <p:nvSpPr>
            <p:cNvPr id="11" name="Rectangle 10">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8537521"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Placeholder 2">
            <a:extLst>
              <a:ext uri="{FF2B5EF4-FFF2-40B4-BE49-F238E27FC236}">
                <a16:creationId xmlns:a16="http://schemas.microsoft.com/office/drawing/2014/main" id="{B44066A7-412C-5310-54A8-9BC6995E7206}"/>
              </a:ext>
            </a:extLst>
          </p:cNvPr>
          <p:cNvSpPr>
            <a:spLocks noGrp="1"/>
          </p:cNvSpPr>
          <p:nvPr>
            <p:ph type="body" idx="1"/>
          </p:nvPr>
        </p:nvSpPr>
        <p:spPr>
          <a:xfrm>
            <a:off x="595245" y="2599509"/>
            <a:ext cx="7607751" cy="3435531"/>
          </a:xfrm>
        </p:spPr>
        <p:txBody>
          <a:bodyPr anchor="ctr">
            <a:normAutofit/>
          </a:bodyPr>
          <a:lstStyle/>
          <a:p>
            <a:r>
              <a:rPr lang="en-US" sz="1900" b="1" i="0">
                <a:effectLst/>
                <a:latin typeface="+mn-lt"/>
              </a:rPr>
              <a:t>PyTorch</a:t>
            </a:r>
            <a:r>
              <a:rPr lang="en-US" sz="1900" b="0" i="0">
                <a:effectLst/>
                <a:latin typeface="+mn-lt"/>
              </a:rPr>
              <a:t>: The flexibility of PyTorch makes it ideal for research and prototyping, where the ability to tweak and adjust models rapidly is crucial. However, this flexibility can sometimes lead to less optimized models than TensorFlow, particularly for deployment in production environments.</a:t>
            </a:r>
          </a:p>
          <a:p>
            <a:r>
              <a:rPr lang="en-US" sz="1900" b="1" i="0">
                <a:effectLst/>
                <a:latin typeface="+mn-lt"/>
              </a:rPr>
              <a:t>TensorFlow</a:t>
            </a:r>
            <a:r>
              <a:rPr lang="en-US" sz="1900" b="0" i="0">
                <a:effectLst/>
                <a:latin typeface="+mn-lt"/>
              </a:rPr>
              <a:t>: TensorFlow’s structured approach is beneficial for production environments where models must be scalable and highly optimized. However, this can sometimes slow down the experimentation process, making it less ideal for research purposes where rapid prototyping is required.</a:t>
            </a:r>
          </a:p>
          <a:p>
            <a:endParaRPr lang="en-US" sz="1900">
              <a:latin typeface="+mn-lt"/>
            </a:endParaRPr>
          </a:p>
        </p:txBody>
      </p:sp>
    </p:spTree>
    <p:extLst>
      <p:ext uri="{BB962C8B-B14F-4D97-AF65-F5344CB8AC3E}">
        <p14:creationId xmlns:p14="http://schemas.microsoft.com/office/powerpoint/2010/main" val="16802662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9937DC4-BB34-D205-3139-6F2C13E4FF34}"/>
              </a:ext>
            </a:extLst>
          </p:cNvPr>
          <p:cNvSpPr>
            <a:spLocks noGrp="1"/>
          </p:cNvSpPr>
          <p:nvPr>
            <p:ph type="title"/>
          </p:nvPr>
        </p:nvSpPr>
        <p:spPr>
          <a:xfrm>
            <a:off x="606478" y="386930"/>
            <a:ext cx="6927525" cy="1188950"/>
          </a:xfrm>
        </p:spPr>
        <p:txBody>
          <a:bodyPr anchor="b">
            <a:normAutofit/>
          </a:bodyPr>
          <a:lstStyle/>
          <a:p>
            <a:r>
              <a:rPr lang="en-US" sz="4000"/>
              <a:t>TensorFlow vs PyTorch: Speed and Efficiency</a:t>
            </a:r>
          </a:p>
        </p:txBody>
      </p:sp>
      <p:grpSp>
        <p:nvGrpSpPr>
          <p:cNvPr id="10" name="Group 9">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1998368"/>
            <a:ext cx="8771274" cy="782176"/>
            <a:chOff x="-2" y="1998368"/>
            <a:chExt cx="11695083" cy="782176"/>
          </a:xfrm>
        </p:grpSpPr>
        <p:sp>
          <p:nvSpPr>
            <p:cNvPr id="11" name="Rectangle 10">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8537521"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Placeholder 2">
            <a:extLst>
              <a:ext uri="{FF2B5EF4-FFF2-40B4-BE49-F238E27FC236}">
                <a16:creationId xmlns:a16="http://schemas.microsoft.com/office/drawing/2014/main" id="{E56E4299-4C59-D12B-BCAD-33C6AA42F1C9}"/>
              </a:ext>
            </a:extLst>
          </p:cNvPr>
          <p:cNvSpPr>
            <a:spLocks noGrp="1"/>
          </p:cNvSpPr>
          <p:nvPr>
            <p:ph type="body" idx="1"/>
          </p:nvPr>
        </p:nvSpPr>
        <p:spPr>
          <a:xfrm>
            <a:off x="595245" y="2599509"/>
            <a:ext cx="7607751" cy="3435531"/>
          </a:xfrm>
        </p:spPr>
        <p:txBody>
          <a:bodyPr anchor="ctr">
            <a:normAutofit/>
          </a:bodyPr>
          <a:lstStyle/>
          <a:p>
            <a:r>
              <a:rPr lang="en-US" sz="1300" b="1" i="0" dirty="0">
                <a:effectLst/>
                <a:latin typeface="+mn-lt"/>
              </a:rPr>
              <a:t>Benchmark Test Scenario:</a:t>
            </a:r>
            <a:r>
              <a:rPr lang="en-US" sz="1300" b="0" i="0" dirty="0">
                <a:effectLst/>
                <a:latin typeface="+mn-lt"/>
              </a:rPr>
              <a:t> Imagine we’re training a basic Convolutional Neural Network (CNN) on a standard dataset like MNIST. The CNN will have a few convolutional, pooling, and fully connected layers. The performance metrics to focus on are training time and memory usage.</a:t>
            </a:r>
          </a:p>
          <a:p>
            <a:r>
              <a:rPr lang="en-US" sz="1300" b="1" i="0" dirty="0">
                <a:effectLst/>
                <a:latin typeface="+mn-lt"/>
              </a:rPr>
              <a:t>Results (Hypothetical): </a:t>
            </a:r>
            <a:endParaRPr lang="en-US" sz="1300" b="0" i="0" dirty="0">
              <a:effectLst/>
              <a:latin typeface="+mn-lt"/>
            </a:endParaRPr>
          </a:p>
          <a:p>
            <a:pPr lvl="1"/>
            <a:r>
              <a:rPr lang="en-US" sz="1300" b="0" i="0" dirty="0">
                <a:effectLst/>
                <a:latin typeface="+mn-lt"/>
              </a:rPr>
              <a:t>In such a test, you might find that </a:t>
            </a:r>
            <a:r>
              <a:rPr lang="en-US" sz="1300" b="0" i="0" dirty="0" err="1">
                <a:effectLst/>
                <a:latin typeface="+mn-lt"/>
              </a:rPr>
              <a:t>PyTorch</a:t>
            </a:r>
            <a:r>
              <a:rPr lang="en-US" sz="1300" b="0" i="0" dirty="0">
                <a:effectLst/>
                <a:latin typeface="+mn-lt"/>
              </a:rPr>
              <a:t> and TensorFlow perform similarly in terms of training speed when running on a GPU. However, variations can occur based on the specific version of the framework and the hardware used. For instance, TensorFlow might slightly edge out in GPU utilization efficiency due to its static graph nature, which the underlying engine can more easily optimize.</a:t>
            </a:r>
          </a:p>
          <a:p>
            <a:r>
              <a:rPr lang="en-US" sz="1300" b="1" i="0" dirty="0">
                <a:effectLst/>
                <a:latin typeface="+mn-lt"/>
              </a:rPr>
              <a:t>Resource Usage:</a:t>
            </a:r>
            <a:r>
              <a:rPr lang="en-US" sz="1300" b="0" i="0" dirty="0">
                <a:effectLst/>
                <a:latin typeface="+mn-lt"/>
              </a:rPr>
              <a:t> TensorFlow might show a bit more efficiency in memory usage compared to </a:t>
            </a:r>
            <a:r>
              <a:rPr lang="en-US" sz="1300" b="0" i="0" dirty="0" err="1">
                <a:effectLst/>
                <a:latin typeface="+mn-lt"/>
              </a:rPr>
              <a:t>PyTorch</a:t>
            </a:r>
            <a:r>
              <a:rPr lang="en-US" sz="1300" b="0" i="0" dirty="0">
                <a:effectLst/>
                <a:latin typeface="+mn-lt"/>
              </a:rPr>
              <a:t>, especially in larger and more complex models, thanks to its graph optimizations. </a:t>
            </a:r>
            <a:r>
              <a:rPr lang="en-US" sz="1300" b="0" i="0" dirty="0" err="1">
                <a:effectLst/>
                <a:latin typeface="+mn-lt"/>
              </a:rPr>
              <a:t>PyTorch</a:t>
            </a:r>
            <a:r>
              <a:rPr lang="en-US" sz="1300" b="0" i="0" dirty="0">
                <a:effectLst/>
                <a:latin typeface="+mn-lt"/>
              </a:rPr>
              <a:t>, with its dynamic graph, might consume more memory for the same task.</a:t>
            </a:r>
          </a:p>
          <a:p>
            <a:endParaRPr lang="en-US" sz="1300" dirty="0">
              <a:latin typeface="+mn-lt"/>
            </a:endParaRPr>
          </a:p>
        </p:txBody>
      </p:sp>
    </p:spTree>
    <p:extLst>
      <p:ext uri="{BB962C8B-B14F-4D97-AF65-F5344CB8AC3E}">
        <p14:creationId xmlns:p14="http://schemas.microsoft.com/office/powerpoint/2010/main" val="37755076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F0E7EB3-FAF0-0C1A-2300-5214F0C6BFB0}"/>
              </a:ext>
            </a:extLst>
          </p:cNvPr>
          <p:cNvSpPr>
            <a:spLocks noGrp="1"/>
          </p:cNvSpPr>
          <p:nvPr>
            <p:ph type="title"/>
          </p:nvPr>
        </p:nvSpPr>
        <p:spPr>
          <a:xfrm>
            <a:off x="606478" y="386930"/>
            <a:ext cx="6927525" cy="1188950"/>
          </a:xfrm>
        </p:spPr>
        <p:txBody>
          <a:bodyPr anchor="b">
            <a:normAutofit/>
          </a:bodyPr>
          <a:lstStyle/>
          <a:p>
            <a:r>
              <a:rPr lang="en-US" sz="4000"/>
              <a:t>TensoFlow vs PyTorch: Community and Support</a:t>
            </a:r>
          </a:p>
        </p:txBody>
      </p:sp>
      <p:grpSp>
        <p:nvGrpSpPr>
          <p:cNvPr id="10" name="Group 9">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1998368"/>
            <a:ext cx="8771274" cy="782176"/>
            <a:chOff x="-2" y="1998368"/>
            <a:chExt cx="11695083" cy="782176"/>
          </a:xfrm>
        </p:grpSpPr>
        <p:sp>
          <p:nvSpPr>
            <p:cNvPr id="11" name="Rectangle 10">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8537521"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Placeholder 2">
            <a:extLst>
              <a:ext uri="{FF2B5EF4-FFF2-40B4-BE49-F238E27FC236}">
                <a16:creationId xmlns:a16="http://schemas.microsoft.com/office/drawing/2014/main" id="{EE40B07C-DBDF-CDB4-FA0D-B13DAFD71E56}"/>
              </a:ext>
            </a:extLst>
          </p:cNvPr>
          <p:cNvSpPr>
            <a:spLocks noGrp="1"/>
          </p:cNvSpPr>
          <p:nvPr>
            <p:ph type="body" idx="1"/>
          </p:nvPr>
        </p:nvSpPr>
        <p:spPr>
          <a:xfrm>
            <a:off x="595245" y="2599509"/>
            <a:ext cx="7607751" cy="3435531"/>
          </a:xfrm>
        </p:spPr>
        <p:txBody>
          <a:bodyPr anchor="ctr">
            <a:normAutofit/>
          </a:bodyPr>
          <a:lstStyle/>
          <a:p>
            <a:r>
              <a:rPr lang="en-US" sz="1500" b="1" i="0" dirty="0" err="1">
                <a:effectLst/>
                <a:latin typeface="+mn-lt"/>
              </a:rPr>
              <a:t>PyTorch</a:t>
            </a:r>
            <a:r>
              <a:rPr lang="en-US" sz="1500" b="1" i="0" dirty="0">
                <a:effectLst/>
                <a:latin typeface="+mn-lt"/>
              </a:rPr>
              <a:t> Community:</a:t>
            </a:r>
            <a:r>
              <a:rPr lang="en-US" sz="1500" b="0" i="0" dirty="0">
                <a:effectLst/>
                <a:latin typeface="+mn-lt"/>
              </a:rPr>
              <a:t> </a:t>
            </a:r>
            <a:r>
              <a:rPr lang="en-US" sz="1500" b="0" i="0" dirty="0" err="1">
                <a:effectLst/>
                <a:latin typeface="+mn-lt"/>
              </a:rPr>
              <a:t>PyTorch</a:t>
            </a:r>
            <a:r>
              <a:rPr lang="en-US" sz="1500" b="0" i="0" dirty="0">
                <a:effectLst/>
                <a:latin typeface="+mn-lt"/>
              </a:rPr>
              <a:t>, developed by Meta AI, has seen a rapid increase in its community size, especially among researchers and academia. This surge is partly due to its user-friendly nature and flexibility, which appeal to research and development professionals. The community is known for actively participating in forums, and GitHub, and contributing to a growing repository of models and tools. </a:t>
            </a:r>
            <a:r>
              <a:rPr lang="en-US" sz="1500" b="0" i="0" dirty="0" err="1">
                <a:effectLst/>
                <a:latin typeface="+mn-lt"/>
              </a:rPr>
              <a:t>PyTorch’s</a:t>
            </a:r>
            <a:r>
              <a:rPr lang="en-US" sz="1500" b="0" i="0" dirty="0">
                <a:effectLst/>
                <a:latin typeface="+mn-lt"/>
              </a:rPr>
              <a:t> annual developer conferences, tutorials, and meetups further bolster its community engagement.</a:t>
            </a:r>
          </a:p>
          <a:p>
            <a:r>
              <a:rPr lang="en-US" sz="1500" b="1" i="0" dirty="0">
                <a:effectLst/>
                <a:latin typeface="+mn-lt"/>
              </a:rPr>
              <a:t>TensorFlow Community:</a:t>
            </a:r>
            <a:r>
              <a:rPr lang="en-US" sz="1500" b="0" i="0" dirty="0">
                <a:effectLst/>
                <a:latin typeface="+mn-lt"/>
              </a:rPr>
              <a:t> TensorFlow, backed by Google, boasts a larger and more established community. It has many contributors ranging from individual developers to large corporations. TensorFlow’s community actively creates extensive resources, including detailed documentation, tutorials, and solutions to common issues. The framework’s long-standing presence and Google’s backing have cultivated a robust and diverse community.</a:t>
            </a:r>
          </a:p>
          <a:p>
            <a:endParaRPr lang="en-US" sz="1500" dirty="0">
              <a:latin typeface="+mn-lt"/>
            </a:endParaRPr>
          </a:p>
        </p:txBody>
      </p:sp>
    </p:spTree>
    <p:extLst>
      <p:ext uri="{BB962C8B-B14F-4D97-AF65-F5344CB8AC3E}">
        <p14:creationId xmlns:p14="http://schemas.microsoft.com/office/powerpoint/2010/main" val="4771645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p14"/>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Open Source vs Commercial AI Frameworks</a:t>
            </a:r>
            <a:endParaRPr/>
          </a:p>
        </p:txBody>
      </p:sp>
      <p:pic>
        <p:nvPicPr>
          <p:cNvPr id="234" name="Google Shape;234;p14"/>
          <p:cNvPicPr preferRelativeResize="0">
            <a:picLocks noGrp="1"/>
          </p:cNvPicPr>
          <p:nvPr>
            <p:ph type="body" idx="1"/>
          </p:nvPr>
        </p:nvPicPr>
        <p:blipFill rotWithShape="1">
          <a:blip r:embed="rId3">
            <a:alphaModFix/>
          </a:blip>
          <a:srcRect/>
          <a:stretch/>
        </p:blipFill>
        <p:spPr>
          <a:xfrm>
            <a:off x="1513831" y="1825625"/>
            <a:ext cx="6116338" cy="4351338"/>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38"/>
        <p:cNvGrpSpPr/>
        <p:nvPr/>
      </p:nvGrpSpPr>
      <p:grpSpPr>
        <a:xfrm>
          <a:off x="0" y="0"/>
          <a:ext cx="0" cy="0"/>
          <a:chOff x="0" y="0"/>
          <a:chExt cx="0" cy="0"/>
        </a:xfrm>
      </p:grpSpPr>
      <p:sp>
        <p:nvSpPr>
          <p:cNvPr id="239" name="Google Shape;239;p15"/>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dirty="0"/>
              <a:t>List of AI Frameworks</a:t>
            </a:r>
            <a:endParaRPr dirty="0"/>
          </a:p>
        </p:txBody>
      </p:sp>
      <p:sp>
        <p:nvSpPr>
          <p:cNvPr id="240" name="Google Shape;240;p15"/>
          <p:cNvSpPr txBox="1">
            <a:spLocks noGrp="1"/>
          </p:cNvSpPr>
          <p:nvPr>
            <p:ph type="body" idx="1"/>
          </p:nvPr>
        </p:nvSpPr>
        <p:spPr>
          <a:xfrm>
            <a:off x="628650" y="1825625"/>
            <a:ext cx="7886700" cy="4351338"/>
          </a:xfrm>
          <a:prstGeom prst="rect">
            <a:avLst/>
          </a:prstGeom>
          <a:noFill/>
          <a:ln>
            <a:noFill/>
          </a:ln>
        </p:spPr>
        <p:txBody>
          <a:bodyPr spcFirstLastPara="1" wrap="square" lIns="91425" tIns="45700" rIns="91425" bIns="45700" anchor="t" anchorCtr="0">
            <a:noAutofit/>
          </a:bodyPr>
          <a:lstStyle/>
          <a:p>
            <a:pPr marL="228600" lvl="0" indent="-234950" algn="l" rtl="0">
              <a:lnSpc>
                <a:spcPct val="70000"/>
              </a:lnSpc>
              <a:spcBef>
                <a:spcPts val="0"/>
              </a:spcBef>
              <a:spcAft>
                <a:spcPts val="0"/>
              </a:spcAft>
              <a:buClr>
                <a:schemeClr val="dk1"/>
              </a:buClr>
              <a:buSzPts val="1010"/>
              <a:buChar char="•"/>
            </a:pPr>
            <a:r>
              <a:rPr lang="en-US" sz="1010" b="1"/>
              <a:t>TensorFlow and PyTorch:</a:t>
            </a:r>
            <a:r>
              <a:rPr lang="en-US" sz="1010"/>
              <a:t> Widely used for developing machine learning models. Comprehensive toolsets for creating and deploying ML models.</a:t>
            </a:r>
            <a:endParaRPr sz="1010"/>
          </a:p>
          <a:p>
            <a:pPr marL="228600" lvl="0" indent="-234950" algn="l" rtl="0">
              <a:lnSpc>
                <a:spcPct val="70000"/>
              </a:lnSpc>
              <a:spcBef>
                <a:spcPts val="1000"/>
              </a:spcBef>
              <a:spcAft>
                <a:spcPts val="0"/>
              </a:spcAft>
              <a:buClr>
                <a:schemeClr val="dk1"/>
              </a:buClr>
              <a:buSzPts val="1010"/>
              <a:buChar char="•"/>
            </a:pPr>
            <a:r>
              <a:rPr lang="en-US" sz="1010" b="1"/>
              <a:t>Scikit-Learn, Keras, and Caffe: </a:t>
            </a:r>
            <a:r>
              <a:rPr lang="en-US" sz="1010"/>
              <a:t>Offer APIs for quick application development without starting from scratch. Suitable for various projects, from smaller prototypes to more complex deep learning tasks.</a:t>
            </a:r>
            <a:endParaRPr sz="1010"/>
          </a:p>
          <a:p>
            <a:pPr marL="228600" lvl="0" indent="-234950" algn="l" rtl="0">
              <a:lnSpc>
                <a:spcPct val="70000"/>
              </a:lnSpc>
              <a:spcBef>
                <a:spcPts val="1000"/>
              </a:spcBef>
              <a:spcAft>
                <a:spcPts val="0"/>
              </a:spcAft>
              <a:buClr>
                <a:schemeClr val="dk1"/>
              </a:buClr>
              <a:buSzPts val="1010"/>
              <a:buChar char="•"/>
            </a:pPr>
            <a:r>
              <a:rPr lang="en-US" sz="1010" b="1"/>
              <a:t>PyTorch:</a:t>
            </a:r>
            <a:r>
              <a:rPr lang="en-US" sz="1010"/>
              <a:t> Known for its dynamic computational graph and favored by researchers.Excellent for prototyping and experimentation with a growing community.</a:t>
            </a:r>
            <a:endParaRPr sz="1010"/>
          </a:p>
          <a:p>
            <a:pPr marL="228600" lvl="0" indent="-234950" algn="l" rtl="0">
              <a:lnSpc>
                <a:spcPct val="70000"/>
              </a:lnSpc>
              <a:spcBef>
                <a:spcPts val="1000"/>
              </a:spcBef>
              <a:spcAft>
                <a:spcPts val="0"/>
              </a:spcAft>
              <a:buClr>
                <a:schemeClr val="dk1"/>
              </a:buClr>
              <a:buSzPts val="1010"/>
              <a:buChar char="•"/>
            </a:pPr>
            <a:r>
              <a:rPr lang="en-US" sz="1010" b="1"/>
              <a:t>Scikit-Learn:</a:t>
            </a:r>
            <a:r>
              <a:rPr lang="en-US" sz="1010"/>
              <a:t> Python library for machine learning, open-source, and beginner-friendly.Well-suited for smaller projects and quick model prototyping.</a:t>
            </a:r>
            <a:endParaRPr sz="1010"/>
          </a:p>
          <a:p>
            <a:pPr marL="228600" lvl="0" indent="-234950" algn="l" rtl="0">
              <a:lnSpc>
                <a:spcPct val="70000"/>
              </a:lnSpc>
              <a:spcBef>
                <a:spcPts val="1000"/>
              </a:spcBef>
              <a:spcAft>
                <a:spcPts val="0"/>
              </a:spcAft>
              <a:buClr>
                <a:schemeClr val="dk1"/>
              </a:buClr>
              <a:buSzPts val="1010"/>
              <a:buChar char="•"/>
            </a:pPr>
            <a:r>
              <a:rPr lang="en-US" sz="1010" b="1"/>
              <a:t>TensorFlow:</a:t>
            </a:r>
            <a:r>
              <a:rPr lang="en-US" sz="1010"/>
              <a:t> Open-source deep learning framework by Google, renowned for flexibility and scalability. Large and active community with extensive documentation and tutorials.</a:t>
            </a:r>
            <a:endParaRPr sz="1010"/>
          </a:p>
          <a:p>
            <a:pPr marL="228600" lvl="0" indent="-234950" algn="l" rtl="0">
              <a:lnSpc>
                <a:spcPct val="70000"/>
              </a:lnSpc>
              <a:spcBef>
                <a:spcPts val="1000"/>
              </a:spcBef>
              <a:spcAft>
                <a:spcPts val="0"/>
              </a:spcAft>
              <a:buClr>
                <a:schemeClr val="dk1"/>
              </a:buClr>
              <a:buSzPts val="1010"/>
              <a:buChar char="•"/>
            </a:pPr>
            <a:r>
              <a:rPr lang="en-US" sz="1010" b="1"/>
              <a:t>Keras:</a:t>
            </a:r>
            <a:r>
              <a:rPr lang="en-US" sz="1010"/>
              <a:t> High-level neural networks API running on top of TensorFlow. User-friendly, ideal for quick prototyping, though may lack some advanced features.</a:t>
            </a:r>
            <a:endParaRPr sz="1010"/>
          </a:p>
          <a:p>
            <a:pPr marL="228600" lvl="0" indent="-234950" algn="l" rtl="0">
              <a:lnSpc>
                <a:spcPct val="70000"/>
              </a:lnSpc>
              <a:spcBef>
                <a:spcPts val="1000"/>
              </a:spcBef>
              <a:spcAft>
                <a:spcPts val="0"/>
              </a:spcAft>
              <a:buClr>
                <a:schemeClr val="dk1"/>
              </a:buClr>
              <a:buSzPts val="1010"/>
              <a:buChar char="•"/>
            </a:pPr>
            <a:r>
              <a:rPr lang="en-US" sz="1010" b="1"/>
              <a:t>LangChain:</a:t>
            </a:r>
            <a:r>
              <a:rPr lang="en-US" sz="1010"/>
              <a:t> Gaining popularity for large language model (LLM) applications.Integration with various tools, including OpenAI and Hugging Face Transformers.</a:t>
            </a:r>
            <a:endParaRPr sz="1010"/>
          </a:p>
          <a:p>
            <a:pPr marL="228600" lvl="0" indent="-234950" algn="l" rtl="0">
              <a:lnSpc>
                <a:spcPct val="70000"/>
              </a:lnSpc>
              <a:spcBef>
                <a:spcPts val="1000"/>
              </a:spcBef>
              <a:spcAft>
                <a:spcPts val="0"/>
              </a:spcAft>
              <a:buClr>
                <a:schemeClr val="dk1"/>
              </a:buClr>
              <a:buSzPts val="1010"/>
              <a:buChar char="•"/>
            </a:pPr>
            <a:r>
              <a:rPr lang="en-US" sz="1010" b="1"/>
              <a:t>Hugging Face:</a:t>
            </a:r>
            <a:r>
              <a:rPr lang="en-US" sz="1010"/>
              <a:t> Specializes in easy-to-use AI tools, known for the “Transformers” library. Provides tools for advanced machine learning tasks and web-friendly versions.</a:t>
            </a:r>
            <a:endParaRPr sz="1010"/>
          </a:p>
          <a:p>
            <a:pPr marL="228600" lvl="0" indent="-234950" algn="l" rtl="0">
              <a:lnSpc>
                <a:spcPct val="70000"/>
              </a:lnSpc>
              <a:spcBef>
                <a:spcPts val="1000"/>
              </a:spcBef>
              <a:spcAft>
                <a:spcPts val="0"/>
              </a:spcAft>
              <a:buClr>
                <a:schemeClr val="dk1"/>
              </a:buClr>
              <a:buSzPts val="1010"/>
              <a:buChar char="•"/>
            </a:pPr>
            <a:r>
              <a:rPr lang="en-US" sz="1010" b="1"/>
              <a:t>OpenNN: </a:t>
            </a:r>
            <a:r>
              <a:rPr lang="en-US" sz="1010"/>
              <a:t>A tool for creating neural networks, fast and efficient, written in C++.Mainly used for research and decision-making based on data.</a:t>
            </a:r>
            <a:endParaRPr sz="1010"/>
          </a:p>
          <a:p>
            <a:pPr marL="228600" lvl="0" indent="-234950" algn="l" rtl="0">
              <a:lnSpc>
                <a:spcPct val="70000"/>
              </a:lnSpc>
              <a:spcBef>
                <a:spcPts val="1000"/>
              </a:spcBef>
              <a:spcAft>
                <a:spcPts val="0"/>
              </a:spcAft>
              <a:buClr>
                <a:schemeClr val="dk1"/>
              </a:buClr>
              <a:buSzPts val="1010"/>
              <a:buChar char="•"/>
            </a:pPr>
            <a:r>
              <a:rPr lang="en-US" sz="1010" b="1"/>
              <a:t>OpenAI:</a:t>
            </a:r>
            <a:r>
              <a:rPr lang="en-US" sz="1010"/>
              <a:t> Offers a range of tools for various AI tasks, including GPT language models. Known for user-friendly AI capabilities, with some features requiring a premium subscription.</a:t>
            </a:r>
            <a:endParaRPr sz="1010"/>
          </a:p>
          <a:p>
            <a:pPr marL="228600" lvl="0" indent="-234950" algn="l" rtl="0">
              <a:lnSpc>
                <a:spcPct val="70000"/>
              </a:lnSpc>
              <a:spcBef>
                <a:spcPts val="1000"/>
              </a:spcBef>
              <a:spcAft>
                <a:spcPts val="0"/>
              </a:spcAft>
              <a:buClr>
                <a:schemeClr val="dk1"/>
              </a:buClr>
              <a:buSzPts val="1010"/>
              <a:buChar char="•"/>
            </a:pPr>
            <a:r>
              <a:rPr lang="en-US" sz="1010" b="1"/>
              <a:t>PyBrain:</a:t>
            </a:r>
            <a:r>
              <a:rPr lang="en-US" sz="1010"/>
              <a:t> Open-source ML library for Python, lightweight and easy to use. Suitable for experimentation, education, and rapid prototyping.</a:t>
            </a:r>
            <a:endParaRPr sz="1010"/>
          </a:p>
          <a:p>
            <a:pPr marL="228600" lvl="0" indent="-234950" algn="l" rtl="0">
              <a:lnSpc>
                <a:spcPct val="70000"/>
              </a:lnSpc>
              <a:spcBef>
                <a:spcPts val="1000"/>
              </a:spcBef>
              <a:spcAft>
                <a:spcPts val="0"/>
              </a:spcAft>
              <a:buClr>
                <a:schemeClr val="dk1"/>
              </a:buClr>
              <a:buSzPts val="1010"/>
              <a:buChar char="•"/>
            </a:pPr>
            <a:r>
              <a:rPr lang="en-US" sz="1010" b="1"/>
              <a:t>IBM Watson:</a:t>
            </a:r>
            <a:r>
              <a:rPr lang="en-US" sz="1010"/>
              <a:t> Suite of AI and machine learning services by IBM. Offers tools for building and deploying AI-powered applications, with expertise-backed robust capabilities.</a:t>
            </a:r>
            <a:endParaRPr sz="1010"/>
          </a:p>
          <a:p>
            <a:pPr marL="228600" lvl="0" indent="-234950" algn="l" rtl="0">
              <a:lnSpc>
                <a:spcPct val="70000"/>
              </a:lnSpc>
              <a:spcBef>
                <a:spcPts val="1000"/>
              </a:spcBef>
              <a:spcAft>
                <a:spcPts val="0"/>
              </a:spcAft>
              <a:buClr>
                <a:schemeClr val="dk1"/>
              </a:buClr>
              <a:buSzPts val="1010"/>
              <a:buChar char="•"/>
            </a:pPr>
            <a:r>
              <a:rPr lang="en-US" sz="1010" b="1"/>
              <a:t>Microsoft Cognitive Toolkit (CNTK):</a:t>
            </a:r>
            <a:r>
              <a:rPr lang="en-US" sz="1010"/>
              <a:t> Free and open-source deep learning AI framework by Microsoft. Known for efficiency, especially on multi-GPU systems, suitable for research and production.</a:t>
            </a:r>
            <a:endParaRPr sz="1010"/>
          </a:p>
          <a:p>
            <a:pPr marL="228600" lvl="0" indent="-234950" algn="l" rtl="0">
              <a:lnSpc>
                <a:spcPct val="70000"/>
              </a:lnSpc>
              <a:spcBef>
                <a:spcPts val="1000"/>
              </a:spcBef>
              <a:spcAft>
                <a:spcPts val="0"/>
              </a:spcAft>
              <a:buClr>
                <a:schemeClr val="dk1"/>
              </a:buClr>
              <a:buSzPts val="1010"/>
              <a:buChar char="•"/>
            </a:pPr>
            <a:r>
              <a:rPr lang="en-US" sz="1010" b="1"/>
              <a:t>DL4J (Deeplearning4j):</a:t>
            </a:r>
            <a:r>
              <a:rPr lang="en-US" sz="1010"/>
              <a:t> Open-source deep learning framework for Java and Scala developers. Designed for enterprise-level applications with support for distributed computing.</a:t>
            </a:r>
            <a:endParaRPr sz="101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g2c716a79a52_0_49"/>
          <p:cNvSpPr txBox="1">
            <a:spLocks noGrp="1"/>
          </p:cNvSpPr>
          <p:nvPr>
            <p:ph type="title"/>
          </p:nvPr>
        </p:nvSpPr>
        <p:spPr>
          <a:xfrm>
            <a:off x="628650" y="365126"/>
            <a:ext cx="78867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Challenges to Implementing AI</a:t>
            </a:r>
            <a:endParaRPr/>
          </a:p>
        </p:txBody>
      </p:sp>
      <p:sp>
        <p:nvSpPr>
          <p:cNvPr id="203" name="Google Shape;203;g2c716a79a52_0_49"/>
          <p:cNvSpPr txBox="1">
            <a:spLocks noGrp="1"/>
          </p:cNvSpPr>
          <p:nvPr>
            <p:ph type="body" idx="1"/>
          </p:nvPr>
        </p:nvSpPr>
        <p:spPr>
          <a:xfrm>
            <a:off x="628650" y="1597025"/>
            <a:ext cx="7886700" cy="3129600"/>
          </a:xfrm>
          <a:prstGeom prst="rect">
            <a:avLst/>
          </a:prstGeom>
        </p:spPr>
        <p:txBody>
          <a:bodyPr spcFirstLastPara="1" wrap="square" lIns="91425" tIns="45700" rIns="91425" bIns="45700" anchor="t" anchorCtr="0">
            <a:normAutofit fontScale="85000" lnSpcReduction="10000"/>
          </a:bodyPr>
          <a:lstStyle/>
          <a:p>
            <a:pPr marL="0" lvl="0" indent="0" algn="l" rtl="0">
              <a:spcBef>
                <a:spcPts val="1000"/>
              </a:spcBef>
              <a:spcAft>
                <a:spcPts val="0"/>
              </a:spcAft>
              <a:buClr>
                <a:schemeClr val="dk1"/>
              </a:buClr>
              <a:buSzPct val="48785"/>
              <a:buFont typeface="Arial"/>
              <a:buNone/>
            </a:pPr>
            <a:r>
              <a:rPr lang="en-US" sz="2254"/>
              <a:t>As you evaluate how to implement AI initiatives, it’s important to remember that much of the data driving AI is actually siloed in legacy infrastructure and is not necessarily in the right format nor is it easily accessible.</a:t>
            </a:r>
            <a:endParaRPr sz="2254"/>
          </a:p>
          <a:p>
            <a:pPr marL="0" lvl="0" indent="0" algn="l" rtl="0">
              <a:spcBef>
                <a:spcPts val="1000"/>
              </a:spcBef>
              <a:spcAft>
                <a:spcPts val="0"/>
              </a:spcAft>
              <a:buClr>
                <a:schemeClr val="dk1"/>
              </a:buClr>
              <a:buSzPct val="48785"/>
              <a:buFont typeface="Arial"/>
              <a:buNone/>
            </a:pPr>
            <a:r>
              <a:rPr lang="en-US" sz="2254"/>
              <a:t>What’s more, there’s a massive amount of unstructured data to be processed!</a:t>
            </a:r>
            <a:endParaRPr sz="2254"/>
          </a:p>
          <a:p>
            <a:pPr marL="0" lvl="0" indent="0" algn="l" rtl="0">
              <a:spcBef>
                <a:spcPts val="1000"/>
              </a:spcBef>
              <a:spcAft>
                <a:spcPts val="0"/>
              </a:spcAft>
              <a:buClr>
                <a:schemeClr val="dk1"/>
              </a:buClr>
              <a:buSzPct val="48785"/>
              <a:buFont typeface="Arial"/>
              <a:buNone/>
            </a:pPr>
            <a:r>
              <a:rPr lang="en-US" sz="2254"/>
              <a:t>And in many cases, that data has grown beyond a company’s infrastructure.</a:t>
            </a:r>
            <a:endParaRPr sz="2254"/>
          </a:p>
          <a:p>
            <a:pPr marL="0" lvl="0" indent="0" algn="l" rtl="0">
              <a:spcBef>
                <a:spcPts val="1000"/>
              </a:spcBef>
              <a:spcAft>
                <a:spcPts val="0"/>
              </a:spcAft>
              <a:buClr>
                <a:schemeClr val="dk1"/>
              </a:buClr>
              <a:buSzPct val="48785"/>
              <a:buFont typeface="Arial"/>
              <a:buNone/>
            </a:pPr>
            <a:r>
              <a:rPr lang="en-US" sz="2254"/>
              <a:t>Dealing with much larger data sets requires more difficult computation and algorithms; the truth is, most of your time could be spent cleaning data, de-identifying it, and getting it to a point where it can be used to gather insights.</a:t>
            </a:r>
            <a:endParaRPr sz="2254"/>
          </a:p>
          <a:p>
            <a:pPr marL="0" lvl="0" indent="0" algn="l" rtl="0">
              <a:lnSpc>
                <a:spcPct val="115000"/>
              </a:lnSpc>
              <a:spcBef>
                <a:spcPts val="0"/>
              </a:spcBef>
              <a:spcAft>
                <a:spcPts val="0"/>
              </a:spcAft>
              <a:buClr>
                <a:schemeClr val="dk1"/>
              </a:buClr>
              <a:buSzPct val="100000"/>
              <a:buFont typeface="Arial"/>
              <a:buNone/>
            </a:pPr>
            <a:endParaRPr sz="1100">
              <a:latin typeface="Arial"/>
              <a:ea typeface="Arial"/>
              <a:cs typeface="Arial"/>
              <a:sym typeface="Arial"/>
            </a:endParaRPr>
          </a:p>
          <a:p>
            <a:pPr marL="0" lvl="0" indent="0" algn="l" rtl="0">
              <a:spcBef>
                <a:spcPts val="1000"/>
              </a:spcBef>
              <a:spcAft>
                <a:spcPts val="0"/>
              </a:spcAft>
              <a:buNone/>
            </a:pPr>
            <a:endParaRPr/>
          </a:p>
        </p:txBody>
      </p:sp>
      <p:pic>
        <p:nvPicPr>
          <p:cNvPr id="204" name="Google Shape;204;g2c716a79a52_0_49"/>
          <p:cNvPicPr preferRelativeResize="0"/>
          <p:nvPr/>
        </p:nvPicPr>
        <p:blipFill>
          <a:blip r:embed="rId3">
            <a:alphaModFix/>
          </a:blip>
          <a:stretch>
            <a:fillRect/>
          </a:stretch>
        </p:blipFill>
        <p:spPr>
          <a:xfrm>
            <a:off x="1702800" y="4185875"/>
            <a:ext cx="6422077" cy="23073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943CAA20-3569-4189-9E48-239A229A86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837854D-7C24-D41F-672F-7E57A8378EEF}"/>
              </a:ext>
            </a:extLst>
          </p:cNvPr>
          <p:cNvSpPr>
            <a:spLocks noGrp="1"/>
          </p:cNvSpPr>
          <p:nvPr>
            <p:ph type="title"/>
          </p:nvPr>
        </p:nvSpPr>
        <p:spPr>
          <a:xfrm>
            <a:off x="628650" y="451381"/>
            <a:ext cx="7884414" cy="4066540"/>
          </a:xfrm>
        </p:spPr>
        <p:txBody>
          <a:bodyPr vert="horz" lIns="91440" tIns="45720" rIns="91440" bIns="45720" rtlCol="0" anchor="b">
            <a:normAutofit/>
          </a:bodyPr>
          <a:lstStyle/>
          <a:p>
            <a:pPr>
              <a:spcBef>
                <a:spcPct val="0"/>
              </a:spcBef>
            </a:pPr>
            <a:r>
              <a:rPr lang="en-US" sz="5700" kern="1200">
                <a:solidFill>
                  <a:schemeClr val="tx1"/>
                </a:solidFill>
                <a:latin typeface="+mj-lt"/>
                <a:ea typeface="+mj-ea"/>
                <a:cs typeface="+mj-cs"/>
              </a:rPr>
              <a:t>References</a:t>
            </a:r>
          </a:p>
        </p:txBody>
      </p:sp>
      <p:sp>
        <p:nvSpPr>
          <p:cNvPr id="3" name="Text Placeholder 2">
            <a:extLst>
              <a:ext uri="{FF2B5EF4-FFF2-40B4-BE49-F238E27FC236}">
                <a16:creationId xmlns:a16="http://schemas.microsoft.com/office/drawing/2014/main" id="{2DBEA525-56D6-BCF7-C223-F54726FCE7BA}"/>
              </a:ext>
            </a:extLst>
          </p:cNvPr>
          <p:cNvSpPr>
            <a:spLocks noGrp="1"/>
          </p:cNvSpPr>
          <p:nvPr>
            <p:ph type="body" idx="1"/>
          </p:nvPr>
        </p:nvSpPr>
        <p:spPr>
          <a:xfrm>
            <a:off x="628649" y="4983276"/>
            <a:ext cx="7884414" cy="1126680"/>
          </a:xfrm>
        </p:spPr>
        <p:txBody>
          <a:bodyPr vert="horz" lIns="91440" tIns="45720" rIns="91440" bIns="45720" rtlCol="0">
            <a:normAutofit/>
          </a:bodyPr>
          <a:lstStyle/>
          <a:p>
            <a:pPr marL="0" indent="0">
              <a:buNone/>
            </a:pPr>
            <a:r>
              <a:rPr lang="en-US" sz="2400" kern="1200" dirty="0">
                <a:solidFill>
                  <a:schemeClr val="tx1"/>
                </a:solidFill>
                <a:latin typeface="+mn-lt"/>
                <a:ea typeface="+mn-ea"/>
                <a:cs typeface="+mn-cs"/>
              </a:rPr>
              <a:t>https://opencv.org/blog/pytorch-vs-tensorflow/</a:t>
            </a:r>
          </a:p>
        </p:txBody>
      </p:sp>
      <p:sp>
        <p:nvSpPr>
          <p:cNvPr id="24" name="sketch line">
            <a:extLst>
              <a:ext uri="{FF2B5EF4-FFF2-40B4-BE49-F238E27FC236}">
                <a16:creationId xmlns:a16="http://schemas.microsoft.com/office/drawing/2014/main" id="{DA542B6D-E775-4832-91DC-2D20F85781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8650" y="4718595"/>
            <a:ext cx="4057650" cy="18288"/>
          </a:xfrm>
          <a:custGeom>
            <a:avLst/>
            <a:gdLst>
              <a:gd name="connsiteX0" fmla="*/ 0 w 4057650"/>
              <a:gd name="connsiteY0" fmla="*/ 0 h 18288"/>
              <a:gd name="connsiteX1" fmla="*/ 757428 w 4057650"/>
              <a:gd name="connsiteY1" fmla="*/ 0 h 18288"/>
              <a:gd name="connsiteX2" fmla="*/ 1474279 w 4057650"/>
              <a:gd name="connsiteY2" fmla="*/ 0 h 18288"/>
              <a:gd name="connsiteX3" fmla="*/ 2191131 w 4057650"/>
              <a:gd name="connsiteY3" fmla="*/ 0 h 18288"/>
              <a:gd name="connsiteX4" fmla="*/ 2745676 w 4057650"/>
              <a:gd name="connsiteY4" fmla="*/ 0 h 18288"/>
              <a:gd name="connsiteX5" fmla="*/ 3340798 w 4057650"/>
              <a:gd name="connsiteY5" fmla="*/ 0 h 18288"/>
              <a:gd name="connsiteX6" fmla="*/ 4057650 w 4057650"/>
              <a:gd name="connsiteY6" fmla="*/ 0 h 18288"/>
              <a:gd name="connsiteX7" fmla="*/ 4057650 w 4057650"/>
              <a:gd name="connsiteY7" fmla="*/ 18288 h 18288"/>
              <a:gd name="connsiteX8" fmla="*/ 3381375 w 4057650"/>
              <a:gd name="connsiteY8" fmla="*/ 18288 h 18288"/>
              <a:gd name="connsiteX9" fmla="*/ 2826830 w 4057650"/>
              <a:gd name="connsiteY9" fmla="*/ 18288 h 18288"/>
              <a:gd name="connsiteX10" fmla="*/ 2272284 w 4057650"/>
              <a:gd name="connsiteY10" fmla="*/ 18288 h 18288"/>
              <a:gd name="connsiteX11" fmla="*/ 1555432 w 4057650"/>
              <a:gd name="connsiteY11" fmla="*/ 18288 h 18288"/>
              <a:gd name="connsiteX12" fmla="*/ 960310 w 4057650"/>
              <a:gd name="connsiteY12" fmla="*/ 18288 h 18288"/>
              <a:gd name="connsiteX13" fmla="*/ 0 w 4057650"/>
              <a:gd name="connsiteY13" fmla="*/ 18288 h 18288"/>
              <a:gd name="connsiteX14" fmla="*/ 0 w 4057650"/>
              <a:gd name="connsiteY14"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057650" h="18288" fill="none" extrusionOk="0">
                <a:moveTo>
                  <a:pt x="0" y="0"/>
                </a:moveTo>
                <a:cubicBezTo>
                  <a:pt x="371182" y="3227"/>
                  <a:pt x="494372" y="9222"/>
                  <a:pt x="757428" y="0"/>
                </a:cubicBezTo>
                <a:cubicBezTo>
                  <a:pt x="1020484" y="-9222"/>
                  <a:pt x="1116719" y="-4357"/>
                  <a:pt x="1474279" y="0"/>
                </a:cubicBezTo>
                <a:cubicBezTo>
                  <a:pt x="1831839" y="4357"/>
                  <a:pt x="1920973" y="-11809"/>
                  <a:pt x="2191131" y="0"/>
                </a:cubicBezTo>
                <a:cubicBezTo>
                  <a:pt x="2461289" y="11809"/>
                  <a:pt x="2589480" y="-22604"/>
                  <a:pt x="2745676" y="0"/>
                </a:cubicBezTo>
                <a:cubicBezTo>
                  <a:pt x="2901872" y="22604"/>
                  <a:pt x="3136452" y="-12306"/>
                  <a:pt x="3340798" y="0"/>
                </a:cubicBezTo>
                <a:cubicBezTo>
                  <a:pt x="3545144" y="12306"/>
                  <a:pt x="3766934" y="-21556"/>
                  <a:pt x="4057650" y="0"/>
                </a:cubicBezTo>
                <a:cubicBezTo>
                  <a:pt x="4057150" y="8855"/>
                  <a:pt x="4057759" y="14521"/>
                  <a:pt x="4057650" y="18288"/>
                </a:cubicBezTo>
                <a:cubicBezTo>
                  <a:pt x="3743404" y="40125"/>
                  <a:pt x="3625516" y="-14923"/>
                  <a:pt x="3381375" y="18288"/>
                </a:cubicBezTo>
                <a:cubicBezTo>
                  <a:pt x="3137235" y="51499"/>
                  <a:pt x="2946571" y="1"/>
                  <a:pt x="2826830" y="18288"/>
                </a:cubicBezTo>
                <a:cubicBezTo>
                  <a:pt x="2707090" y="36575"/>
                  <a:pt x="2402756" y="1432"/>
                  <a:pt x="2272284" y="18288"/>
                </a:cubicBezTo>
                <a:cubicBezTo>
                  <a:pt x="2141812" y="35144"/>
                  <a:pt x="1895935" y="18199"/>
                  <a:pt x="1555432" y="18288"/>
                </a:cubicBezTo>
                <a:cubicBezTo>
                  <a:pt x="1214929" y="18377"/>
                  <a:pt x="1103072" y="14503"/>
                  <a:pt x="960310" y="18288"/>
                </a:cubicBezTo>
                <a:cubicBezTo>
                  <a:pt x="817548" y="22073"/>
                  <a:pt x="402272" y="-29359"/>
                  <a:pt x="0" y="18288"/>
                </a:cubicBezTo>
                <a:cubicBezTo>
                  <a:pt x="683" y="12014"/>
                  <a:pt x="724" y="5908"/>
                  <a:pt x="0" y="0"/>
                </a:cubicBezTo>
                <a:close/>
              </a:path>
              <a:path w="4057650" h="18288" stroke="0" extrusionOk="0">
                <a:moveTo>
                  <a:pt x="0" y="0"/>
                </a:moveTo>
                <a:cubicBezTo>
                  <a:pt x="248348" y="13145"/>
                  <a:pt x="486117" y="25042"/>
                  <a:pt x="635698" y="0"/>
                </a:cubicBezTo>
                <a:cubicBezTo>
                  <a:pt x="785279" y="-25042"/>
                  <a:pt x="917762" y="-5537"/>
                  <a:pt x="1190244" y="0"/>
                </a:cubicBezTo>
                <a:cubicBezTo>
                  <a:pt x="1462726" y="5537"/>
                  <a:pt x="1667120" y="-21232"/>
                  <a:pt x="1947672" y="0"/>
                </a:cubicBezTo>
                <a:cubicBezTo>
                  <a:pt x="2228224" y="21232"/>
                  <a:pt x="2280631" y="-21698"/>
                  <a:pt x="2583370" y="0"/>
                </a:cubicBezTo>
                <a:cubicBezTo>
                  <a:pt x="2886109" y="21698"/>
                  <a:pt x="3022941" y="19647"/>
                  <a:pt x="3219069" y="0"/>
                </a:cubicBezTo>
                <a:cubicBezTo>
                  <a:pt x="3415197" y="-19647"/>
                  <a:pt x="3747500" y="26991"/>
                  <a:pt x="4057650" y="0"/>
                </a:cubicBezTo>
                <a:cubicBezTo>
                  <a:pt x="4056752" y="7180"/>
                  <a:pt x="4057819" y="13790"/>
                  <a:pt x="4057650" y="18288"/>
                </a:cubicBezTo>
                <a:cubicBezTo>
                  <a:pt x="3865148" y="-3313"/>
                  <a:pt x="3702543" y="49468"/>
                  <a:pt x="3381375" y="18288"/>
                </a:cubicBezTo>
                <a:cubicBezTo>
                  <a:pt x="3060208" y="-12892"/>
                  <a:pt x="2956571" y="-8678"/>
                  <a:pt x="2826830" y="18288"/>
                </a:cubicBezTo>
                <a:cubicBezTo>
                  <a:pt x="2697089" y="45254"/>
                  <a:pt x="2411031" y="43154"/>
                  <a:pt x="2150555" y="18288"/>
                </a:cubicBezTo>
                <a:cubicBezTo>
                  <a:pt x="1890080" y="-6578"/>
                  <a:pt x="1741827" y="-615"/>
                  <a:pt x="1474280" y="18288"/>
                </a:cubicBezTo>
                <a:cubicBezTo>
                  <a:pt x="1206734" y="37191"/>
                  <a:pt x="998203" y="33335"/>
                  <a:pt x="838581" y="18288"/>
                </a:cubicBezTo>
                <a:cubicBezTo>
                  <a:pt x="678959" y="3241"/>
                  <a:pt x="187101" y="-13212"/>
                  <a:pt x="0" y="18288"/>
                </a:cubicBezTo>
                <a:cubicBezTo>
                  <a:pt x="571" y="10093"/>
                  <a:pt x="-125" y="8407"/>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62011232"/>
      </p:ext>
    </p:extLst>
  </p:cSld>
  <p:clrMapOvr>
    <a:masterClrMapping/>
  </p:clrMapOvr>
</p:sld>
</file>

<file path=ppt/theme/theme1.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75</TotalTime>
  <Words>1589</Words>
  <Application>Microsoft Office PowerPoint</Application>
  <PresentationFormat>On-screen Show (4:3)</PresentationFormat>
  <Paragraphs>69</Paragraphs>
  <Slides>13</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Roboto</vt:lpstr>
      <vt:lpstr>Calibri</vt:lpstr>
      <vt:lpstr>Arial</vt:lpstr>
      <vt:lpstr>Office Theme</vt:lpstr>
      <vt:lpstr>AI Infrastructure</vt:lpstr>
      <vt:lpstr>AI Frameworks and Libraries</vt:lpstr>
      <vt:lpstr>Benefits of AI Frameworks</vt:lpstr>
      <vt:lpstr>Pytorch</vt:lpstr>
      <vt:lpstr>Tensorflow</vt:lpstr>
      <vt:lpstr>TensorFlow vs PyTorch: Ease of Use</vt:lpstr>
      <vt:lpstr>TensorFlow vs PyTorch: Impact on Practical Model Building</vt:lpstr>
      <vt:lpstr>TensorFlow vs PyTorch: Speed and Efficiency</vt:lpstr>
      <vt:lpstr>TensoFlow vs PyTorch: Community and Support</vt:lpstr>
      <vt:lpstr>Open Source vs Commercial AI Frameworks</vt:lpstr>
      <vt:lpstr>List of AI Frameworks</vt:lpstr>
      <vt:lpstr>Challenges to Implementing AI</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Ioannis Papapanagiotou</dc:creator>
  <cp:lastModifiedBy>Ioannis Papapanagiotou</cp:lastModifiedBy>
  <cp:revision>12</cp:revision>
  <dcterms:created xsi:type="dcterms:W3CDTF">2020-04-05T15:03:49Z</dcterms:created>
  <dcterms:modified xsi:type="dcterms:W3CDTF">2024-12-30T16:56:54Z</dcterms:modified>
</cp:coreProperties>
</file>