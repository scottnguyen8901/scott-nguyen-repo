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56" r:id="rId2"/>
    <p:sldId id="257" r:id="rId3"/>
    <p:sldId id="258" r:id="rId4"/>
    <p:sldId id="259" r:id="rId5"/>
    <p:sldId id="267" r:id="rId6"/>
    <p:sldId id="260" r:id="rId7"/>
    <p:sldId id="261" r:id="rId8"/>
    <p:sldId id="268" r:id="rId9"/>
    <p:sldId id="262" r:id="rId10"/>
    <p:sldId id="263" r:id="rId11"/>
    <p:sldId id="265" r:id="rId12"/>
    <p:sldId id="266" r:id="rId1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5" roundtripDataSignature="AMtx7mgtPfkTOi2sdfK+Q685kK4DP3HDf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customschemas.google.com/relationships/presentationmetadata" Target="meta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nvidia.com/en-us/data-center/nvlink/"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2c71a0be882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 name="Google Shape;95;g2c71a0be882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1000"/>
              </a:spcBef>
              <a:spcAft>
                <a:spcPts val="0"/>
              </a:spcAft>
              <a:buClr>
                <a:schemeClr val="dk1"/>
              </a:buClr>
              <a:buSzPct val="100000"/>
              <a:buChar char="•"/>
            </a:pPr>
            <a:r>
              <a:rPr lang="en-US" b="1" dirty="0"/>
              <a:t>Enabling Advanced AI Capabilities:</a:t>
            </a:r>
            <a:r>
              <a:rPr lang="en-US" dirty="0"/>
              <a:t> AI Infrastructure provides the necessary computational power and resources to support advanced AI technologies, such as deep learning and machine learning, allowing for more complex and accurate models.</a:t>
            </a:r>
          </a:p>
          <a:p>
            <a:pPr marL="228600" lvl="0" indent="-228600" algn="l" rtl="0">
              <a:lnSpc>
                <a:spcPct val="90000"/>
              </a:lnSpc>
              <a:spcBef>
                <a:spcPts val="1000"/>
              </a:spcBef>
              <a:spcAft>
                <a:spcPts val="0"/>
              </a:spcAft>
              <a:buClr>
                <a:schemeClr val="dk1"/>
              </a:buClr>
              <a:buSzPct val="100000"/>
              <a:buChar char="•"/>
            </a:pPr>
            <a:r>
              <a:rPr lang="en-US" b="1" dirty="0"/>
              <a:t>Scalability and Flexibility:</a:t>
            </a:r>
            <a:r>
              <a:rPr lang="en-US" dirty="0"/>
              <a:t> With the right infrastructure, organizations can scale their AI systems up or down based on demand, ensuring optimal performance and resource utilization. This flexibility is crucial for adapting to evolving business needs and data volumes.</a:t>
            </a:r>
          </a:p>
          <a:p>
            <a:pPr marL="228600" lvl="0" indent="-228600" algn="l" rtl="0">
              <a:lnSpc>
                <a:spcPct val="90000"/>
              </a:lnSpc>
              <a:spcBef>
                <a:spcPts val="1000"/>
              </a:spcBef>
              <a:spcAft>
                <a:spcPts val="0"/>
              </a:spcAft>
              <a:buClr>
                <a:schemeClr val="dk1"/>
              </a:buClr>
              <a:buSzPct val="100000"/>
              <a:buChar char="•"/>
            </a:pPr>
            <a:r>
              <a:rPr lang="en-US" b="1" dirty="0"/>
              <a:t>Speed and Efficiency:</a:t>
            </a:r>
            <a:r>
              <a:rPr lang="en-US" dirty="0"/>
              <a:t> High-quality AI infrastructure can significantly reduce the time required for data processing and model training, leading to faster insights and quicker decision-making processes.</a:t>
            </a:r>
          </a:p>
          <a:p>
            <a:pPr marL="228600" lvl="0" indent="-228600" algn="l" rtl="0">
              <a:lnSpc>
                <a:spcPct val="90000"/>
              </a:lnSpc>
              <a:spcBef>
                <a:spcPts val="1000"/>
              </a:spcBef>
              <a:spcAft>
                <a:spcPts val="0"/>
              </a:spcAft>
              <a:buClr>
                <a:schemeClr val="dk1"/>
              </a:buClr>
              <a:buSzPct val="100000"/>
              <a:buChar char="•"/>
            </a:pPr>
            <a:r>
              <a:rPr lang="en-US" b="1" dirty="0"/>
              <a:t>Innovation and Competitive Advantage:</a:t>
            </a:r>
            <a:r>
              <a:rPr lang="en-US" dirty="0"/>
              <a:t> Companies with robust AI infrastructure can more rapidly develop and deploy AI solutions, leading to innovation and a competitive edge in the market. It allows for experimenting with new AI models and techniques, driving forward technological advancements.</a:t>
            </a:r>
          </a:p>
          <a:p>
            <a:pPr marL="228600" lvl="0" indent="-228600" algn="l" rtl="0">
              <a:lnSpc>
                <a:spcPct val="90000"/>
              </a:lnSpc>
              <a:spcBef>
                <a:spcPts val="1000"/>
              </a:spcBef>
              <a:spcAft>
                <a:spcPts val="0"/>
              </a:spcAft>
              <a:buClr>
                <a:schemeClr val="dk1"/>
              </a:buClr>
              <a:buSzPct val="100000"/>
              <a:buChar char="•"/>
            </a:pPr>
            <a:r>
              <a:rPr lang="en-US" b="1" dirty="0"/>
              <a:t>Risk Management and Reliability:</a:t>
            </a:r>
            <a:r>
              <a:rPr lang="en-US" dirty="0"/>
              <a:t> Reliable AI infrastructure ensures that AI systems are secure, compliant, and resilient, minimizing downtime and reducing the risks associated with data breaches, system failures, and other operational disruptions.</a:t>
            </a:r>
          </a:p>
          <a:p>
            <a:pPr marL="0" lvl="0" indent="0" algn="l" rtl="0">
              <a:lnSpc>
                <a:spcPct val="100000"/>
              </a:lnSpc>
              <a:spcBef>
                <a:spcPts val="0"/>
              </a:spcBef>
              <a:spcAft>
                <a:spcPts val="0"/>
              </a:spcAft>
              <a:buSzPts val="1400"/>
              <a:buNone/>
            </a:pPr>
            <a:endParaRPr dirty="0"/>
          </a:p>
        </p:txBody>
      </p:sp>
      <p:sp>
        <p:nvSpPr>
          <p:cNvPr id="129" name="Google Shape;129;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5" name="Google Shape;135;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6" name="Google Shape;146;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spcBef>
                <a:spcPts val="1200"/>
              </a:spcBef>
              <a:spcAft>
                <a:spcPts val="1200"/>
              </a:spcAft>
            </a:pPr>
            <a:r>
              <a:rPr lang="en-US" b="1" i="0" dirty="0">
                <a:solidFill>
                  <a:srgbClr val="000000"/>
                </a:solidFill>
                <a:effectLst/>
                <a:latin typeface="NVIDIA Sans"/>
              </a:rPr>
              <a:t>Storage devices </a:t>
            </a:r>
          </a:p>
          <a:p>
            <a:pPr algn="l" fontAlgn="base">
              <a:lnSpc>
                <a:spcPts val="2100"/>
              </a:lnSpc>
              <a:spcBef>
                <a:spcPts val="1425"/>
              </a:spcBef>
              <a:spcAft>
                <a:spcPts val="1425"/>
              </a:spcAft>
            </a:pPr>
            <a:r>
              <a:rPr lang="en-US" b="0" i="0" dirty="0">
                <a:solidFill>
                  <a:srgbClr val="1A1A1A"/>
                </a:solidFill>
                <a:effectLst/>
                <a:latin typeface="NVIDIA Sans"/>
              </a:rPr>
              <a:t>Hard drives and flash drives are at the base of the storage hierarchy. There are also hybrid arrays that are a combination of each. HDDs may be front-ended with a fast cache layer, while all-flash arrays may use storage-class memory (SCM) to improve read performance.  </a:t>
            </a:r>
          </a:p>
          <a:p>
            <a:pPr algn="l" fontAlgn="base">
              <a:lnSpc>
                <a:spcPts val="2100"/>
              </a:lnSpc>
              <a:spcBef>
                <a:spcPts val="1425"/>
              </a:spcBef>
              <a:spcAft>
                <a:spcPts val="1425"/>
              </a:spcAft>
            </a:pPr>
            <a:r>
              <a:rPr lang="en-US" b="0" i="0" dirty="0">
                <a:solidFill>
                  <a:srgbClr val="1A1A1A"/>
                </a:solidFill>
                <a:effectLst/>
                <a:latin typeface="NVIDIA Sans"/>
              </a:rPr>
              <a:t>Fast storage is useful when the loading time for large datasets into GPU memory is important. When there is a need to train a model that no longer fits in the storage device, it is easy to scale storage capacity. It may also be that multiple datasets must be stored – an additional reason to have scalable storage.</a:t>
            </a:r>
          </a:p>
          <a:p>
            <a:pPr algn="l" fontAlgn="base">
              <a:spcBef>
                <a:spcPts val="1200"/>
              </a:spcBef>
              <a:spcAft>
                <a:spcPts val="1200"/>
              </a:spcAft>
            </a:pPr>
            <a:r>
              <a:rPr lang="en-US" b="1" i="0" dirty="0">
                <a:solidFill>
                  <a:srgbClr val="000000"/>
                </a:solidFill>
                <a:effectLst/>
                <a:latin typeface="NVIDIA Sans"/>
              </a:rPr>
              <a:t>Data fabric </a:t>
            </a:r>
          </a:p>
          <a:p>
            <a:pPr algn="l" fontAlgn="base">
              <a:lnSpc>
                <a:spcPts val="2100"/>
              </a:lnSpc>
              <a:spcBef>
                <a:spcPts val="1425"/>
              </a:spcBef>
              <a:spcAft>
                <a:spcPts val="1425"/>
              </a:spcAft>
            </a:pPr>
            <a:r>
              <a:rPr lang="en-US" b="0" i="0" dirty="0">
                <a:solidFill>
                  <a:srgbClr val="1A1A1A"/>
                </a:solidFill>
                <a:effectLst/>
                <a:latin typeface="NVIDIA Sans"/>
              </a:rPr>
              <a:t>In the middle of the hierarchy, data fabric is used to connect storage devices with GPU memory. </a:t>
            </a:r>
          </a:p>
          <a:p>
            <a:pPr algn="l" fontAlgn="base">
              <a:lnSpc>
                <a:spcPts val="2100"/>
              </a:lnSpc>
              <a:spcBef>
                <a:spcPts val="1425"/>
              </a:spcBef>
              <a:spcAft>
                <a:spcPts val="1425"/>
              </a:spcAft>
            </a:pPr>
            <a:r>
              <a:rPr lang="en-US" b="0" i="0" dirty="0">
                <a:solidFill>
                  <a:srgbClr val="1A1A1A"/>
                </a:solidFill>
                <a:effectLst/>
                <a:latin typeface="NVIDIA Sans"/>
              </a:rPr>
              <a:t>This layer includes: </a:t>
            </a:r>
          </a:p>
          <a:p>
            <a:pPr algn="l" fontAlgn="base">
              <a:spcBef>
                <a:spcPts val="1200"/>
              </a:spcBef>
              <a:spcAft>
                <a:spcPts val="1200"/>
              </a:spcAft>
              <a:buFont typeface="Arial" panose="020B0604020202020204" pitchFamily="34" charset="0"/>
              <a:buChar char="•"/>
            </a:pPr>
            <a:r>
              <a:rPr lang="en-US" b="0" i="0" dirty="0">
                <a:solidFill>
                  <a:srgbClr val="1A1A1A"/>
                </a:solidFill>
                <a:effectLst/>
                <a:latin typeface="NVIDIA Sans"/>
              </a:rPr>
              <a:t>PCIe bus </a:t>
            </a:r>
          </a:p>
          <a:p>
            <a:pPr algn="l" fontAlgn="base">
              <a:spcBef>
                <a:spcPts val="1200"/>
              </a:spcBef>
              <a:spcAft>
                <a:spcPts val="1200"/>
              </a:spcAft>
              <a:buFont typeface="Arial" panose="020B0604020202020204" pitchFamily="34" charset="0"/>
              <a:buChar char="•"/>
            </a:pPr>
            <a:r>
              <a:rPr lang="en-US" b="0" i="0" dirty="0">
                <a:solidFill>
                  <a:srgbClr val="1A1A1A"/>
                </a:solidFill>
                <a:effectLst/>
                <a:latin typeface="NVIDIA Sans"/>
              </a:rPr>
              <a:t>Network cards </a:t>
            </a:r>
          </a:p>
          <a:p>
            <a:pPr algn="l" fontAlgn="base">
              <a:spcBef>
                <a:spcPts val="1200"/>
              </a:spcBef>
              <a:spcAft>
                <a:spcPts val="1200"/>
              </a:spcAft>
              <a:buFont typeface="Arial" panose="020B0604020202020204" pitchFamily="34" charset="0"/>
              <a:buChar char="•"/>
            </a:pPr>
            <a:r>
              <a:rPr lang="en-US" b="0" i="0" dirty="0">
                <a:solidFill>
                  <a:srgbClr val="1A1A1A"/>
                </a:solidFill>
                <a:effectLst/>
                <a:latin typeface="NVIDIA Sans"/>
              </a:rPr>
              <a:t>DPUs </a:t>
            </a:r>
          </a:p>
          <a:p>
            <a:pPr algn="l" fontAlgn="base">
              <a:spcBef>
                <a:spcPts val="1200"/>
              </a:spcBef>
              <a:spcAft>
                <a:spcPts val="1200"/>
              </a:spcAft>
              <a:buFont typeface="Arial" panose="020B0604020202020204" pitchFamily="34" charset="0"/>
              <a:buChar char="•"/>
            </a:pPr>
            <a:r>
              <a:rPr lang="en-US" b="0" i="0" dirty="0">
                <a:solidFill>
                  <a:srgbClr val="1A1A1A"/>
                </a:solidFill>
                <a:effectLst/>
                <a:latin typeface="NVIDIA Sans"/>
              </a:rPr>
              <a:t>Any other card in the </a:t>
            </a:r>
            <a:r>
              <a:rPr lang="en-US" b="0" i="0" dirty="0" err="1">
                <a:solidFill>
                  <a:srgbClr val="1A1A1A"/>
                </a:solidFill>
                <a:effectLst/>
                <a:latin typeface="NVIDIA Sans"/>
              </a:rPr>
              <a:t>datapath</a:t>
            </a:r>
            <a:r>
              <a:rPr lang="en-US" b="0" i="0" dirty="0">
                <a:solidFill>
                  <a:srgbClr val="1A1A1A"/>
                </a:solidFill>
                <a:effectLst/>
                <a:latin typeface="NVIDIA Sans"/>
              </a:rPr>
              <a:t> between storage and GPU memory. </a:t>
            </a:r>
          </a:p>
          <a:p>
            <a:pPr algn="l" fontAlgn="base">
              <a:lnSpc>
                <a:spcPts val="2100"/>
              </a:lnSpc>
              <a:spcBef>
                <a:spcPts val="1425"/>
              </a:spcBef>
              <a:spcAft>
                <a:spcPts val="1425"/>
              </a:spcAft>
            </a:pPr>
            <a:r>
              <a:rPr lang="en-US" b="0" i="0" dirty="0">
                <a:solidFill>
                  <a:srgbClr val="1A1A1A"/>
                </a:solidFill>
                <a:effectLst/>
                <a:latin typeface="NVIDIA Sans"/>
              </a:rPr>
              <a:t>To keep things simple, the fabric can simply be viewed as a pass-through data layer between storage devices and GPU memory.  </a:t>
            </a:r>
          </a:p>
          <a:p>
            <a:pPr algn="l" fontAlgn="base">
              <a:spcBef>
                <a:spcPts val="1200"/>
              </a:spcBef>
              <a:spcAft>
                <a:spcPts val="1200"/>
              </a:spcAft>
            </a:pPr>
            <a:r>
              <a:rPr lang="en-US" b="1" i="0" dirty="0">
                <a:solidFill>
                  <a:srgbClr val="000000"/>
                </a:solidFill>
                <a:effectLst/>
                <a:latin typeface="NVIDIA Sans"/>
              </a:rPr>
              <a:t>GPU memory </a:t>
            </a:r>
          </a:p>
          <a:p>
            <a:pPr algn="l" fontAlgn="base">
              <a:lnSpc>
                <a:spcPts val="2100"/>
              </a:lnSpc>
              <a:spcBef>
                <a:spcPts val="1425"/>
              </a:spcBef>
              <a:spcAft>
                <a:spcPts val="1425"/>
              </a:spcAft>
            </a:pPr>
            <a:r>
              <a:rPr lang="en-US" b="0" i="0" dirty="0">
                <a:solidFill>
                  <a:srgbClr val="1A1A1A"/>
                </a:solidFill>
                <a:effectLst/>
                <a:latin typeface="NVIDIA Sans"/>
              </a:rPr>
              <a:t>At the top of the storage hierarchy is GPU memory (often called </a:t>
            </a:r>
            <a:r>
              <a:rPr lang="en-US" b="0" i="0" dirty="0" err="1">
                <a:solidFill>
                  <a:srgbClr val="1A1A1A"/>
                </a:solidFill>
                <a:effectLst/>
                <a:latin typeface="NVIDIA Sans"/>
              </a:rPr>
              <a:t>vRAM</a:t>
            </a:r>
            <a:r>
              <a:rPr lang="en-US" b="0" i="0" dirty="0">
                <a:solidFill>
                  <a:srgbClr val="1A1A1A"/>
                </a:solidFill>
                <a:effectLst/>
                <a:latin typeface="NVIDIA Sans"/>
              </a:rPr>
              <a:t>.) Because GPU memory is fast and directly connected to the GPU, training datasets are processed quickly when the entire model resides within memory. CPU memory is also at the top of the hierarchy, just below GPU memory.</a:t>
            </a:r>
          </a:p>
          <a:p>
            <a:pPr algn="l" fontAlgn="base">
              <a:lnSpc>
                <a:spcPts val="2100"/>
              </a:lnSpc>
              <a:spcBef>
                <a:spcPts val="1425"/>
              </a:spcBef>
              <a:spcAft>
                <a:spcPts val="1425"/>
              </a:spcAft>
            </a:pPr>
            <a:r>
              <a:rPr lang="en-US" b="0" i="0" dirty="0">
                <a:solidFill>
                  <a:srgbClr val="1A1A1A"/>
                </a:solidFill>
                <a:effectLst/>
                <a:latin typeface="NVIDIA Sans"/>
              </a:rPr>
              <a:t>Alternatively, model data can be sent to GPU memory in multiple batches. Large GPU memory results in fewer batches and faster training time. If a GPU traverses across data fabric to internal or external storage for any part of the model or dataset, swapping activity to disk substantially reduces training performance.</a:t>
            </a:r>
          </a:p>
          <a:p>
            <a:pPr algn="l" fontAlgn="base">
              <a:lnSpc>
                <a:spcPts val="2100"/>
              </a:lnSpc>
              <a:spcBef>
                <a:spcPts val="1425"/>
              </a:spcBef>
              <a:spcAft>
                <a:spcPts val="1425"/>
              </a:spcAft>
            </a:pPr>
            <a:r>
              <a:rPr lang="en-US" b="0" i="0" dirty="0">
                <a:solidFill>
                  <a:srgbClr val="1A1A1A"/>
                </a:solidFill>
                <a:effectLst/>
                <a:latin typeface="NVIDIA Sans"/>
              </a:rPr>
              <a:t>Keep in mind that while storage devices and data fabric can scale, GPU memory is fixed. This means GPU memory is configured to the GPU and memory size cannot be upgraded to support larger training models and datasets.  </a:t>
            </a:r>
          </a:p>
          <a:p>
            <a:pPr algn="l" fontAlgn="base">
              <a:lnSpc>
                <a:spcPts val="2100"/>
              </a:lnSpc>
              <a:spcBef>
                <a:spcPts val="1425"/>
              </a:spcBef>
              <a:spcAft>
                <a:spcPts val="1425"/>
              </a:spcAft>
            </a:pPr>
            <a:r>
              <a:rPr lang="en-US" b="0" i="0" dirty="0">
                <a:solidFill>
                  <a:srgbClr val="1A1A1A"/>
                </a:solidFill>
                <a:effectLst/>
                <a:latin typeface="NVIDIA Sans"/>
              </a:rPr>
              <a:t>The original GPU can use the memory of an added GPU if supported by the manufacturer, such as through NVIDIA</a:t>
            </a:r>
            <a:r>
              <a:rPr lang="en-US" b="0" i="0" dirty="0">
                <a:solidFill>
                  <a:srgbClr val="1A1A1A"/>
                </a:solidFill>
                <a:effectLst/>
                <a:latin typeface="inherit"/>
                <a:hlinkClick r:id="rId3"/>
              </a:rPr>
              <a:t> </a:t>
            </a:r>
            <a:r>
              <a:rPr lang="en-US" b="0" i="0" dirty="0" err="1">
                <a:solidFill>
                  <a:srgbClr val="1A1A1A"/>
                </a:solidFill>
                <a:effectLst/>
                <a:latin typeface="inherit"/>
                <a:hlinkClick r:id="rId3"/>
              </a:rPr>
              <a:t>NVLink</a:t>
            </a:r>
            <a:r>
              <a:rPr lang="en-US" b="0" i="0" dirty="0">
                <a:solidFill>
                  <a:srgbClr val="1A1A1A"/>
                </a:solidFill>
                <a:effectLst/>
                <a:latin typeface="NVIDIA Sans"/>
              </a:rPr>
              <a:t>. However, not all systems can accommodate a second GPU and the possibility of additional memory.</a:t>
            </a:r>
          </a:p>
          <a:p>
            <a:pPr algn="l" fontAlgn="base">
              <a:lnSpc>
                <a:spcPts val="2100"/>
              </a:lnSpc>
              <a:spcBef>
                <a:spcPts val="1425"/>
              </a:spcBef>
              <a:spcAft>
                <a:spcPts val="1425"/>
              </a:spcAft>
            </a:pPr>
            <a:r>
              <a:rPr lang="en-US" b="0" i="0" dirty="0">
                <a:solidFill>
                  <a:srgbClr val="1A1A1A"/>
                </a:solidFill>
                <a:effectLst/>
                <a:latin typeface="NVIDIA Sans"/>
              </a:rPr>
              <a:t>Ultimately, deployment plans should include a GPU with memory well in excess of current needs. Addressing a memory shortage in the future can be expensive.</a:t>
            </a:r>
          </a:p>
          <a:p>
            <a:br>
              <a:rPr lang="en-US" dirty="0"/>
            </a:br>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90513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 name="Google Shape;157;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4" name="Google Shape;194;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5"/>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5"/>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6"/>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6"/>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1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7"/>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7"/>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1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8"/>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8"/>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8"/>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9"/>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9"/>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9"/>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9"/>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19"/>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0"/>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2"/>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2"/>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2"/>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3"/>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3"/>
          <p:cNvSpPr>
            <a:spLocks noGrp="1"/>
          </p:cNvSpPr>
          <p:nvPr>
            <p:ph type="pic" idx="2"/>
          </p:nvPr>
        </p:nvSpPr>
        <p:spPr>
          <a:xfrm>
            <a:off x="3887391" y="987426"/>
            <a:ext cx="4629150" cy="4873625"/>
          </a:xfrm>
          <a:prstGeom prst="rect">
            <a:avLst/>
          </a:prstGeom>
          <a:noFill/>
          <a:ln>
            <a:noFill/>
          </a:ln>
        </p:spPr>
      </p:sp>
      <p:sp>
        <p:nvSpPr>
          <p:cNvPr id="68" name="Google Shape;68;p23"/>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4"/>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5"/>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5"/>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4"/>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8"/>
        <p:cNvGrpSpPr/>
        <p:nvPr/>
      </p:nvGrpSpPr>
      <p:grpSpPr>
        <a:xfrm>
          <a:off x="0" y="0"/>
          <a:ext cx="0" cy="0"/>
          <a:chOff x="0" y="0"/>
          <a:chExt cx="0" cy="0"/>
        </a:xfrm>
      </p:grpSpPr>
      <p:sp>
        <p:nvSpPr>
          <p:cNvPr id="89" name="Google Shape;89;p1"/>
          <p:cNvSpPr/>
          <p:nvPr/>
        </p:nvSpPr>
        <p:spPr>
          <a:xfrm>
            <a:off x="356616" y="0"/>
            <a:ext cx="8182719"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90" name="Google Shape;90;p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1" name="Google Shape;91;p1"/>
          <p:cNvSpPr txBox="1">
            <a:spLocks noGrp="1"/>
          </p:cNvSpPr>
          <p:nvPr>
            <p:ph type="ctrTitle"/>
          </p:nvPr>
        </p:nvSpPr>
        <p:spPr>
          <a:xfrm>
            <a:off x="2284026" y="2043663"/>
            <a:ext cx="4578895" cy="2031055"/>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FFFF"/>
              </a:buClr>
              <a:buSzPts val="5600"/>
              <a:buFont typeface="Calibri"/>
              <a:buNone/>
            </a:pPr>
            <a:r>
              <a:rPr lang="en-US" sz="5600">
                <a:solidFill>
                  <a:srgbClr val="FFFFFF"/>
                </a:solidFill>
              </a:rPr>
              <a:t>AI Infrastructure</a:t>
            </a:r>
            <a:endParaRPr/>
          </a:p>
        </p:txBody>
      </p:sp>
      <p:sp>
        <p:nvSpPr>
          <p:cNvPr id="92" name="Google Shape;92;p1"/>
          <p:cNvSpPr txBox="1">
            <a:spLocks noGrp="1"/>
          </p:cNvSpPr>
          <p:nvPr>
            <p:ph type="subTitle" idx="1"/>
          </p:nvPr>
        </p:nvSpPr>
        <p:spPr>
          <a:xfrm>
            <a:off x="2284026" y="4074718"/>
            <a:ext cx="4578895" cy="682079"/>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FFFFFF"/>
              </a:buClr>
              <a:buSzPts val="1500"/>
              <a:buNone/>
            </a:pPr>
            <a:r>
              <a:rPr lang="en-US" sz="1500">
                <a:solidFill>
                  <a:srgbClr val="FFFFFF"/>
                </a:solidFill>
              </a:rPr>
              <a:t>Ioannis Papapanagiotou</a:t>
            </a:r>
            <a:endParaRPr sz="1500">
              <a:solidFill>
                <a:srgbClr val="FFFFFF"/>
              </a:solidFill>
            </a:endParaRPr>
          </a:p>
          <a:p>
            <a:pPr marL="0" lvl="0" indent="0" algn="ctr" rtl="0">
              <a:lnSpc>
                <a:spcPct val="90000"/>
              </a:lnSpc>
              <a:spcBef>
                <a:spcPts val="1000"/>
              </a:spcBef>
              <a:spcAft>
                <a:spcPts val="0"/>
              </a:spcAft>
              <a:buClr>
                <a:srgbClr val="FFFFFF"/>
              </a:buClr>
              <a:buSzPts val="1500"/>
              <a:buNone/>
            </a:pPr>
            <a:r>
              <a:rPr lang="en-US" sz="1500">
                <a:solidFill>
                  <a:srgbClr val="FFFFFF"/>
                </a:solidFill>
              </a:rPr>
              <a:t>AI Components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6"/>
        <p:cNvGrpSpPr/>
        <p:nvPr/>
      </p:nvGrpSpPr>
      <p:grpSpPr>
        <a:xfrm>
          <a:off x="0" y="0"/>
          <a:ext cx="0" cy="0"/>
          <a:chOff x="0" y="0"/>
          <a:chExt cx="0" cy="0"/>
        </a:xfrm>
      </p:grpSpPr>
      <p:sp>
        <p:nvSpPr>
          <p:cNvPr id="97" name="Google Shape;97;g2c71a0be882_0_0"/>
          <p:cNvSpPr/>
          <p:nvPr/>
        </p:nvSpPr>
        <p:spPr>
          <a:xfrm>
            <a:off x="0" y="0"/>
            <a:ext cx="9144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8" name="Google Shape;98;g2c71a0be882_0_0"/>
          <p:cNvSpPr/>
          <p:nvPr/>
        </p:nvSpPr>
        <p:spPr>
          <a:xfrm flipH="1">
            <a:off x="1" y="0"/>
            <a:ext cx="9143999" cy="1575955"/>
          </a:xfrm>
          <a:prstGeom prst="rect">
            <a:avLst/>
          </a:prstGeom>
          <a:gradFill>
            <a:gsLst>
              <a:gs pos="0">
                <a:srgbClr val="000000">
                  <a:alpha val="95294"/>
                </a:srgbClr>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9" name="Google Shape;99;g2c71a0be882_0_0"/>
          <p:cNvSpPr/>
          <p:nvPr/>
        </p:nvSpPr>
        <p:spPr>
          <a:xfrm rot="10800000" flipH="1">
            <a:off x="6096642" y="0"/>
            <a:ext cx="3047358" cy="1576412"/>
          </a:xfrm>
          <a:prstGeom prst="rect">
            <a:avLst/>
          </a:prstGeom>
          <a:gradFill>
            <a:gsLst>
              <a:gs pos="0">
                <a:srgbClr val="1F3864">
                  <a:alpha val="67450"/>
                </a:srgbClr>
              </a:gs>
              <a:gs pos="19000">
                <a:srgbClr val="1F3864">
                  <a:alpha val="67450"/>
                </a:srgbClr>
              </a:gs>
              <a:gs pos="100000">
                <a:srgbClr val="4472C4">
                  <a:alpha val="78431"/>
                </a:srgbClr>
              </a:gs>
            </a:gsLst>
            <a:lin ang="19199999"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0" name="Google Shape;100;g2c71a0be882_0_0"/>
          <p:cNvSpPr/>
          <p:nvPr/>
        </p:nvSpPr>
        <p:spPr>
          <a:xfrm rot="5400000">
            <a:off x="3783777" y="-3783778"/>
            <a:ext cx="1576446" cy="9144002"/>
          </a:xfrm>
          <a:prstGeom prst="rect">
            <a:avLst/>
          </a:prstGeom>
          <a:gradFill>
            <a:gsLst>
              <a:gs pos="0">
                <a:srgbClr val="4472C4">
                  <a:alpha val="0"/>
                </a:srgbClr>
              </a:gs>
              <a:gs pos="23000">
                <a:srgbClr val="4472C4">
                  <a:alpha val="0"/>
                </a:srgbClr>
              </a:gs>
              <a:gs pos="99000">
                <a:srgbClr val="000000">
                  <a:alpha val="73333"/>
                </a:srgbClr>
              </a:gs>
              <a:gs pos="100000">
                <a:srgbClr val="000000">
                  <a:alpha val="73333"/>
                </a:srgbClr>
              </a:gs>
            </a:gsLst>
            <a:lin ang="20399999"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1" name="Google Shape;101;g2c71a0be882_0_0"/>
          <p:cNvSpPr txBox="1">
            <a:spLocks noGrp="1"/>
          </p:cNvSpPr>
          <p:nvPr>
            <p:ph type="title"/>
          </p:nvPr>
        </p:nvSpPr>
        <p:spPr>
          <a:xfrm>
            <a:off x="1028697" y="348865"/>
            <a:ext cx="7533018" cy="87772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500">
                <a:solidFill>
                  <a:srgbClr val="FFFFFF"/>
                </a:solidFill>
              </a:rPr>
              <a:t>5 Key components AI Infrastructure</a:t>
            </a:r>
            <a:endParaRPr/>
          </a:p>
        </p:txBody>
      </p:sp>
      <p:grpSp>
        <p:nvGrpSpPr>
          <p:cNvPr id="102" name="Google Shape;102;g2c71a0be882_0_0"/>
          <p:cNvGrpSpPr/>
          <p:nvPr/>
        </p:nvGrpSpPr>
        <p:grpSpPr>
          <a:xfrm>
            <a:off x="1212415" y="2505767"/>
            <a:ext cx="6737124" cy="3406427"/>
            <a:chOff x="729373" y="393188"/>
            <a:chExt cx="6737124" cy="3406427"/>
          </a:xfrm>
        </p:grpSpPr>
        <p:sp>
          <p:nvSpPr>
            <p:cNvPr id="103" name="Google Shape;103;g2c71a0be882_0_0"/>
            <p:cNvSpPr/>
            <p:nvPr/>
          </p:nvSpPr>
          <p:spPr>
            <a:xfrm>
              <a:off x="1138811" y="393188"/>
              <a:ext cx="669990" cy="669990"/>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g2c71a0be882_0_0"/>
            <p:cNvSpPr/>
            <p:nvPr/>
          </p:nvSpPr>
          <p:spPr>
            <a:xfrm>
              <a:off x="729373" y="1314747"/>
              <a:ext cx="1488867" cy="595546"/>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g2c71a0be882_0_0"/>
            <p:cNvSpPr txBox="1"/>
            <p:nvPr/>
          </p:nvSpPr>
          <p:spPr>
            <a:xfrm>
              <a:off x="729373" y="1314747"/>
              <a:ext cx="1488867" cy="595546"/>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000000"/>
                </a:buClr>
                <a:buSzPts val="1500"/>
                <a:buFont typeface="Arial"/>
                <a:buNone/>
              </a:pPr>
              <a:r>
                <a:rPr lang="en-US" sz="1500" b="0" i="0" u="none" strike="noStrike" cap="none">
                  <a:solidFill>
                    <a:srgbClr val="000000"/>
                  </a:solidFill>
                  <a:latin typeface="Arial"/>
                  <a:ea typeface="Arial"/>
                  <a:cs typeface="Arial"/>
                  <a:sym typeface="Arial"/>
                </a:rPr>
                <a:t>Data Storage and Management</a:t>
              </a:r>
              <a:endParaRPr sz="1500" b="0" i="0" u="none" strike="noStrike" cap="none">
                <a:solidFill>
                  <a:srgbClr val="000000"/>
                </a:solidFill>
                <a:latin typeface="Arial"/>
                <a:ea typeface="Arial"/>
                <a:cs typeface="Arial"/>
                <a:sym typeface="Arial"/>
              </a:endParaRPr>
            </a:p>
          </p:txBody>
        </p:sp>
        <p:sp>
          <p:nvSpPr>
            <p:cNvPr id="106" name="Google Shape;106;g2c71a0be882_0_0"/>
            <p:cNvSpPr/>
            <p:nvPr/>
          </p:nvSpPr>
          <p:spPr>
            <a:xfrm>
              <a:off x="2888230" y="393188"/>
              <a:ext cx="669990" cy="669990"/>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g2c71a0be882_0_0"/>
            <p:cNvSpPr/>
            <p:nvPr/>
          </p:nvSpPr>
          <p:spPr>
            <a:xfrm>
              <a:off x="2478792" y="1314747"/>
              <a:ext cx="1488867" cy="595546"/>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g2c71a0be882_0_0"/>
            <p:cNvSpPr txBox="1"/>
            <p:nvPr/>
          </p:nvSpPr>
          <p:spPr>
            <a:xfrm>
              <a:off x="2478792" y="1314747"/>
              <a:ext cx="1488867" cy="595546"/>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000000"/>
                </a:buClr>
                <a:buSzPts val="1500"/>
                <a:buFont typeface="Arial"/>
                <a:buNone/>
              </a:pPr>
              <a:r>
                <a:rPr lang="en-US" sz="1500" b="0" i="0" u="none" strike="noStrike" cap="none">
                  <a:solidFill>
                    <a:srgbClr val="000000"/>
                  </a:solidFill>
                  <a:latin typeface="Arial"/>
                  <a:ea typeface="Arial"/>
                  <a:cs typeface="Arial"/>
                  <a:sym typeface="Arial"/>
                </a:rPr>
                <a:t>Compute Resources</a:t>
              </a:r>
              <a:endParaRPr sz="1500" b="0" i="0" u="none" strike="noStrike" cap="none">
                <a:solidFill>
                  <a:srgbClr val="000000"/>
                </a:solidFill>
                <a:latin typeface="Arial"/>
                <a:ea typeface="Arial"/>
                <a:cs typeface="Arial"/>
                <a:sym typeface="Arial"/>
              </a:endParaRPr>
            </a:p>
          </p:txBody>
        </p:sp>
        <p:sp>
          <p:nvSpPr>
            <p:cNvPr id="109" name="Google Shape;109;g2c71a0be882_0_0"/>
            <p:cNvSpPr/>
            <p:nvPr/>
          </p:nvSpPr>
          <p:spPr>
            <a:xfrm>
              <a:off x="4637649" y="393188"/>
              <a:ext cx="669990" cy="669990"/>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g2c71a0be882_0_0"/>
            <p:cNvSpPr/>
            <p:nvPr/>
          </p:nvSpPr>
          <p:spPr>
            <a:xfrm>
              <a:off x="4228211" y="1314747"/>
              <a:ext cx="1488867" cy="595546"/>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g2c71a0be882_0_0"/>
            <p:cNvSpPr txBox="1"/>
            <p:nvPr/>
          </p:nvSpPr>
          <p:spPr>
            <a:xfrm>
              <a:off x="4228211" y="1314747"/>
              <a:ext cx="1488867" cy="595546"/>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000000"/>
                </a:buClr>
                <a:buSzPts val="1500"/>
                <a:buFont typeface="Arial"/>
                <a:buNone/>
              </a:pPr>
              <a:r>
                <a:rPr lang="en-US" sz="1500" b="0" i="0" u="none" strike="noStrike" cap="none">
                  <a:solidFill>
                    <a:srgbClr val="000000"/>
                  </a:solidFill>
                  <a:latin typeface="Arial"/>
                  <a:ea typeface="Arial"/>
                  <a:cs typeface="Arial"/>
                  <a:sym typeface="Arial"/>
                </a:rPr>
                <a:t>Data Processing Frameworks</a:t>
              </a:r>
              <a:endParaRPr sz="1500" b="0" i="0" u="none" strike="noStrike" cap="none">
                <a:solidFill>
                  <a:srgbClr val="000000"/>
                </a:solidFill>
                <a:latin typeface="Arial"/>
                <a:ea typeface="Arial"/>
                <a:cs typeface="Arial"/>
                <a:sym typeface="Arial"/>
              </a:endParaRPr>
            </a:p>
          </p:txBody>
        </p:sp>
        <p:sp>
          <p:nvSpPr>
            <p:cNvPr id="112" name="Google Shape;112;g2c71a0be882_0_0"/>
            <p:cNvSpPr/>
            <p:nvPr/>
          </p:nvSpPr>
          <p:spPr>
            <a:xfrm>
              <a:off x="6387068" y="393188"/>
              <a:ext cx="669990" cy="669990"/>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g2c71a0be882_0_0"/>
            <p:cNvSpPr/>
            <p:nvPr/>
          </p:nvSpPr>
          <p:spPr>
            <a:xfrm>
              <a:off x="5977630" y="1314747"/>
              <a:ext cx="1488867" cy="595546"/>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g2c71a0be882_0_0"/>
            <p:cNvSpPr txBox="1"/>
            <p:nvPr/>
          </p:nvSpPr>
          <p:spPr>
            <a:xfrm>
              <a:off x="5977630" y="1314747"/>
              <a:ext cx="1488867" cy="595546"/>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000000"/>
                </a:buClr>
                <a:buSzPts val="1500"/>
                <a:buFont typeface="Arial"/>
                <a:buNone/>
              </a:pPr>
              <a:r>
                <a:rPr lang="en-US" sz="1500" b="0" i="0" u="none" strike="noStrike" cap="none">
                  <a:solidFill>
                    <a:srgbClr val="000000"/>
                  </a:solidFill>
                  <a:latin typeface="Arial"/>
                  <a:ea typeface="Arial"/>
                  <a:cs typeface="Arial"/>
                  <a:sym typeface="Arial"/>
                </a:rPr>
                <a:t>Machine Learning Frameworks</a:t>
              </a:r>
              <a:endParaRPr sz="1500" b="0" i="0" u="none" strike="noStrike" cap="none">
                <a:solidFill>
                  <a:srgbClr val="000000"/>
                </a:solidFill>
                <a:latin typeface="Arial"/>
                <a:ea typeface="Arial"/>
                <a:cs typeface="Arial"/>
                <a:sym typeface="Arial"/>
              </a:endParaRPr>
            </a:p>
          </p:txBody>
        </p:sp>
        <p:sp>
          <p:nvSpPr>
            <p:cNvPr id="115" name="Google Shape;115;g2c71a0be882_0_0"/>
            <p:cNvSpPr/>
            <p:nvPr/>
          </p:nvSpPr>
          <p:spPr>
            <a:xfrm>
              <a:off x="3762940" y="2282510"/>
              <a:ext cx="669990" cy="669990"/>
            </a:xfrm>
            <a:prstGeom prst="rect">
              <a:avLst/>
            </a:prstGeom>
            <a:blipFill rotWithShape="1">
              <a:blip r:embed="rId7">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g2c71a0be882_0_0"/>
            <p:cNvSpPr/>
            <p:nvPr/>
          </p:nvSpPr>
          <p:spPr>
            <a:xfrm>
              <a:off x="3353501" y="3204069"/>
              <a:ext cx="1488867" cy="595546"/>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g2c71a0be882_0_0"/>
            <p:cNvSpPr txBox="1"/>
            <p:nvPr/>
          </p:nvSpPr>
          <p:spPr>
            <a:xfrm>
              <a:off x="3353501" y="3204069"/>
              <a:ext cx="1488867" cy="595546"/>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000000"/>
                </a:buClr>
                <a:buSzPts val="1500"/>
                <a:buFont typeface="Arial"/>
                <a:buNone/>
              </a:pPr>
              <a:r>
                <a:rPr lang="en-US" sz="1500" b="0" i="0" u="none" strike="noStrike" cap="none">
                  <a:solidFill>
                    <a:srgbClr val="000000"/>
                  </a:solidFill>
                  <a:latin typeface="Arial"/>
                  <a:ea typeface="Arial"/>
                  <a:cs typeface="Arial"/>
                  <a:sym typeface="Arial"/>
                </a:rPr>
                <a:t>MLOps Platforms</a:t>
              </a:r>
              <a:endParaRPr sz="1500" b="0" i="0" u="none" strike="noStrike" cap="none">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1"/>
        <p:cNvGrpSpPr/>
        <p:nvPr/>
      </p:nvGrpSpPr>
      <p:grpSpPr>
        <a:xfrm>
          <a:off x="0" y="0"/>
          <a:ext cx="0" cy="0"/>
          <a:chOff x="0" y="0"/>
          <a:chExt cx="0" cy="0"/>
        </a:xfrm>
      </p:grpSpPr>
      <p:sp>
        <p:nvSpPr>
          <p:cNvPr id="122" name="Google Shape;122;p6"/>
          <p:cNvSpPr/>
          <p:nvPr/>
        </p:nvSpPr>
        <p:spPr>
          <a:xfrm>
            <a:off x="0" y="0"/>
            <a:ext cx="9144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3" name="Google Shape;123;p6"/>
          <p:cNvSpPr/>
          <p:nvPr/>
        </p:nvSpPr>
        <p:spPr>
          <a:xfrm>
            <a:off x="0" y="0"/>
            <a:ext cx="9144000" cy="2877832"/>
          </a:xfrm>
          <a:custGeom>
            <a:avLst/>
            <a:gdLst/>
            <a:ahLst/>
            <a:cxnLst/>
            <a:rect l="l" t="t" r="r" b="b"/>
            <a:pathLst>
              <a:path w="12192000" h="2877832" extrusionOk="0">
                <a:moveTo>
                  <a:pt x="6789701" y="2809623"/>
                </a:moveTo>
                <a:lnTo>
                  <a:pt x="6788702" y="2809701"/>
                </a:lnTo>
                <a:lnTo>
                  <a:pt x="6788476" y="2810235"/>
                </a:lnTo>
                <a:close/>
                <a:moveTo>
                  <a:pt x="0" y="0"/>
                </a:moveTo>
                <a:lnTo>
                  <a:pt x="12192000" y="0"/>
                </a:lnTo>
                <a:lnTo>
                  <a:pt x="12192000" y="1915388"/>
                </a:lnTo>
                <a:lnTo>
                  <a:pt x="12061096" y="1954428"/>
                </a:lnTo>
                <a:cubicBezTo>
                  <a:pt x="11933500" y="1990642"/>
                  <a:pt x="11805390" y="2025171"/>
                  <a:pt x="11676800" y="2058003"/>
                </a:cubicBezTo>
                <a:cubicBezTo>
                  <a:pt x="11262789" y="2165510"/>
                  <a:pt x="10845343" y="2259112"/>
                  <a:pt x="10425355" y="2341542"/>
                </a:cubicBezTo>
                <a:cubicBezTo>
                  <a:pt x="10092810" y="2406753"/>
                  <a:pt x="9759033" y="2465150"/>
                  <a:pt x="9424022" y="2516704"/>
                </a:cubicBezTo>
                <a:cubicBezTo>
                  <a:pt x="9102997" y="2566361"/>
                  <a:pt x="8781133" y="2610928"/>
                  <a:pt x="8458419" y="2650405"/>
                </a:cubicBezTo>
                <a:cubicBezTo>
                  <a:pt x="8211360" y="2680571"/>
                  <a:pt x="7963792" y="2706144"/>
                  <a:pt x="7715970" y="2730352"/>
                </a:cubicBezTo>
                <a:lnTo>
                  <a:pt x="6951716" y="2796132"/>
                </a:lnTo>
                <a:lnTo>
                  <a:pt x="6936303" y="2798203"/>
                </a:lnTo>
                <a:lnTo>
                  <a:pt x="6790448" y="2809564"/>
                </a:lnTo>
                <a:lnTo>
                  <a:pt x="6799941" y="2811384"/>
                </a:lnTo>
                <a:cubicBezTo>
                  <a:pt x="6811623" y="2811850"/>
                  <a:pt x="6823734" y="2809677"/>
                  <a:pt x="6835432" y="2809677"/>
                </a:cubicBezTo>
                <a:cubicBezTo>
                  <a:pt x="6851580" y="2809677"/>
                  <a:pt x="6867729" y="2807070"/>
                  <a:pt x="6884003" y="2806699"/>
                </a:cubicBezTo>
                <a:cubicBezTo>
                  <a:pt x="7115805" y="2801237"/>
                  <a:pt x="7347351" y="2789070"/>
                  <a:pt x="7578771" y="2774172"/>
                </a:cubicBezTo>
                <a:cubicBezTo>
                  <a:pt x="7927552" y="2751704"/>
                  <a:pt x="8276080" y="2723525"/>
                  <a:pt x="8623845" y="2687275"/>
                </a:cubicBezTo>
                <a:cubicBezTo>
                  <a:pt x="8909939" y="2657977"/>
                  <a:pt x="9195310" y="2623342"/>
                  <a:pt x="9479970" y="2583369"/>
                </a:cubicBezTo>
                <a:cubicBezTo>
                  <a:pt x="9864901" y="2528995"/>
                  <a:pt x="10248014" y="2464281"/>
                  <a:pt x="10629308" y="2389212"/>
                </a:cubicBezTo>
                <a:cubicBezTo>
                  <a:pt x="11090114" y="2298092"/>
                  <a:pt x="11546975" y="2190586"/>
                  <a:pt x="11998498" y="2063218"/>
                </a:cubicBezTo>
                <a:lnTo>
                  <a:pt x="12192000" y="2006219"/>
                </a:lnTo>
                <a:lnTo>
                  <a:pt x="12192000" y="2060956"/>
                </a:lnTo>
                <a:lnTo>
                  <a:pt x="11829257" y="2166255"/>
                </a:lnTo>
                <a:cubicBezTo>
                  <a:pt x="11534769" y="2245952"/>
                  <a:pt x="11238120" y="2316838"/>
                  <a:pt x="10939183" y="2380770"/>
                </a:cubicBezTo>
                <a:cubicBezTo>
                  <a:pt x="10622824" y="2448552"/>
                  <a:pt x="10304941" y="2508549"/>
                  <a:pt x="9985530" y="2560775"/>
                </a:cubicBezTo>
                <a:cubicBezTo>
                  <a:pt x="9720036" y="2604224"/>
                  <a:pt x="9453814" y="2642869"/>
                  <a:pt x="9186882" y="2676722"/>
                </a:cubicBezTo>
                <a:cubicBezTo>
                  <a:pt x="8984197" y="2702296"/>
                  <a:pt x="8781514" y="2726379"/>
                  <a:pt x="8578198" y="2746241"/>
                </a:cubicBezTo>
                <a:cubicBezTo>
                  <a:pt x="8340547" y="2768961"/>
                  <a:pt x="8102644" y="2790436"/>
                  <a:pt x="7864358" y="2807692"/>
                </a:cubicBezTo>
                <a:cubicBezTo>
                  <a:pt x="7554994" y="2830036"/>
                  <a:pt x="7245502" y="2847914"/>
                  <a:pt x="6935502" y="2859086"/>
                </a:cubicBezTo>
                <a:cubicBezTo>
                  <a:pt x="6782917" y="2864549"/>
                  <a:pt x="6630334" y="2868397"/>
                  <a:pt x="6477750" y="2872989"/>
                </a:cubicBezTo>
                <a:cubicBezTo>
                  <a:pt x="6439195" y="2870905"/>
                  <a:pt x="6400529" y="2872530"/>
                  <a:pt x="6362294" y="2877832"/>
                </a:cubicBezTo>
                <a:lnTo>
                  <a:pt x="6057129" y="2877832"/>
                </a:lnTo>
                <a:lnTo>
                  <a:pt x="5977784" y="2873238"/>
                </a:lnTo>
                <a:cubicBezTo>
                  <a:pt x="5740261" y="2860825"/>
                  <a:pt x="5502739" y="2847046"/>
                  <a:pt x="5265087" y="2836989"/>
                </a:cubicBezTo>
                <a:cubicBezTo>
                  <a:pt x="4958267" y="2824573"/>
                  <a:pt x="4651826" y="2804093"/>
                  <a:pt x="4346277" y="2774919"/>
                </a:cubicBezTo>
                <a:cubicBezTo>
                  <a:pt x="4021654" y="2744007"/>
                  <a:pt x="3697795" y="2709372"/>
                  <a:pt x="3373045" y="2676350"/>
                </a:cubicBezTo>
                <a:cubicBezTo>
                  <a:pt x="3035412" y="2642088"/>
                  <a:pt x="2698456" y="2602449"/>
                  <a:pt x="2362173" y="2557423"/>
                </a:cubicBezTo>
                <a:cubicBezTo>
                  <a:pt x="1984692" y="2507270"/>
                  <a:pt x="1608364" y="2449544"/>
                  <a:pt x="1233178" y="2384247"/>
                </a:cubicBezTo>
                <a:cubicBezTo>
                  <a:pt x="842181" y="2315534"/>
                  <a:pt x="453758" y="2237046"/>
                  <a:pt x="68500" y="2144540"/>
                </a:cubicBezTo>
                <a:lnTo>
                  <a:pt x="0" y="2127185"/>
                </a:lnTo>
                <a:lnTo>
                  <a:pt x="0" y="2070696"/>
                </a:lnTo>
                <a:lnTo>
                  <a:pt x="72441" y="2089473"/>
                </a:lnTo>
                <a:cubicBezTo>
                  <a:pt x="247961" y="2131651"/>
                  <a:pt x="424164" y="2170911"/>
                  <a:pt x="600716" y="2207843"/>
                </a:cubicBezTo>
                <a:cubicBezTo>
                  <a:pt x="988279" y="2288657"/>
                  <a:pt x="1378133" y="2357555"/>
                  <a:pt x="1769512" y="2418011"/>
                </a:cubicBezTo>
                <a:cubicBezTo>
                  <a:pt x="2052426" y="2461587"/>
                  <a:pt x="2335725" y="2501684"/>
                  <a:pt x="2613554" y="2534953"/>
                </a:cubicBezTo>
                <a:cubicBezTo>
                  <a:pt x="2605544" y="2537560"/>
                  <a:pt x="2594611" y="2527504"/>
                  <a:pt x="2581134" y="2525022"/>
                </a:cubicBezTo>
                <a:cubicBezTo>
                  <a:pt x="2087178" y="2433070"/>
                  <a:pt x="1597684" y="2322177"/>
                  <a:pt x="1112635" y="2192325"/>
                </a:cubicBezTo>
                <a:cubicBezTo>
                  <a:pt x="880453" y="2130254"/>
                  <a:pt x="649713" y="2063776"/>
                  <a:pt x="420412" y="1992892"/>
                </a:cubicBezTo>
                <a:lnTo>
                  <a:pt x="0" y="1853975"/>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4" name="Google Shape;124;p6"/>
          <p:cNvSpPr txBox="1">
            <a:spLocks noGrp="1"/>
          </p:cNvSpPr>
          <p:nvPr>
            <p:ph type="title"/>
          </p:nvPr>
        </p:nvSpPr>
        <p:spPr>
          <a:xfrm>
            <a:off x="479160" y="390525"/>
            <a:ext cx="8182230" cy="1510301"/>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None/>
            </a:pPr>
            <a:r>
              <a:rPr lang="en-US" sz="5700">
                <a:solidFill>
                  <a:srgbClr val="FFFFFF"/>
                </a:solidFill>
                <a:latin typeface="Arial"/>
                <a:ea typeface="Arial"/>
                <a:cs typeface="Arial"/>
                <a:sym typeface="Arial"/>
              </a:rPr>
              <a:t>AI Infrastructure</a:t>
            </a:r>
            <a:endParaRPr/>
          </a:p>
        </p:txBody>
      </p:sp>
      <p:sp>
        <p:nvSpPr>
          <p:cNvPr id="125" name="Google Shape;125;p6"/>
          <p:cNvSpPr/>
          <p:nvPr/>
        </p:nvSpPr>
        <p:spPr>
          <a:xfrm>
            <a:off x="2980654" y="1753266"/>
            <a:ext cx="3182692" cy="18288"/>
          </a:xfrm>
          <a:custGeom>
            <a:avLst/>
            <a:gdLst/>
            <a:ahLst/>
            <a:cxnLst/>
            <a:rect l="l" t="t" r="r" b="b"/>
            <a:pathLst>
              <a:path w="3182692" h="18288"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1983" y="8157"/>
                  <a:pt x="3182279" y="12125"/>
                  <a:pt x="3182692" y="18288"/>
                </a:cubicBezTo>
                <a:cubicBezTo>
                  <a:pt x="2998421" y="21742"/>
                  <a:pt x="2675038" y="19014"/>
                  <a:pt x="2482500" y="18288"/>
                </a:cubicBezTo>
                <a:cubicBezTo>
                  <a:pt x="2289962" y="17562"/>
                  <a:pt x="1930644" y="6834"/>
                  <a:pt x="1782308" y="18288"/>
                </a:cubicBezTo>
                <a:cubicBezTo>
                  <a:pt x="1633972" y="29742"/>
                  <a:pt x="1287388" y="-1992"/>
                  <a:pt x="1145769" y="18288"/>
                </a:cubicBezTo>
                <a:cubicBezTo>
                  <a:pt x="1004150" y="38568"/>
                  <a:pt x="256377" y="-37438"/>
                  <a:pt x="0" y="18288"/>
                </a:cubicBezTo>
                <a:cubicBezTo>
                  <a:pt x="-46" y="12483"/>
                  <a:pt x="-203" y="6491"/>
                  <a:pt x="0" y="0"/>
                </a:cubicBezTo>
                <a:close/>
              </a:path>
              <a:path w="3182692" h="18288"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428" y="4493"/>
                  <a:pt x="3183076" y="9472"/>
                  <a:pt x="3182692" y="18288"/>
                </a:cubicBezTo>
                <a:cubicBezTo>
                  <a:pt x="3039109" y="-12701"/>
                  <a:pt x="2823860" y="13848"/>
                  <a:pt x="2546154" y="18288"/>
                </a:cubicBezTo>
                <a:cubicBezTo>
                  <a:pt x="2268448" y="22728"/>
                  <a:pt x="2098674" y="5291"/>
                  <a:pt x="1845961" y="18288"/>
                </a:cubicBezTo>
                <a:cubicBezTo>
                  <a:pt x="1593248" y="31285"/>
                  <a:pt x="1456743" y="27560"/>
                  <a:pt x="1304904" y="18288"/>
                </a:cubicBezTo>
                <a:cubicBezTo>
                  <a:pt x="1153065" y="9016"/>
                  <a:pt x="947204" y="11126"/>
                  <a:pt x="668365" y="18288"/>
                </a:cubicBezTo>
                <a:cubicBezTo>
                  <a:pt x="389526" y="25450"/>
                  <a:pt x="288244" y="-4628"/>
                  <a:pt x="0" y="18288"/>
                </a:cubicBezTo>
                <a:cubicBezTo>
                  <a:pt x="843" y="9577"/>
                  <a:pt x="371" y="6900"/>
                  <a:pt x="0" y="0"/>
                </a:cubicBezTo>
                <a:close/>
              </a:path>
            </a:pathLst>
          </a:custGeom>
          <a:solidFill>
            <a:srgbClr val="FFFFFF"/>
          </a:solidFill>
          <a:ln w="38100" cap="rnd"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126" name="Google Shape;126;p6" descr="https://lh7-us.googleusercontent.com/UoC2TZLsLzpHDIIjtKrtGZk6JaRtQAFma4H6EtKSqVDTsRNPBMFUznhAWpIljVw5edreD8zuxn6XR89CEYpEpmqp5ZqZmueHsJfSkN3EZ1EDLIXed8FTrWlpspW6vP5GmI51-bK1MX-VkBy2QwWi27K5=s2048"/>
          <p:cNvPicPr preferRelativeResize="0"/>
          <p:nvPr/>
        </p:nvPicPr>
        <p:blipFill rotWithShape="1">
          <a:blip r:embed="rId3">
            <a:alphaModFix/>
          </a:blip>
          <a:srcRect/>
          <a:stretch/>
        </p:blipFill>
        <p:spPr>
          <a:xfrm>
            <a:off x="776382" y="3666145"/>
            <a:ext cx="7588949" cy="182134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txBox="1">
            <a:spLocks noGrp="1"/>
          </p:cNvSpPr>
          <p:nvPr>
            <p:ph type="title"/>
          </p:nvPr>
        </p:nvSpPr>
        <p:spPr>
          <a:xfrm>
            <a:off x="628649" y="365126"/>
            <a:ext cx="8431267"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The critical role of AI Infrastructure</a:t>
            </a:r>
            <a:endParaRPr/>
          </a:p>
        </p:txBody>
      </p:sp>
      <p:sp>
        <p:nvSpPr>
          <p:cNvPr id="132" name="Google Shape;132;p7"/>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fontScale="55000" lnSpcReduction="20000"/>
          </a:bodyPr>
          <a:lstStyle/>
          <a:p>
            <a:pPr marL="0" lvl="0" indent="0" algn="l" rtl="0">
              <a:lnSpc>
                <a:spcPct val="90000"/>
              </a:lnSpc>
              <a:spcBef>
                <a:spcPts val="0"/>
              </a:spcBef>
              <a:spcAft>
                <a:spcPts val="0"/>
              </a:spcAft>
              <a:buClr>
                <a:schemeClr val="dk1"/>
              </a:buClr>
              <a:buSzPct val="100000"/>
              <a:buNone/>
            </a:pPr>
            <a:r>
              <a:rPr lang="en-US" dirty="0"/>
              <a:t>AI Infrastructure is not just a technical foundation; it is a strategic asset that drives the success and innovation of AI projects. Its importance cannot be overstated, as it directly influences the efficiency, scalability, and effectiveness of AI solutions.</a:t>
            </a:r>
            <a:endParaRPr dirty="0"/>
          </a:p>
          <a:p>
            <a:pPr marL="228600" lvl="0" indent="-228600" algn="l" rtl="0">
              <a:lnSpc>
                <a:spcPct val="90000"/>
              </a:lnSpc>
              <a:spcBef>
                <a:spcPts val="1000"/>
              </a:spcBef>
              <a:spcAft>
                <a:spcPts val="0"/>
              </a:spcAft>
              <a:buClr>
                <a:schemeClr val="dk1"/>
              </a:buClr>
              <a:buSzPct val="100000"/>
              <a:buChar char="•"/>
            </a:pPr>
            <a:r>
              <a:rPr lang="en-US" b="1" dirty="0"/>
              <a:t>Enabling Advanced AI Capabilities:</a:t>
            </a:r>
            <a:r>
              <a:rPr lang="en-US" dirty="0"/>
              <a:t> AI Infrastructure provides the necessary computational power and resources to support advanced AI technologies, such as deep learning and machine learning, allowing for more complex and accurate models.</a:t>
            </a:r>
            <a:endParaRPr dirty="0"/>
          </a:p>
          <a:p>
            <a:pPr marL="228600" lvl="0" indent="-228600" algn="l" rtl="0">
              <a:lnSpc>
                <a:spcPct val="90000"/>
              </a:lnSpc>
              <a:spcBef>
                <a:spcPts val="1000"/>
              </a:spcBef>
              <a:spcAft>
                <a:spcPts val="0"/>
              </a:spcAft>
              <a:buClr>
                <a:schemeClr val="dk1"/>
              </a:buClr>
              <a:buSzPct val="100000"/>
              <a:buChar char="•"/>
            </a:pPr>
            <a:r>
              <a:rPr lang="en-US" b="1" dirty="0"/>
              <a:t>Scalability and Flexibility:</a:t>
            </a:r>
            <a:r>
              <a:rPr lang="en-US" dirty="0"/>
              <a:t> With the right infrastructure, organizations can scale their AI systems up or down based on demand, ensuring optimal performance and resource utilization. This flexibility is crucial for adapting to evolving business needs and data volumes.</a:t>
            </a:r>
            <a:endParaRPr dirty="0"/>
          </a:p>
          <a:p>
            <a:pPr marL="228600" lvl="0" indent="-228600" algn="l" rtl="0">
              <a:lnSpc>
                <a:spcPct val="90000"/>
              </a:lnSpc>
              <a:spcBef>
                <a:spcPts val="1000"/>
              </a:spcBef>
              <a:spcAft>
                <a:spcPts val="0"/>
              </a:spcAft>
              <a:buClr>
                <a:schemeClr val="dk1"/>
              </a:buClr>
              <a:buSzPct val="100000"/>
              <a:buChar char="•"/>
            </a:pPr>
            <a:r>
              <a:rPr lang="en-US" b="1" dirty="0"/>
              <a:t>Speed and Efficiency:</a:t>
            </a:r>
            <a:r>
              <a:rPr lang="en-US" dirty="0"/>
              <a:t> High-quality AI infrastructure can significantly reduce the time required for data processing and model training, leading to faster insights and quicker decision-making processes.</a:t>
            </a:r>
            <a:endParaRPr dirty="0"/>
          </a:p>
          <a:p>
            <a:pPr marL="228600" lvl="0" indent="-228600" algn="l" rtl="0">
              <a:lnSpc>
                <a:spcPct val="90000"/>
              </a:lnSpc>
              <a:spcBef>
                <a:spcPts val="1000"/>
              </a:spcBef>
              <a:spcAft>
                <a:spcPts val="0"/>
              </a:spcAft>
              <a:buClr>
                <a:schemeClr val="dk1"/>
              </a:buClr>
              <a:buSzPct val="100000"/>
              <a:buChar char="•"/>
            </a:pPr>
            <a:r>
              <a:rPr lang="en-US" b="1" dirty="0"/>
              <a:t>Innovation and Competitive Advantage:</a:t>
            </a:r>
            <a:r>
              <a:rPr lang="en-US" dirty="0"/>
              <a:t> Companies with robust AI infrastructure can more rapidly develop and deploy AI solutions, leading to innovation and a competitive edge in the market. It allows for experimenting with new AI models and techniques, driving forward technological advancements.</a:t>
            </a:r>
            <a:endParaRPr dirty="0"/>
          </a:p>
          <a:p>
            <a:pPr marL="228600" lvl="0" indent="-228600" algn="l" rtl="0">
              <a:lnSpc>
                <a:spcPct val="90000"/>
              </a:lnSpc>
              <a:spcBef>
                <a:spcPts val="1000"/>
              </a:spcBef>
              <a:spcAft>
                <a:spcPts val="0"/>
              </a:spcAft>
              <a:buClr>
                <a:schemeClr val="dk1"/>
              </a:buClr>
              <a:buSzPct val="100000"/>
              <a:buChar char="•"/>
            </a:pPr>
            <a:r>
              <a:rPr lang="en-US" b="1" dirty="0"/>
              <a:t>Risk Management and Reliability:</a:t>
            </a:r>
            <a:r>
              <a:rPr lang="en-US" dirty="0"/>
              <a:t> Reliable AI infrastructure ensures that AI systems are secure, compliant, and resilient, minimizing downtime and reducing the risks associated with data breaches, system failures, and other operational disruptions.</a:t>
            </a:r>
            <a:endParaRPr dirty="0"/>
          </a:p>
          <a:p>
            <a:pPr marL="228600" lvl="0" indent="-130810" algn="l" rtl="0">
              <a:lnSpc>
                <a:spcPct val="90000"/>
              </a:lnSpc>
              <a:spcBef>
                <a:spcPts val="1000"/>
              </a:spcBef>
              <a:spcAft>
                <a:spcPts val="0"/>
              </a:spcAft>
              <a:buClr>
                <a:schemeClr val="dk1"/>
              </a:buClr>
              <a:buSzPct val="100000"/>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D3D5D-5715-DDE4-85EA-9312562160B8}"/>
              </a:ext>
            </a:extLst>
          </p:cNvPr>
          <p:cNvSpPr>
            <a:spLocks noGrp="1"/>
          </p:cNvSpPr>
          <p:nvPr>
            <p:ph type="title"/>
          </p:nvPr>
        </p:nvSpPr>
        <p:spPr/>
        <p:txBody>
          <a:bodyPr/>
          <a:lstStyle/>
          <a:p>
            <a:r>
              <a:rPr lang="en-US" dirty="0"/>
              <a:t>Requirements</a:t>
            </a:r>
          </a:p>
        </p:txBody>
      </p:sp>
      <p:sp>
        <p:nvSpPr>
          <p:cNvPr id="3" name="Text Placeholder 2">
            <a:extLst>
              <a:ext uri="{FF2B5EF4-FFF2-40B4-BE49-F238E27FC236}">
                <a16:creationId xmlns:a16="http://schemas.microsoft.com/office/drawing/2014/main" id="{0F51DD9D-4530-3093-56DE-E224929FF310}"/>
              </a:ext>
            </a:extLst>
          </p:cNvPr>
          <p:cNvSpPr>
            <a:spLocks noGrp="1"/>
          </p:cNvSpPr>
          <p:nvPr>
            <p:ph type="body" idx="1"/>
          </p:nvPr>
        </p:nvSpPr>
        <p:spPr/>
        <p:txBody>
          <a:bodyPr/>
          <a:lstStyle/>
          <a:p>
            <a:r>
              <a:rPr lang="en-US" sz="2800" dirty="0"/>
              <a:t>Understand your requirements: Before starting, clearly define your AI objectives and the problems you want to solve. This will guide the design of your AI infrastructure, including what hardware and software you'll need.</a:t>
            </a:r>
            <a:endParaRPr lang="en-US" dirty="0"/>
          </a:p>
          <a:p>
            <a:endParaRPr lang="en-US" dirty="0"/>
          </a:p>
        </p:txBody>
      </p:sp>
    </p:spTree>
    <p:extLst>
      <p:ext uri="{BB962C8B-B14F-4D97-AF65-F5344CB8AC3E}">
        <p14:creationId xmlns:p14="http://schemas.microsoft.com/office/powerpoint/2010/main" val="2833694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6"/>
        <p:cNvGrpSpPr/>
        <p:nvPr/>
      </p:nvGrpSpPr>
      <p:grpSpPr>
        <a:xfrm>
          <a:off x="0" y="0"/>
          <a:ext cx="0" cy="0"/>
          <a:chOff x="0" y="0"/>
          <a:chExt cx="0" cy="0"/>
        </a:xfrm>
      </p:grpSpPr>
      <p:sp>
        <p:nvSpPr>
          <p:cNvPr id="137" name="Google Shape;137;p8"/>
          <p:cNvSpPr/>
          <p:nvPr/>
        </p:nvSpPr>
        <p:spPr>
          <a:xfrm>
            <a:off x="0" y="0"/>
            <a:ext cx="9144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8" name="Google Shape;138;p8"/>
          <p:cNvSpPr/>
          <p:nvPr/>
        </p:nvSpPr>
        <p:spPr>
          <a:xfrm flipH="1">
            <a:off x="0" y="-1"/>
            <a:ext cx="9143997" cy="1590742"/>
          </a:xfrm>
          <a:prstGeom prst="rect">
            <a:avLst/>
          </a:prstGeom>
          <a:gradFill>
            <a:gsLst>
              <a:gs pos="0">
                <a:srgbClr val="000000"/>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9" name="Google Shape;139;p8"/>
          <p:cNvSpPr/>
          <p:nvPr/>
        </p:nvSpPr>
        <p:spPr>
          <a:xfrm rot="10800000" flipH="1">
            <a:off x="-2" y="0"/>
            <a:ext cx="6086479" cy="1590742"/>
          </a:xfrm>
          <a:prstGeom prst="rect">
            <a:avLst/>
          </a:prstGeom>
          <a:gradFill>
            <a:gsLst>
              <a:gs pos="0">
                <a:srgbClr val="4472C4">
                  <a:alpha val="0"/>
                </a:srgbClr>
              </a:gs>
              <a:gs pos="20000">
                <a:srgbClr val="4472C4">
                  <a:alpha val="0"/>
                </a:srgbClr>
              </a:gs>
              <a:gs pos="100000">
                <a:srgbClr val="1F3864">
                  <a:alpha val="54509"/>
                </a:srgbClr>
              </a:gs>
            </a:gsLst>
            <a:lin ang="13800001"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0" name="Google Shape;140;p8"/>
          <p:cNvSpPr/>
          <p:nvPr/>
        </p:nvSpPr>
        <p:spPr>
          <a:xfrm flipH="1">
            <a:off x="6086474" y="-1"/>
            <a:ext cx="3057523" cy="1590742"/>
          </a:xfrm>
          <a:prstGeom prst="rect">
            <a:avLst/>
          </a:prstGeom>
          <a:gradFill>
            <a:gsLst>
              <a:gs pos="0">
                <a:srgbClr val="4472C4">
                  <a:alpha val="65490"/>
                </a:srgbClr>
              </a:gs>
              <a:gs pos="100000">
                <a:srgbClr val="000000">
                  <a:alpha val="29411"/>
                </a:srgbClr>
              </a:gs>
            </a:gsLst>
            <a:lin ang="13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1" name="Google Shape;141;p8"/>
          <p:cNvSpPr/>
          <p:nvPr/>
        </p:nvSpPr>
        <p:spPr>
          <a:xfrm>
            <a:off x="344512" y="-1"/>
            <a:ext cx="8799485" cy="1597433"/>
          </a:xfrm>
          <a:prstGeom prst="rect">
            <a:avLst/>
          </a:prstGeom>
          <a:gradFill>
            <a:gsLst>
              <a:gs pos="0">
                <a:srgbClr val="000000">
                  <a:alpha val="0"/>
                </a:srgbClr>
              </a:gs>
              <a:gs pos="50000">
                <a:srgbClr val="000000">
                  <a:alpha val="0"/>
                </a:srgbClr>
              </a:gs>
              <a:gs pos="99000">
                <a:srgbClr val="1F3864">
                  <a:alpha val="51372"/>
                </a:srgbClr>
              </a:gs>
              <a:gs pos="100000">
                <a:srgbClr val="1F3864">
                  <a:alpha val="51372"/>
                </a:srgbClr>
              </a:gs>
            </a:gsLst>
            <a:lin ang="16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2" name="Google Shape;142;p8"/>
          <p:cNvSpPr txBox="1">
            <a:spLocks noGrp="1"/>
          </p:cNvSpPr>
          <p:nvPr>
            <p:ph type="title"/>
          </p:nvPr>
        </p:nvSpPr>
        <p:spPr>
          <a:xfrm>
            <a:off x="1028699" y="294538"/>
            <a:ext cx="7421963" cy="103366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500">
                <a:solidFill>
                  <a:srgbClr val="FFFFFF"/>
                </a:solidFill>
              </a:rPr>
              <a:t>Elements of AI Infrastructure: Compute</a:t>
            </a:r>
            <a:endParaRPr/>
          </a:p>
        </p:txBody>
      </p:sp>
      <p:sp>
        <p:nvSpPr>
          <p:cNvPr id="143" name="Google Shape;143;p8"/>
          <p:cNvSpPr txBox="1">
            <a:spLocks noGrp="1"/>
          </p:cNvSpPr>
          <p:nvPr>
            <p:ph type="body" idx="1"/>
          </p:nvPr>
        </p:nvSpPr>
        <p:spPr>
          <a:xfrm>
            <a:off x="278891" y="2309053"/>
            <a:ext cx="4539997" cy="3683358"/>
          </a:xfrm>
          <a:prstGeom prst="rect">
            <a:avLst/>
          </a:prstGeom>
          <a:noFill/>
          <a:ln>
            <a:noFill/>
          </a:ln>
        </p:spPr>
        <p:txBody>
          <a:bodyPr spcFirstLastPara="1" wrap="square" lIns="91425" tIns="45700" rIns="91425" bIns="45700" anchor="ctr" anchorCtr="0">
            <a:normAutofit fontScale="92500" lnSpcReduction="20000"/>
          </a:bodyPr>
          <a:lstStyle/>
          <a:p>
            <a:pPr marL="228600" lvl="0" indent="-228600" algn="l" rtl="0">
              <a:lnSpc>
                <a:spcPct val="90000"/>
              </a:lnSpc>
              <a:spcBef>
                <a:spcPts val="0"/>
              </a:spcBef>
              <a:spcAft>
                <a:spcPts val="0"/>
              </a:spcAft>
              <a:buClr>
                <a:schemeClr val="dk1"/>
              </a:buClr>
              <a:buSzPts val="2800"/>
              <a:buChar char="•"/>
            </a:pPr>
            <a:r>
              <a:rPr lang="en-US" sz="1700" b="1" dirty="0"/>
              <a:t>Description:</a:t>
            </a:r>
            <a:r>
              <a:rPr lang="en-US" sz="1700" dirty="0"/>
              <a:t> Compute resources, such as CPUs (Central Processing Units), GPUs (Graphics Processing Units), and TPUs (Tensor Processing Units), provide the processing power necessary for running AI algorithms and models.</a:t>
            </a:r>
            <a:endParaRPr sz="1700" dirty="0"/>
          </a:p>
          <a:p>
            <a:pPr marL="228600" lvl="0" indent="-228600" algn="l" rtl="0">
              <a:lnSpc>
                <a:spcPct val="90000"/>
              </a:lnSpc>
              <a:spcBef>
                <a:spcPts val="1000"/>
              </a:spcBef>
              <a:spcAft>
                <a:spcPts val="0"/>
              </a:spcAft>
              <a:buClr>
                <a:schemeClr val="dk1"/>
              </a:buClr>
              <a:buSzPts val="2800"/>
              <a:buChar char="•"/>
            </a:pPr>
            <a:r>
              <a:rPr lang="en-US" sz="1700" b="1" dirty="0"/>
              <a:t>Role in AI:</a:t>
            </a:r>
            <a:r>
              <a:rPr lang="en-US" sz="1700" dirty="0"/>
              <a:t> They perform complex calculations at high speeds, which is crucial for tasks like training machine learning models, processing large datasets, and executing AI applications in real-time.</a:t>
            </a:r>
          </a:p>
          <a:p>
            <a:pPr marL="228600" indent="-228600">
              <a:buSzPts val="2800"/>
            </a:pPr>
            <a:r>
              <a:rPr lang="en-US" sz="1700" b="1" dirty="0"/>
              <a:t>Hardware selection</a:t>
            </a:r>
            <a:r>
              <a:rPr lang="en-US" sz="1700" dirty="0"/>
              <a:t>: AI workloads, especially deep learning, are computationally intensive and often benefit from specialized hardware. Graphics processing units (GPUs) are typically used for these tasks due to their parallel processing capabilities. Depending on your needs, you may also consider using tensor processing units (TPUs), or other specialized AI accelerators.</a:t>
            </a:r>
          </a:p>
          <a:p>
            <a:pPr marL="228600" lvl="0" indent="-228600" algn="l" rtl="0">
              <a:lnSpc>
                <a:spcPct val="90000"/>
              </a:lnSpc>
              <a:spcBef>
                <a:spcPts val="1000"/>
              </a:spcBef>
              <a:spcAft>
                <a:spcPts val="0"/>
              </a:spcAft>
              <a:buClr>
                <a:schemeClr val="dk1"/>
              </a:buClr>
              <a:buSzPts val="2800"/>
              <a:buChar char="•"/>
            </a:pPr>
            <a:endParaRPr dirty="0"/>
          </a:p>
          <a:p>
            <a:pPr marL="228600" lvl="0" indent="-50800" algn="l" rtl="0">
              <a:lnSpc>
                <a:spcPct val="90000"/>
              </a:lnSpc>
              <a:spcBef>
                <a:spcPts val="1000"/>
              </a:spcBef>
              <a:spcAft>
                <a:spcPts val="0"/>
              </a:spcAft>
              <a:buClr>
                <a:schemeClr val="dk1"/>
              </a:buClr>
              <a:buSzPts val="2800"/>
              <a:buNone/>
            </a:pPr>
            <a:endParaRPr sz="1700" dirty="0"/>
          </a:p>
        </p:txBody>
      </p:sp>
      <p:pic>
        <p:nvPicPr>
          <p:cNvPr id="1026" name="Picture 2" descr="What Is the Difference Between CPU vs. GPU vs. TPU? (Complete Overview –  Premio Inc">
            <a:extLst>
              <a:ext uri="{FF2B5EF4-FFF2-40B4-BE49-F238E27FC236}">
                <a16:creationId xmlns:a16="http://schemas.microsoft.com/office/drawing/2014/main" id="{85DC65C6-273D-6DC6-ABE3-F0E6268529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8329" y="2895613"/>
            <a:ext cx="4006230" cy="20970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7"/>
        <p:cNvGrpSpPr/>
        <p:nvPr/>
      </p:nvGrpSpPr>
      <p:grpSpPr>
        <a:xfrm>
          <a:off x="0" y="0"/>
          <a:ext cx="0" cy="0"/>
          <a:chOff x="0" y="0"/>
          <a:chExt cx="0" cy="0"/>
        </a:xfrm>
      </p:grpSpPr>
      <p:sp>
        <p:nvSpPr>
          <p:cNvPr id="148" name="Google Shape;148;p9"/>
          <p:cNvSpPr/>
          <p:nvPr/>
        </p:nvSpPr>
        <p:spPr>
          <a:xfrm>
            <a:off x="4572000" y="1773936"/>
            <a:ext cx="3722289" cy="334365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9" name="Google Shape;149;p9"/>
          <p:cNvSpPr/>
          <p:nvPr/>
        </p:nvSpPr>
        <p:spPr>
          <a:xfrm flipH="1">
            <a:off x="0" y="-1"/>
            <a:ext cx="9143997" cy="1590742"/>
          </a:xfrm>
          <a:prstGeom prst="rect">
            <a:avLst/>
          </a:prstGeom>
          <a:gradFill>
            <a:gsLst>
              <a:gs pos="0">
                <a:srgbClr val="000000"/>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0" name="Google Shape;150;p9"/>
          <p:cNvSpPr/>
          <p:nvPr/>
        </p:nvSpPr>
        <p:spPr>
          <a:xfrm rot="10800000" flipH="1">
            <a:off x="-2" y="0"/>
            <a:ext cx="6086479" cy="1590742"/>
          </a:xfrm>
          <a:prstGeom prst="rect">
            <a:avLst/>
          </a:prstGeom>
          <a:gradFill>
            <a:gsLst>
              <a:gs pos="0">
                <a:srgbClr val="4472C4">
                  <a:alpha val="0"/>
                </a:srgbClr>
              </a:gs>
              <a:gs pos="20000">
                <a:srgbClr val="4472C4">
                  <a:alpha val="0"/>
                </a:srgbClr>
              </a:gs>
              <a:gs pos="100000">
                <a:srgbClr val="1F3864">
                  <a:alpha val="54509"/>
                </a:srgbClr>
              </a:gs>
            </a:gsLst>
            <a:lin ang="13800001"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1" name="Google Shape;151;p9"/>
          <p:cNvSpPr/>
          <p:nvPr/>
        </p:nvSpPr>
        <p:spPr>
          <a:xfrm flipH="1">
            <a:off x="6086474" y="-1"/>
            <a:ext cx="3057523" cy="1590742"/>
          </a:xfrm>
          <a:prstGeom prst="rect">
            <a:avLst/>
          </a:prstGeom>
          <a:gradFill>
            <a:gsLst>
              <a:gs pos="0">
                <a:srgbClr val="4472C4">
                  <a:alpha val="65490"/>
                </a:srgbClr>
              </a:gs>
              <a:gs pos="100000">
                <a:srgbClr val="000000">
                  <a:alpha val="29411"/>
                </a:srgbClr>
              </a:gs>
            </a:gsLst>
            <a:lin ang="13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2" name="Google Shape;152;p9"/>
          <p:cNvSpPr/>
          <p:nvPr/>
        </p:nvSpPr>
        <p:spPr>
          <a:xfrm>
            <a:off x="344512" y="-1"/>
            <a:ext cx="8799485" cy="1597433"/>
          </a:xfrm>
          <a:prstGeom prst="rect">
            <a:avLst/>
          </a:prstGeom>
          <a:gradFill>
            <a:gsLst>
              <a:gs pos="0">
                <a:srgbClr val="000000">
                  <a:alpha val="0"/>
                </a:srgbClr>
              </a:gs>
              <a:gs pos="50000">
                <a:srgbClr val="000000">
                  <a:alpha val="0"/>
                </a:srgbClr>
              </a:gs>
              <a:gs pos="99000">
                <a:srgbClr val="1F3864">
                  <a:alpha val="51372"/>
                </a:srgbClr>
              </a:gs>
              <a:gs pos="100000">
                <a:srgbClr val="1F3864">
                  <a:alpha val="51372"/>
                </a:srgbClr>
              </a:gs>
            </a:gsLst>
            <a:lin ang="16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3" name="Google Shape;153;p9"/>
          <p:cNvSpPr txBox="1">
            <a:spLocks noGrp="1"/>
          </p:cNvSpPr>
          <p:nvPr>
            <p:ph type="title"/>
          </p:nvPr>
        </p:nvSpPr>
        <p:spPr>
          <a:xfrm>
            <a:off x="1028699" y="294538"/>
            <a:ext cx="7421963" cy="103366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500">
                <a:solidFill>
                  <a:srgbClr val="FFFFFF"/>
                </a:solidFill>
              </a:rPr>
              <a:t>Elements of AI Infrastructure: Storage</a:t>
            </a:r>
            <a:endParaRPr/>
          </a:p>
        </p:txBody>
      </p:sp>
      <p:pic>
        <p:nvPicPr>
          <p:cNvPr id="2050" name="Picture 2" descr="The diagram shows how data storage and accelerated compute is the foundation that makes model training and inferencing apps possible.">
            <a:extLst>
              <a:ext uri="{FF2B5EF4-FFF2-40B4-BE49-F238E27FC236}">
                <a16:creationId xmlns:a16="http://schemas.microsoft.com/office/drawing/2014/main" id="{0B3D0A67-2C3B-1499-D56B-FAF1EAA5C9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7176" y="2741413"/>
            <a:ext cx="4458208" cy="2507742"/>
          </a:xfrm>
          <a:prstGeom prst="rect">
            <a:avLst/>
          </a:prstGeom>
          <a:noFill/>
          <a:extLst>
            <a:ext uri="{909E8E84-426E-40DD-AFC4-6F175D3DCCD1}">
              <a14:hiddenFill xmlns:a14="http://schemas.microsoft.com/office/drawing/2010/main">
                <a:solidFill>
                  <a:srgbClr val="FFFFFF"/>
                </a:solidFill>
              </a14:hiddenFill>
            </a:ext>
          </a:extLst>
        </p:spPr>
      </p:pic>
      <p:sp>
        <p:nvSpPr>
          <p:cNvPr id="154" name="Google Shape;154;p9"/>
          <p:cNvSpPr txBox="1">
            <a:spLocks noGrp="1"/>
          </p:cNvSpPr>
          <p:nvPr>
            <p:ph type="body" idx="1"/>
          </p:nvPr>
        </p:nvSpPr>
        <p:spPr>
          <a:xfrm>
            <a:off x="255351" y="2391349"/>
            <a:ext cx="5170933" cy="3683358"/>
          </a:xfrm>
          <a:prstGeom prst="rect">
            <a:avLst/>
          </a:prstGeom>
          <a:noFill/>
          <a:ln>
            <a:noFill/>
          </a:ln>
        </p:spPr>
        <p:txBody>
          <a:bodyPr spcFirstLastPara="1" wrap="square" lIns="91425" tIns="45700" rIns="91425" bIns="45700" anchor="ctr" anchorCtr="0">
            <a:normAutofit/>
          </a:bodyPr>
          <a:lstStyle/>
          <a:p>
            <a:pPr marL="228600" lvl="0" indent="-228600" algn="l" rtl="0">
              <a:lnSpc>
                <a:spcPct val="90000"/>
              </a:lnSpc>
              <a:spcBef>
                <a:spcPts val="0"/>
              </a:spcBef>
              <a:spcAft>
                <a:spcPts val="0"/>
              </a:spcAft>
              <a:buClr>
                <a:schemeClr val="dk1"/>
              </a:buClr>
              <a:buSzPts val="2800"/>
              <a:buChar char="•"/>
            </a:pPr>
            <a:r>
              <a:rPr lang="en-US" sz="1600" dirty="0"/>
              <a:t>Storage solutions manage the vast amounts of data used and generated by AI systems. This includes everything from raw data storage to processed data and model storage.</a:t>
            </a:r>
            <a:endParaRPr sz="1600" dirty="0"/>
          </a:p>
          <a:p>
            <a:pPr marL="228600" lvl="0" indent="-228600" algn="l" rtl="0">
              <a:lnSpc>
                <a:spcPct val="90000"/>
              </a:lnSpc>
              <a:spcBef>
                <a:spcPts val="1000"/>
              </a:spcBef>
              <a:spcAft>
                <a:spcPts val="0"/>
              </a:spcAft>
              <a:buClr>
                <a:schemeClr val="dk1"/>
              </a:buClr>
              <a:buSzPts val="2800"/>
              <a:buChar char="•"/>
            </a:pPr>
            <a:r>
              <a:rPr lang="en-US" sz="1600" b="1" dirty="0"/>
              <a:t>Role in AI:</a:t>
            </a:r>
            <a:r>
              <a:rPr lang="en-US" sz="1600" dirty="0"/>
              <a:t> Efficient storage systems ensure quick access to data, facilitate data management, and support the iterative nature of AI model training and deployment.</a:t>
            </a:r>
          </a:p>
          <a:p>
            <a:pPr marL="228600" indent="-228600">
              <a:buSzPts val="2800"/>
            </a:pPr>
            <a:r>
              <a:rPr lang="en-US" sz="1600" dirty="0"/>
              <a:t>Data storage and management: AI systems need access to large amounts of data. This requires robust data storage and management solutions that can handle high volumes of data, ensure data quality, and provide fast, reliable access.</a:t>
            </a:r>
          </a:p>
          <a:p>
            <a:pPr marL="228600" lvl="0" indent="-228600" algn="l" rtl="0">
              <a:lnSpc>
                <a:spcPct val="90000"/>
              </a:lnSpc>
              <a:spcBef>
                <a:spcPts val="1000"/>
              </a:spcBef>
              <a:spcAft>
                <a:spcPts val="0"/>
              </a:spcAft>
              <a:buClr>
                <a:schemeClr val="dk1"/>
              </a:buClr>
              <a:buSzPts val="2800"/>
              <a:buChar char="•"/>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9" name="Rectangle 307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E40CF4-A3AB-5D21-0247-A9CDDA27C1D5}"/>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algn="ctr">
              <a:spcBef>
                <a:spcPct val="0"/>
              </a:spcBef>
            </a:pPr>
            <a:r>
              <a:rPr lang="en-US" sz="2800" kern="1200">
                <a:solidFill>
                  <a:schemeClr val="bg1"/>
                </a:solidFill>
                <a:latin typeface="+mj-lt"/>
                <a:ea typeface="+mj-ea"/>
                <a:cs typeface="+mj-cs"/>
              </a:rPr>
              <a:t>Data Hierarchy</a:t>
            </a:r>
          </a:p>
        </p:txBody>
      </p:sp>
      <p:pic>
        <p:nvPicPr>
          <p:cNvPr id="3074" name="Picture 2" descr="Diagram shows a data storage hierarchy pyramid with highly scalable storage devices at the bottom of the pyramid, scalable data fabric as the middle layer, and unscalable GPU memory at the top.">
            <a:extLst>
              <a:ext uri="{FF2B5EF4-FFF2-40B4-BE49-F238E27FC236}">
                <a16:creationId xmlns:a16="http://schemas.microsoft.com/office/drawing/2014/main" id="{890CDBFF-FA48-2E69-D983-692EA6431EE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66044" y="1675227"/>
            <a:ext cx="7811910" cy="4394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9234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8"/>
        <p:cNvGrpSpPr/>
        <p:nvPr/>
      </p:nvGrpSpPr>
      <p:grpSpPr>
        <a:xfrm>
          <a:off x="0" y="0"/>
          <a:ext cx="0" cy="0"/>
          <a:chOff x="0" y="0"/>
          <a:chExt cx="0" cy="0"/>
        </a:xfrm>
      </p:grpSpPr>
      <p:sp>
        <p:nvSpPr>
          <p:cNvPr id="159" name="Google Shape;159;p10"/>
          <p:cNvSpPr/>
          <p:nvPr/>
        </p:nvSpPr>
        <p:spPr>
          <a:xfrm>
            <a:off x="0" y="0"/>
            <a:ext cx="9144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0" name="Google Shape;160;p10"/>
          <p:cNvSpPr/>
          <p:nvPr/>
        </p:nvSpPr>
        <p:spPr>
          <a:xfrm flipH="1">
            <a:off x="0" y="-1"/>
            <a:ext cx="9143997" cy="1590742"/>
          </a:xfrm>
          <a:prstGeom prst="rect">
            <a:avLst/>
          </a:prstGeom>
          <a:gradFill>
            <a:gsLst>
              <a:gs pos="0">
                <a:srgbClr val="000000"/>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1" name="Google Shape;161;p10"/>
          <p:cNvSpPr/>
          <p:nvPr/>
        </p:nvSpPr>
        <p:spPr>
          <a:xfrm rot="10800000" flipH="1">
            <a:off x="-2" y="0"/>
            <a:ext cx="6086479" cy="1590742"/>
          </a:xfrm>
          <a:prstGeom prst="rect">
            <a:avLst/>
          </a:prstGeom>
          <a:gradFill>
            <a:gsLst>
              <a:gs pos="0">
                <a:srgbClr val="4472C4">
                  <a:alpha val="0"/>
                </a:srgbClr>
              </a:gs>
              <a:gs pos="20000">
                <a:srgbClr val="4472C4">
                  <a:alpha val="0"/>
                </a:srgbClr>
              </a:gs>
              <a:gs pos="100000">
                <a:srgbClr val="1F3864">
                  <a:alpha val="54509"/>
                </a:srgbClr>
              </a:gs>
            </a:gsLst>
            <a:lin ang="13800001"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2" name="Google Shape;162;p10"/>
          <p:cNvSpPr/>
          <p:nvPr/>
        </p:nvSpPr>
        <p:spPr>
          <a:xfrm flipH="1">
            <a:off x="6086474" y="-1"/>
            <a:ext cx="3057523" cy="1590742"/>
          </a:xfrm>
          <a:prstGeom prst="rect">
            <a:avLst/>
          </a:prstGeom>
          <a:gradFill>
            <a:gsLst>
              <a:gs pos="0">
                <a:srgbClr val="4472C4">
                  <a:alpha val="65490"/>
                </a:srgbClr>
              </a:gs>
              <a:gs pos="100000">
                <a:srgbClr val="000000">
                  <a:alpha val="29411"/>
                </a:srgbClr>
              </a:gs>
            </a:gsLst>
            <a:lin ang="13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3" name="Google Shape;163;p10"/>
          <p:cNvSpPr/>
          <p:nvPr/>
        </p:nvSpPr>
        <p:spPr>
          <a:xfrm>
            <a:off x="344512" y="-1"/>
            <a:ext cx="8799485" cy="1597433"/>
          </a:xfrm>
          <a:prstGeom prst="rect">
            <a:avLst/>
          </a:prstGeom>
          <a:gradFill>
            <a:gsLst>
              <a:gs pos="0">
                <a:srgbClr val="000000">
                  <a:alpha val="0"/>
                </a:srgbClr>
              </a:gs>
              <a:gs pos="50000">
                <a:srgbClr val="000000">
                  <a:alpha val="0"/>
                </a:srgbClr>
              </a:gs>
              <a:gs pos="99000">
                <a:srgbClr val="1F3864">
                  <a:alpha val="51372"/>
                </a:srgbClr>
              </a:gs>
              <a:gs pos="100000">
                <a:srgbClr val="1F3864">
                  <a:alpha val="51372"/>
                </a:srgbClr>
              </a:gs>
            </a:gsLst>
            <a:lin ang="16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4" name="Google Shape;164;p10"/>
          <p:cNvSpPr txBox="1">
            <a:spLocks noGrp="1"/>
          </p:cNvSpPr>
          <p:nvPr>
            <p:ph type="title"/>
          </p:nvPr>
        </p:nvSpPr>
        <p:spPr>
          <a:xfrm>
            <a:off x="1028699" y="294538"/>
            <a:ext cx="7421963" cy="103366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200">
                <a:solidFill>
                  <a:srgbClr val="FFFFFF"/>
                </a:solidFill>
              </a:rPr>
              <a:t>Elements of AI Infrastructure: Networking</a:t>
            </a:r>
            <a:endParaRPr/>
          </a:p>
        </p:txBody>
      </p:sp>
      <p:sp>
        <p:nvSpPr>
          <p:cNvPr id="165" name="Google Shape;165;p10"/>
          <p:cNvSpPr txBox="1">
            <a:spLocks noGrp="1"/>
          </p:cNvSpPr>
          <p:nvPr>
            <p:ph type="body" idx="1"/>
          </p:nvPr>
        </p:nvSpPr>
        <p:spPr>
          <a:xfrm>
            <a:off x="1028699" y="2318197"/>
            <a:ext cx="7293023" cy="3683358"/>
          </a:xfrm>
          <a:prstGeom prst="rect">
            <a:avLst/>
          </a:prstGeom>
          <a:noFill/>
          <a:ln>
            <a:noFill/>
          </a:ln>
        </p:spPr>
        <p:txBody>
          <a:bodyPr spcFirstLastPara="1" wrap="square" lIns="91425" tIns="45700" rIns="91425" bIns="45700" anchor="ctr" anchorCtr="0">
            <a:normAutofit/>
          </a:bodyPr>
          <a:lstStyle/>
          <a:p>
            <a:pPr marL="228600" lvl="0" indent="-228600" algn="l" rtl="0">
              <a:lnSpc>
                <a:spcPct val="90000"/>
              </a:lnSpc>
              <a:spcBef>
                <a:spcPts val="0"/>
              </a:spcBef>
              <a:spcAft>
                <a:spcPts val="0"/>
              </a:spcAft>
              <a:buClr>
                <a:schemeClr val="dk1"/>
              </a:buClr>
              <a:buSzPts val="2800"/>
              <a:buChar char="•"/>
            </a:pPr>
            <a:r>
              <a:rPr lang="en-US" sz="1600" dirty="0"/>
              <a:t>Networking infrastructure connects the various parts of AI systems, enabling data transfer and communication between compute nodes, data storage, and end-users.</a:t>
            </a:r>
            <a:endParaRPr sz="1600" dirty="0"/>
          </a:p>
          <a:p>
            <a:pPr marL="228600" lvl="0" indent="-228600" algn="l" rtl="0">
              <a:lnSpc>
                <a:spcPct val="90000"/>
              </a:lnSpc>
              <a:spcBef>
                <a:spcPts val="1000"/>
              </a:spcBef>
              <a:spcAft>
                <a:spcPts val="0"/>
              </a:spcAft>
              <a:buClr>
                <a:schemeClr val="dk1"/>
              </a:buClr>
              <a:buSzPts val="2800"/>
              <a:buChar char="•"/>
            </a:pPr>
            <a:r>
              <a:rPr lang="en-US" sz="1600" b="1" dirty="0"/>
              <a:t>Role in AI:</a:t>
            </a:r>
            <a:r>
              <a:rPr lang="en-US" sz="1600" dirty="0"/>
              <a:t> High-speed and reliable networking are vital for data-intensive AI tasks, ensuring that data flows seamlessly across the infrastructure without bottlenecks, which is essential for real-time analytics and cloud-based AI services.</a:t>
            </a:r>
          </a:p>
          <a:p>
            <a:pPr marL="228600" indent="-228600">
              <a:buSzPts val="2800"/>
            </a:pPr>
            <a:r>
              <a:rPr lang="en-US" sz="1600" dirty="0"/>
              <a:t>Networking: Efficient data flow is crucial in AI systems. High-bandwidth, low-latency networks can help move data quickly between where it's stored and where it's processed.</a:t>
            </a:r>
          </a:p>
          <a:p>
            <a:pPr marL="0" lvl="0" indent="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9"/>
        <p:cNvGrpSpPr/>
        <p:nvPr/>
      </p:nvGrpSpPr>
      <p:grpSpPr>
        <a:xfrm>
          <a:off x="0" y="0"/>
          <a:ext cx="0" cy="0"/>
          <a:chOff x="0" y="0"/>
          <a:chExt cx="0" cy="0"/>
        </a:xfrm>
      </p:grpSpPr>
      <p:sp>
        <p:nvSpPr>
          <p:cNvPr id="170" name="Google Shape;170;p11"/>
          <p:cNvSpPr/>
          <p:nvPr/>
        </p:nvSpPr>
        <p:spPr>
          <a:xfrm>
            <a:off x="0" y="0"/>
            <a:ext cx="9144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1" name="Google Shape;171;p11"/>
          <p:cNvSpPr/>
          <p:nvPr/>
        </p:nvSpPr>
        <p:spPr>
          <a:xfrm flipH="1">
            <a:off x="0" y="-1"/>
            <a:ext cx="9143997" cy="1590742"/>
          </a:xfrm>
          <a:prstGeom prst="rect">
            <a:avLst/>
          </a:prstGeom>
          <a:gradFill>
            <a:gsLst>
              <a:gs pos="0">
                <a:srgbClr val="000000"/>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2" name="Google Shape;172;p11"/>
          <p:cNvSpPr/>
          <p:nvPr/>
        </p:nvSpPr>
        <p:spPr>
          <a:xfrm rot="10800000" flipH="1">
            <a:off x="-2" y="0"/>
            <a:ext cx="6086479" cy="1590742"/>
          </a:xfrm>
          <a:prstGeom prst="rect">
            <a:avLst/>
          </a:prstGeom>
          <a:gradFill>
            <a:gsLst>
              <a:gs pos="0">
                <a:srgbClr val="4472C4">
                  <a:alpha val="0"/>
                </a:srgbClr>
              </a:gs>
              <a:gs pos="20000">
                <a:srgbClr val="4472C4">
                  <a:alpha val="0"/>
                </a:srgbClr>
              </a:gs>
              <a:gs pos="100000">
                <a:srgbClr val="1F3864">
                  <a:alpha val="54509"/>
                </a:srgbClr>
              </a:gs>
            </a:gsLst>
            <a:lin ang="13800001"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3" name="Google Shape;173;p11"/>
          <p:cNvSpPr/>
          <p:nvPr/>
        </p:nvSpPr>
        <p:spPr>
          <a:xfrm flipH="1">
            <a:off x="6086474" y="-1"/>
            <a:ext cx="3057523" cy="1590742"/>
          </a:xfrm>
          <a:prstGeom prst="rect">
            <a:avLst/>
          </a:prstGeom>
          <a:gradFill>
            <a:gsLst>
              <a:gs pos="0">
                <a:srgbClr val="4472C4">
                  <a:alpha val="65490"/>
                </a:srgbClr>
              </a:gs>
              <a:gs pos="100000">
                <a:srgbClr val="000000">
                  <a:alpha val="29411"/>
                </a:srgbClr>
              </a:gs>
            </a:gsLst>
            <a:lin ang="13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4" name="Google Shape;174;p11"/>
          <p:cNvSpPr/>
          <p:nvPr/>
        </p:nvSpPr>
        <p:spPr>
          <a:xfrm>
            <a:off x="344512" y="-1"/>
            <a:ext cx="8799485" cy="1597433"/>
          </a:xfrm>
          <a:prstGeom prst="rect">
            <a:avLst/>
          </a:prstGeom>
          <a:gradFill>
            <a:gsLst>
              <a:gs pos="0">
                <a:srgbClr val="000000">
                  <a:alpha val="0"/>
                </a:srgbClr>
              </a:gs>
              <a:gs pos="50000">
                <a:srgbClr val="000000">
                  <a:alpha val="0"/>
                </a:srgbClr>
              </a:gs>
              <a:gs pos="99000">
                <a:srgbClr val="1F3864">
                  <a:alpha val="51372"/>
                </a:srgbClr>
              </a:gs>
              <a:gs pos="100000">
                <a:srgbClr val="1F3864">
                  <a:alpha val="51372"/>
                </a:srgbClr>
              </a:gs>
            </a:gsLst>
            <a:lin ang="16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5" name="Google Shape;175;p11"/>
          <p:cNvSpPr txBox="1">
            <a:spLocks noGrp="1"/>
          </p:cNvSpPr>
          <p:nvPr>
            <p:ph type="title"/>
          </p:nvPr>
        </p:nvSpPr>
        <p:spPr>
          <a:xfrm>
            <a:off x="1028699" y="294538"/>
            <a:ext cx="7421963" cy="103366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200">
                <a:solidFill>
                  <a:srgbClr val="FFFFFF"/>
                </a:solidFill>
              </a:rPr>
              <a:t>Elements of AI Infrastructure: Software &amp; Frameworks</a:t>
            </a:r>
            <a:endParaRPr/>
          </a:p>
        </p:txBody>
      </p:sp>
      <p:sp>
        <p:nvSpPr>
          <p:cNvPr id="176" name="Google Shape;176;p11"/>
          <p:cNvSpPr txBox="1">
            <a:spLocks noGrp="1"/>
          </p:cNvSpPr>
          <p:nvPr>
            <p:ph type="body" idx="1"/>
          </p:nvPr>
        </p:nvSpPr>
        <p:spPr>
          <a:xfrm>
            <a:off x="1028699" y="2318197"/>
            <a:ext cx="7293023" cy="3683358"/>
          </a:xfrm>
          <a:prstGeom prst="rect">
            <a:avLst/>
          </a:prstGeom>
          <a:noFill/>
          <a:ln>
            <a:noFill/>
          </a:ln>
        </p:spPr>
        <p:txBody>
          <a:bodyPr spcFirstLastPara="1" wrap="square" lIns="91425" tIns="45700" rIns="91425" bIns="45700" anchor="ctr" anchorCtr="0">
            <a:normAutofit/>
          </a:bodyPr>
          <a:lstStyle/>
          <a:p>
            <a:pPr marL="228600" lvl="0" indent="-228600" algn="l" rtl="0">
              <a:lnSpc>
                <a:spcPct val="90000"/>
              </a:lnSpc>
              <a:spcBef>
                <a:spcPts val="0"/>
              </a:spcBef>
              <a:spcAft>
                <a:spcPts val="0"/>
              </a:spcAft>
              <a:buClr>
                <a:schemeClr val="dk1"/>
              </a:buClr>
              <a:buSzPts val="2800"/>
              <a:buChar char="•"/>
            </a:pPr>
            <a:r>
              <a:rPr lang="en-US" sz="1900" dirty="0"/>
              <a:t>This includes the operating systems, AI frameworks (like TensorFlow or </a:t>
            </a:r>
            <a:r>
              <a:rPr lang="en-US" sz="1900" dirty="0" err="1"/>
              <a:t>PyTorch</a:t>
            </a:r>
            <a:r>
              <a:rPr lang="en-US" sz="1900" dirty="0"/>
              <a:t>), and development tools that provide the environment for building and running AI models.</a:t>
            </a:r>
            <a:endParaRPr sz="1900" dirty="0"/>
          </a:p>
          <a:p>
            <a:pPr marL="228600" lvl="0" indent="-228600" algn="l" rtl="0">
              <a:lnSpc>
                <a:spcPct val="90000"/>
              </a:lnSpc>
              <a:spcBef>
                <a:spcPts val="1000"/>
              </a:spcBef>
              <a:spcAft>
                <a:spcPts val="0"/>
              </a:spcAft>
              <a:buClr>
                <a:schemeClr val="dk1"/>
              </a:buClr>
              <a:buSzPts val="2800"/>
              <a:buChar char="•"/>
            </a:pPr>
            <a:r>
              <a:rPr lang="en-US" sz="1900" b="1" dirty="0"/>
              <a:t>Role in AI:</a:t>
            </a:r>
            <a:r>
              <a:rPr lang="en-US" sz="1900" dirty="0"/>
              <a:t> These software tools and frameworks facilitate the development, training, and deployment of AI models, offering libraries and functions that accelerate the AI development process.</a:t>
            </a:r>
          </a:p>
          <a:p>
            <a:pPr marL="228600" indent="-228600">
              <a:buSzPts val="2800"/>
            </a:pPr>
            <a:r>
              <a:rPr lang="en-US" sz="1900" dirty="0"/>
              <a:t>Software stack: Your AI infrastructure will need a software stack that includes machine learning libraries and frameworks (like TensorFlow, </a:t>
            </a:r>
            <a:r>
              <a:rPr lang="en-US" sz="1900" dirty="0" err="1"/>
              <a:t>PyTorch</a:t>
            </a:r>
            <a:r>
              <a:rPr lang="en-US" sz="1900" dirty="0"/>
              <a:t>, or Scikit-learn), a programming language (like Python), and possibly a distributed computing platform (like Apache Spark or Hadoop). You'll also need tools for data preparation and cleaning, as well as for monitoring and managing your AI workloads.</a:t>
            </a:r>
          </a:p>
          <a:p>
            <a:pPr marL="228600" lvl="0" indent="-228600" algn="l" rtl="0">
              <a:lnSpc>
                <a:spcPct val="90000"/>
              </a:lnSpc>
              <a:spcBef>
                <a:spcPts val="1000"/>
              </a:spcBef>
              <a:spcAft>
                <a:spcPts val="0"/>
              </a:spcAft>
              <a:buClr>
                <a:schemeClr val="dk1"/>
              </a:buClr>
              <a:buSzPts val="2800"/>
              <a:buChar char="•"/>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5"/>
        <p:cNvGrpSpPr/>
        <p:nvPr/>
      </p:nvGrpSpPr>
      <p:grpSpPr>
        <a:xfrm>
          <a:off x="0" y="0"/>
          <a:ext cx="0" cy="0"/>
          <a:chOff x="0" y="0"/>
          <a:chExt cx="0" cy="0"/>
        </a:xfrm>
      </p:grpSpPr>
      <p:sp>
        <p:nvSpPr>
          <p:cNvPr id="196" name="Google Shape;196;p27"/>
          <p:cNvSpPr/>
          <p:nvPr/>
        </p:nvSpPr>
        <p:spPr>
          <a:xfrm>
            <a:off x="0" y="0"/>
            <a:ext cx="9144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7" name="Google Shape;197;p27"/>
          <p:cNvSpPr txBox="1">
            <a:spLocks noGrp="1"/>
          </p:cNvSpPr>
          <p:nvPr>
            <p:ph type="title"/>
          </p:nvPr>
        </p:nvSpPr>
        <p:spPr>
          <a:xfrm>
            <a:off x="571350" y="762001"/>
            <a:ext cx="4000647" cy="170824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sz="3500" dirty="0"/>
              <a:t>Building AI Infrastructure – Cloud or On-Prem</a:t>
            </a:r>
            <a:endParaRPr dirty="0"/>
          </a:p>
        </p:txBody>
      </p:sp>
      <p:sp>
        <p:nvSpPr>
          <p:cNvPr id="198" name="Google Shape;198;p27"/>
          <p:cNvSpPr txBox="1">
            <a:spLocks noGrp="1"/>
          </p:cNvSpPr>
          <p:nvPr>
            <p:ph type="body" idx="1"/>
          </p:nvPr>
        </p:nvSpPr>
        <p:spPr>
          <a:xfrm>
            <a:off x="399500" y="2956275"/>
            <a:ext cx="4500900" cy="3372900"/>
          </a:xfrm>
          <a:prstGeom prst="rect">
            <a:avLst/>
          </a:prstGeom>
          <a:noFill/>
          <a:ln>
            <a:noFill/>
          </a:ln>
        </p:spPr>
        <p:txBody>
          <a:bodyPr spcFirstLastPara="1" wrap="square" lIns="91425" tIns="45700" rIns="91425" bIns="45700" anchor="ctr" anchorCtr="0">
            <a:noAutofit/>
          </a:bodyPr>
          <a:lstStyle/>
          <a:p>
            <a:pPr marL="457200" lvl="0" indent="-247650" algn="l" rtl="0">
              <a:lnSpc>
                <a:spcPct val="90000"/>
              </a:lnSpc>
              <a:spcBef>
                <a:spcPts val="1000"/>
              </a:spcBef>
              <a:spcAft>
                <a:spcPts val="0"/>
              </a:spcAft>
              <a:buSzPts val="300"/>
              <a:buChar char="●"/>
            </a:pPr>
            <a:r>
              <a:rPr lang="en-US" sz="1600" dirty="0"/>
              <a:t>Cloud or on-premises: Decide whether to build your AI infrastructure in the cloud or on-premises. The cloud offers flexibility and scalability, but on-premises solutions may provide more control and better performance for certain workloads.</a:t>
            </a:r>
            <a:endParaRPr sz="1600" dirty="0"/>
          </a:p>
          <a:p>
            <a:pPr marL="457200" lvl="0" indent="-247650" algn="l" rtl="0">
              <a:lnSpc>
                <a:spcPct val="90000"/>
              </a:lnSpc>
              <a:spcBef>
                <a:spcPts val="1000"/>
              </a:spcBef>
              <a:spcAft>
                <a:spcPts val="0"/>
              </a:spcAft>
              <a:buSzPts val="300"/>
              <a:buChar char="●"/>
            </a:pPr>
            <a:r>
              <a:rPr lang="en-US" sz="1600" dirty="0"/>
              <a:t>Scalability: Design your AI infrastructure to be scalable to handle increasing data volumes and more complex AI models. This might involve using distributed computing or taking advantage of the elastic resources available in the cloud.</a:t>
            </a:r>
            <a:endParaRPr sz="1600" dirty="0"/>
          </a:p>
        </p:txBody>
      </p:sp>
      <p:pic>
        <p:nvPicPr>
          <p:cNvPr id="199" name="Google Shape;199;p27" descr="Blue blocks and networks technology background"/>
          <p:cNvPicPr preferRelativeResize="0"/>
          <p:nvPr/>
        </p:nvPicPr>
        <p:blipFill rotWithShape="1">
          <a:blip r:embed="rId3">
            <a:alphaModFix/>
          </a:blip>
          <a:srcRect l="18164" r="49073" b="-448"/>
          <a:stretch/>
        </p:blipFill>
        <p:spPr>
          <a:xfrm>
            <a:off x="5143347" y="-10886"/>
            <a:ext cx="4000653" cy="6868886"/>
          </a:xfrm>
          <a:prstGeom prst="rect">
            <a:avLst/>
          </a:prstGeom>
          <a:noFill/>
          <a:ln>
            <a:noFill/>
          </a:ln>
          <a:effectLst>
            <a:outerShdw blurRad="127000" dist="50800" dir="10800000" sx="99000" sy="99000" algn="r" rotWithShape="0">
              <a:srgbClr val="000000">
                <a:alpha val="4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C9D2D-8F78-6307-E3A0-B5CFADDB5327}"/>
              </a:ext>
            </a:extLst>
          </p:cNvPr>
          <p:cNvSpPr>
            <a:spLocks noGrp="1"/>
          </p:cNvSpPr>
          <p:nvPr>
            <p:ph type="title"/>
          </p:nvPr>
        </p:nvSpPr>
        <p:spPr/>
        <p:txBody>
          <a:bodyPr/>
          <a:lstStyle/>
          <a:p>
            <a:r>
              <a:rPr lang="en-US" sz="4400" dirty="0"/>
              <a:t>Building AI Infrastructure – Cloud or On-Prem</a:t>
            </a:r>
            <a:endParaRPr lang="en-US" dirty="0"/>
          </a:p>
        </p:txBody>
      </p:sp>
      <p:sp>
        <p:nvSpPr>
          <p:cNvPr id="3" name="Text Placeholder 2">
            <a:extLst>
              <a:ext uri="{FF2B5EF4-FFF2-40B4-BE49-F238E27FC236}">
                <a16:creationId xmlns:a16="http://schemas.microsoft.com/office/drawing/2014/main" id="{B03CD4B5-5933-DF81-3F57-27A5963814CB}"/>
              </a:ext>
            </a:extLst>
          </p:cNvPr>
          <p:cNvSpPr>
            <a:spLocks noGrp="1"/>
          </p:cNvSpPr>
          <p:nvPr>
            <p:ph type="body" idx="1"/>
          </p:nvPr>
        </p:nvSpPr>
        <p:spPr/>
        <p:txBody>
          <a:bodyPr>
            <a:normAutofit fontScale="85000" lnSpcReduction="20000"/>
          </a:bodyPr>
          <a:lstStyle/>
          <a:p>
            <a:pPr marL="457200" lvl="0" indent="-247650" algn="l" rtl="0">
              <a:lnSpc>
                <a:spcPct val="90000"/>
              </a:lnSpc>
              <a:spcBef>
                <a:spcPts val="1000"/>
              </a:spcBef>
              <a:spcAft>
                <a:spcPts val="0"/>
              </a:spcAft>
              <a:buSzPts val="300"/>
              <a:buChar char="●"/>
            </a:pPr>
            <a:r>
              <a:rPr lang="en-US" sz="2800" dirty="0"/>
              <a:t>Security and compliance: Implement security measures to protect your data and AI systems, and ensure that your AI infrastructure complies with any relevant laws and regulations, especially if you're dealing with sensitive or personal data.</a:t>
            </a:r>
            <a:endParaRPr lang="en-US" sz="6000" dirty="0"/>
          </a:p>
          <a:p>
            <a:pPr marL="457200" lvl="0" indent="-247650" algn="l" rtl="0">
              <a:lnSpc>
                <a:spcPct val="90000"/>
              </a:lnSpc>
              <a:spcBef>
                <a:spcPts val="1000"/>
              </a:spcBef>
              <a:spcAft>
                <a:spcPts val="0"/>
              </a:spcAft>
              <a:buSzPts val="300"/>
              <a:buChar char="●"/>
            </a:pPr>
            <a:r>
              <a:rPr lang="en-US" sz="2800" dirty="0"/>
              <a:t>Implementation: Once you've designed your AI infrastructure, you'll need to implement it. This involves setting up your hardware, installing and configuring your software, and testing everything to ensure it works as expected.</a:t>
            </a:r>
            <a:endParaRPr lang="en-US" sz="6000" dirty="0"/>
          </a:p>
          <a:p>
            <a:pPr marL="457200" lvl="0" indent="-247650" algn="l" rtl="0">
              <a:lnSpc>
                <a:spcPct val="90000"/>
              </a:lnSpc>
              <a:spcBef>
                <a:spcPts val="1000"/>
              </a:spcBef>
              <a:spcAft>
                <a:spcPts val="0"/>
              </a:spcAft>
              <a:buSzPts val="300"/>
              <a:buChar char="●"/>
            </a:pPr>
            <a:r>
              <a:rPr lang="en-US" sz="2800" dirty="0"/>
              <a:t>Maintenance and monitoring: Once your AI infrastructure is in place, you'll need to maintain and monitor it to ensure it continues to perform well. This includes regularly updating software, checking system health, and tuning performance.</a:t>
            </a:r>
            <a:endParaRPr lang="en-US" sz="6000" dirty="0"/>
          </a:p>
          <a:p>
            <a:endParaRPr lang="en-US" dirty="0"/>
          </a:p>
        </p:txBody>
      </p:sp>
    </p:spTree>
    <p:extLst>
      <p:ext uri="{BB962C8B-B14F-4D97-AF65-F5344CB8AC3E}">
        <p14:creationId xmlns:p14="http://schemas.microsoft.com/office/powerpoint/2010/main" val="4087133887"/>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TotalTime>
  <Words>1598</Words>
  <Application>Microsoft Office PowerPoint</Application>
  <PresentationFormat>On-screen Show (4:3)</PresentationFormat>
  <Paragraphs>69</Paragraphs>
  <Slides>12</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inherit</vt:lpstr>
      <vt:lpstr>NVIDIA Sans</vt:lpstr>
      <vt:lpstr>Office Theme</vt:lpstr>
      <vt:lpstr>AI Infrastructure</vt:lpstr>
      <vt:lpstr>5 Key components AI Infrastructure</vt:lpstr>
      <vt:lpstr>AI Infrastructure</vt:lpstr>
      <vt:lpstr>The critical role of AI Infrastructure</vt:lpstr>
      <vt:lpstr>Requirements</vt:lpstr>
      <vt:lpstr>Elements of AI Infrastructure: Compute</vt:lpstr>
      <vt:lpstr>Elements of AI Infrastructure: Storage</vt:lpstr>
      <vt:lpstr>Data Hierarchy</vt:lpstr>
      <vt:lpstr>Elements of AI Infrastructure: Networking</vt:lpstr>
      <vt:lpstr>Elements of AI Infrastructure: Software &amp; Frameworks</vt:lpstr>
      <vt:lpstr>Building AI Infrastructure – Cloud or On-Prem</vt:lpstr>
      <vt:lpstr>Building AI Infrastructure – Cloud or On-Prem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Ioannis Papapanagiotou</dc:creator>
  <cp:lastModifiedBy>Ioannis Papapanagiotou</cp:lastModifiedBy>
  <cp:revision>5</cp:revision>
  <dcterms:created xsi:type="dcterms:W3CDTF">2020-04-05T15:03:49Z</dcterms:created>
  <dcterms:modified xsi:type="dcterms:W3CDTF">2024-12-22T01:20:49Z</dcterms:modified>
</cp:coreProperties>
</file>