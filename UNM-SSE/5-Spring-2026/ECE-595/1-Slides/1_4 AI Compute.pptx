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8" r:id="rId3"/>
    <p:sldId id="268" r:id="rId4"/>
    <p:sldId id="259" r:id="rId5"/>
    <p:sldId id="261" r:id="rId6"/>
    <p:sldId id="269" r:id="rId7"/>
    <p:sldId id="260" r:id="rId8"/>
    <p:sldId id="262" r:id="rId9"/>
    <p:sldId id="270" r:id="rId10"/>
    <p:sldId id="263" r:id="rId11"/>
    <p:sldId id="264" r:id="rId12"/>
    <p:sldId id="273" r:id="rId13"/>
    <p:sldId id="274" r:id="rId14"/>
    <p:sldId id="275" r:id="rId15"/>
    <p:sldId id="276" r:id="rId16"/>
    <p:sldId id="277" r:id="rId17"/>
    <p:sldId id="278" r:id="rId18"/>
    <p:sldId id="265" r:id="rId19"/>
    <p:sldId id="267" r:id="rId20"/>
    <p:sldId id="272" r:id="rId21"/>
  </p:sldIdLst>
  <p:sldSz cx="9144000" cy="6858000" type="screen4x3"/>
  <p:notesSz cx="6858000" cy="9144000"/>
  <p:embeddedFontLst>
    <p:embeddedFont>
      <p:font typeface="Georgia" panose="02040502050405020303" pitchFamily="18"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gikUHbJcE4elXKVQyERLHAEgjS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69"/>
  </p:normalViewPr>
  <p:slideViewPr>
    <p:cSldViewPr snapToGrid="0">
      <p:cViewPr varScale="1">
        <p:scale>
          <a:sx n="150" d="100"/>
          <a:sy n="150" d="100"/>
        </p:scale>
        <p:origin x="1212"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03" name="Google Shape;103;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35F69D27-BD27-D9CA-5605-9E220D117741}"/>
            </a:ext>
          </a:extLst>
        </p:cNvPr>
        <p:cNvGrpSpPr/>
        <p:nvPr/>
      </p:nvGrpSpPr>
      <p:grpSpPr>
        <a:xfrm>
          <a:off x="0" y="0"/>
          <a:ext cx="0" cy="0"/>
          <a:chOff x="0" y="0"/>
          <a:chExt cx="0" cy="0"/>
        </a:xfrm>
      </p:grpSpPr>
      <p:sp>
        <p:nvSpPr>
          <p:cNvPr id="121" name="Google Shape;121;p6:notes">
            <a:extLst>
              <a:ext uri="{FF2B5EF4-FFF2-40B4-BE49-F238E27FC236}">
                <a16:creationId xmlns:a16="http://schemas.microsoft.com/office/drawing/2014/main" id="{EFFD5762-E45F-FB5A-56D3-4A73942CC1B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6:notes">
            <a:extLst>
              <a:ext uri="{FF2B5EF4-FFF2-40B4-BE49-F238E27FC236}">
                <a16:creationId xmlns:a16="http://schemas.microsoft.com/office/drawing/2014/main" id="{2588A996-C7FA-4FC9-F5A4-9F9607B8A6B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1186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c71adec0ba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c71adec0ba_0_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g2c71adec0ba_0_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968357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c71adec0ba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c71adec0ba_0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g2c71adec0ba_0_1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2c71adec0b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2c71adec0ba_0_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g2c71adec0ba_0_2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c71adec0ba_0_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c71adec0ba_0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https://medium.com/@craigadebanji46/npu-vs-tpu-the-future-of-ai-hardware-explained-c532c12913fd</a:t>
            </a:r>
            <a:endParaRPr/>
          </a:p>
        </p:txBody>
      </p:sp>
      <p:sp>
        <p:nvSpPr>
          <p:cNvPr id="172" name="Google Shape;172;g2c71adec0ba_0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9"/>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0"/>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1"/>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1"/>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2"/>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2"/>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2"/>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3"/>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3"/>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3"/>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3"/>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3"/>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6"/>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6"/>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6"/>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7"/>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7"/>
          <p:cNvSpPr>
            <a:spLocks noGrp="1"/>
          </p:cNvSpPr>
          <p:nvPr>
            <p:ph type="pic" idx="2"/>
          </p:nvPr>
        </p:nvSpPr>
        <p:spPr>
          <a:xfrm>
            <a:off x="3887391" y="987426"/>
            <a:ext cx="4629150" cy="4873625"/>
          </a:xfrm>
          <a:prstGeom prst="rect">
            <a:avLst/>
          </a:prstGeom>
          <a:noFill/>
          <a:ln>
            <a:noFill/>
          </a:ln>
        </p:spPr>
      </p:sp>
      <p:sp>
        <p:nvSpPr>
          <p:cNvPr id="68" name="Google Shape;68;p27"/>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8"/>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9"/>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9"/>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p1"/>
          <p:cNvSpPr/>
          <p:nvPr/>
        </p:nvSpPr>
        <p:spPr>
          <a:xfrm>
            <a:off x="356616" y="0"/>
            <a:ext cx="8182719"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0" name="Google Shape;90;p1"/>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91" name="Google Shape;91;p1"/>
          <p:cNvSpPr txBox="1">
            <a:spLocks noGrp="1"/>
          </p:cNvSpPr>
          <p:nvPr>
            <p:ph type="ctrTitle"/>
          </p:nvPr>
        </p:nvSpPr>
        <p:spPr>
          <a:xfrm>
            <a:off x="2284026" y="2043663"/>
            <a:ext cx="4578895" cy="203105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5600"/>
              <a:buFont typeface="Calibri"/>
              <a:buNone/>
            </a:pPr>
            <a:r>
              <a:rPr lang="en-US" sz="5600">
                <a:solidFill>
                  <a:srgbClr val="FFFFFF"/>
                </a:solidFill>
              </a:rPr>
              <a:t>AI Infrastructure</a:t>
            </a:r>
            <a:endParaRPr/>
          </a:p>
        </p:txBody>
      </p:sp>
      <p:sp>
        <p:nvSpPr>
          <p:cNvPr id="92" name="Google Shape;92;p1"/>
          <p:cNvSpPr txBox="1">
            <a:spLocks noGrp="1"/>
          </p:cNvSpPr>
          <p:nvPr>
            <p:ph type="subTitle" idx="1"/>
          </p:nvPr>
        </p:nvSpPr>
        <p:spPr>
          <a:xfrm>
            <a:off x="2284026" y="4074718"/>
            <a:ext cx="4578895" cy="682079"/>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FFFFFF"/>
              </a:buClr>
              <a:buSzPts val="1500"/>
              <a:buNone/>
            </a:pPr>
            <a:r>
              <a:rPr lang="en-US" sz="1500" dirty="0">
                <a:solidFill>
                  <a:srgbClr val="FFFFFF"/>
                </a:solidFill>
              </a:rPr>
              <a:t>Ioannis Papapanagiotou</a:t>
            </a:r>
            <a:endParaRPr sz="1500" dirty="0">
              <a:solidFill>
                <a:srgbClr val="FFFFFF"/>
              </a:solidFill>
            </a:endParaRPr>
          </a:p>
          <a:p>
            <a:pPr marL="0" lvl="0" indent="0" algn="ctr" rtl="0">
              <a:lnSpc>
                <a:spcPct val="90000"/>
              </a:lnSpc>
              <a:spcBef>
                <a:spcPts val="1000"/>
              </a:spcBef>
              <a:spcAft>
                <a:spcPts val="0"/>
              </a:spcAft>
              <a:buClr>
                <a:srgbClr val="FFFFFF"/>
              </a:buClr>
              <a:buSzPts val="1500"/>
              <a:buNone/>
            </a:pPr>
            <a:r>
              <a:rPr lang="en-US" sz="1500" dirty="0">
                <a:solidFill>
                  <a:srgbClr val="FFFFFF"/>
                </a:solidFill>
              </a:rPr>
              <a:t>AI Compute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Hardware of an AI Infrastructure</a:t>
            </a:r>
            <a:endParaRPr/>
          </a:p>
        </p:txBody>
      </p:sp>
      <p:sp>
        <p:nvSpPr>
          <p:cNvPr id="106" name="Google Shape;106;p3"/>
          <p:cNvSpPr txBox="1">
            <a:spLocks noGrp="1"/>
          </p:cNvSpPr>
          <p:nvPr>
            <p:ph type="body" idx="1"/>
          </p:nvPr>
        </p:nvSpPr>
        <p:spPr>
          <a:xfrm>
            <a:off x="628650" y="1825625"/>
            <a:ext cx="7886700" cy="3413887"/>
          </a:xfrm>
          <a:prstGeom prst="rect">
            <a:avLst/>
          </a:prstGeom>
          <a:noFill/>
          <a:ln>
            <a:noFill/>
          </a:ln>
        </p:spPr>
        <p:txBody>
          <a:bodyPr spcFirstLastPara="1" wrap="square" lIns="91425" tIns="45700" rIns="91425" bIns="45700" anchor="t" anchorCtr="0">
            <a:normAutofit fontScale="85000" lnSpcReduction="10000"/>
          </a:bodyPr>
          <a:lstStyle/>
          <a:p>
            <a:pPr marL="228600" lvl="0" indent="-228600" algn="l" rtl="0">
              <a:lnSpc>
                <a:spcPct val="90000"/>
              </a:lnSpc>
              <a:spcBef>
                <a:spcPts val="0"/>
              </a:spcBef>
              <a:spcAft>
                <a:spcPts val="0"/>
              </a:spcAft>
              <a:buClr>
                <a:schemeClr val="dk1"/>
              </a:buClr>
              <a:buSzPct val="100000"/>
              <a:buChar char="•"/>
            </a:pPr>
            <a:r>
              <a:rPr lang="en-US" dirty="0"/>
              <a:t>In the realm of AI Infrastructure, hardware components like GPUs, TPUs, and CPUs are the workhorses that power the computational processes underlying AI systems. Their selection and configuration are crucial for the performance and efficiency of AI applications.</a:t>
            </a:r>
            <a:endParaRPr dirty="0"/>
          </a:p>
          <a:p>
            <a:pPr marL="228600" lvl="0" indent="-228600" algn="l" rtl="0">
              <a:lnSpc>
                <a:spcPct val="90000"/>
              </a:lnSpc>
              <a:spcBef>
                <a:spcPts val="1000"/>
              </a:spcBef>
              <a:spcAft>
                <a:spcPts val="0"/>
              </a:spcAft>
              <a:buClr>
                <a:schemeClr val="dk1"/>
              </a:buClr>
              <a:buSzPct val="100000"/>
              <a:buChar char="•"/>
            </a:pPr>
            <a:r>
              <a:rPr lang="en-US" b="1" dirty="0"/>
              <a:t>Central to AI Processing:</a:t>
            </a:r>
            <a:endParaRPr dirty="0"/>
          </a:p>
          <a:p>
            <a:pPr marL="685800" lvl="1" indent="-228600" algn="l" rtl="0">
              <a:lnSpc>
                <a:spcPct val="90000"/>
              </a:lnSpc>
              <a:spcBef>
                <a:spcPts val="500"/>
              </a:spcBef>
              <a:spcAft>
                <a:spcPts val="0"/>
              </a:spcAft>
              <a:buClr>
                <a:schemeClr val="dk1"/>
              </a:buClr>
              <a:buSzPct val="100000"/>
              <a:buChar char="•"/>
            </a:pPr>
            <a:r>
              <a:rPr lang="en-US" dirty="0"/>
              <a:t>Hardware provides the essential computational capacity required for running complex AI algorithms and processing large volumes of data.</a:t>
            </a:r>
            <a:endParaRPr dirty="0"/>
          </a:p>
          <a:p>
            <a:pPr marL="685800" lvl="1" indent="-228600" algn="l" rtl="0">
              <a:lnSpc>
                <a:spcPct val="90000"/>
              </a:lnSpc>
              <a:spcBef>
                <a:spcPts val="500"/>
              </a:spcBef>
              <a:spcAft>
                <a:spcPts val="0"/>
              </a:spcAft>
              <a:buClr>
                <a:schemeClr val="dk1"/>
              </a:buClr>
              <a:buSzPct val="100000"/>
              <a:buChar char="•"/>
            </a:pPr>
            <a:r>
              <a:rPr lang="en-US" dirty="0"/>
              <a:t>The speed, memory, and processing capabilities of the hardware directly influence the performance of AI models and applications.</a:t>
            </a:r>
            <a:endParaRPr dirty="0"/>
          </a:p>
          <a:p>
            <a:pPr marL="228600" lvl="0" indent="-130810" algn="l" rtl="0">
              <a:lnSpc>
                <a:spcPct val="90000"/>
              </a:lnSpc>
              <a:spcBef>
                <a:spcPts val="1000"/>
              </a:spcBef>
              <a:spcAft>
                <a:spcPts val="0"/>
              </a:spcAft>
              <a:buClr>
                <a:schemeClr val="dk1"/>
              </a:buClr>
              <a:buSzPct val="100000"/>
              <a:buNone/>
            </a:pPr>
            <a:endParaRPr dirty="0"/>
          </a:p>
        </p:txBody>
      </p:sp>
      <p:pic>
        <p:nvPicPr>
          <p:cNvPr id="107" name="Google Shape;107;p3"/>
          <p:cNvPicPr preferRelativeResize="0"/>
          <p:nvPr/>
        </p:nvPicPr>
        <p:blipFill rotWithShape="1">
          <a:blip r:embed="rId3">
            <a:alphaModFix/>
          </a:blip>
          <a:srcRect/>
          <a:stretch/>
        </p:blipFill>
        <p:spPr>
          <a:xfrm>
            <a:off x="3002174" y="5120640"/>
            <a:ext cx="2758545" cy="15316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941F8B-CC4D-92D2-157D-B38A6A678778}"/>
              </a:ext>
            </a:extLst>
          </p:cNvPr>
          <p:cNvSpPr>
            <a:spLocks noGrp="1"/>
          </p:cNvSpPr>
          <p:nvPr>
            <p:ph type="title"/>
          </p:nvPr>
        </p:nvSpPr>
        <p:spPr>
          <a:xfrm>
            <a:off x="595246" y="386930"/>
            <a:ext cx="7549592" cy="1298448"/>
          </a:xfrm>
        </p:spPr>
        <p:txBody>
          <a:bodyPr anchor="b">
            <a:normAutofit/>
          </a:bodyPr>
          <a:lstStyle/>
          <a:p>
            <a:r>
              <a:rPr lang="en-US" sz="4200" dirty="0"/>
              <a:t>Types of Compute in AI</a:t>
            </a:r>
          </a:p>
        </p:txBody>
      </p:sp>
      <p:sp>
        <p:nvSpPr>
          <p:cNvPr id="1033" name="Rectangle 103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33C39CE8-539A-B3C9-DED8-0BA35F6CB673}"/>
              </a:ext>
            </a:extLst>
          </p:cNvPr>
          <p:cNvSpPr>
            <a:spLocks noGrp="1"/>
          </p:cNvSpPr>
          <p:nvPr>
            <p:ph type="body" idx="1"/>
          </p:nvPr>
        </p:nvSpPr>
        <p:spPr>
          <a:xfrm>
            <a:off x="-119503" y="2260600"/>
            <a:ext cx="4112922" cy="3978359"/>
          </a:xfrm>
        </p:spPr>
        <p:txBody>
          <a:bodyPr anchor="ctr">
            <a:normAutofit/>
          </a:bodyPr>
          <a:lstStyle/>
          <a:p>
            <a:pPr marL="685800" lvl="1" indent="-228600" rtl="0">
              <a:spcBef>
                <a:spcPts val="500"/>
              </a:spcBef>
              <a:spcAft>
                <a:spcPts val="0"/>
              </a:spcAft>
              <a:buClr>
                <a:schemeClr val="dk1"/>
              </a:buClr>
              <a:buSzPct val="100000"/>
              <a:buChar char="•"/>
            </a:pPr>
            <a:r>
              <a:rPr lang="en-US" sz="1300" b="1" dirty="0"/>
              <a:t>GPUs:</a:t>
            </a:r>
            <a:r>
              <a:rPr lang="en-US" sz="1300" dirty="0"/>
              <a:t> Specialized in parallel processing, GPUs excel in handling the complex mathematical computations needed for machine learning and deep learning tasks.</a:t>
            </a:r>
          </a:p>
          <a:p>
            <a:pPr marL="685800" lvl="1" indent="-228600" rtl="0">
              <a:spcBef>
                <a:spcPts val="500"/>
              </a:spcBef>
              <a:spcAft>
                <a:spcPts val="0"/>
              </a:spcAft>
              <a:buClr>
                <a:schemeClr val="dk1"/>
              </a:buClr>
              <a:buSzPct val="100000"/>
              <a:buChar char="•"/>
            </a:pPr>
            <a:r>
              <a:rPr lang="en-US" sz="1300" b="1" dirty="0"/>
              <a:t>TPUs:</a:t>
            </a:r>
            <a:r>
              <a:rPr lang="en-US" sz="1300" dirty="0"/>
              <a:t> Google's Tensor Processing Units are custom-built to accelerate deep learning tasks, offering high throughput for operations like matrix multiplications, a common procedure in neural networks.</a:t>
            </a:r>
          </a:p>
          <a:p>
            <a:pPr marL="685800" lvl="1" indent="-228600" rtl="0">
              <a:spcBef>
                <a:spcPts val="500"/>
              </a:spcBef>
              <a:spcAft>
                <a:spcPts val="0"/>
              </a:spcAft>
              <a:buClr>
                <a:schemeClr val="dk1"/>
              </a:buClr>
              <a:buSzPct val="100000"/>
              <a:buChar char="•"/>
            </a:pPr>
            <a:r>
              <a:rPr lang="en-US" sz="1300" b="1" dirty="0"/>
              <a:t>CPUs:</a:t>
            </a:r>
            <a:r>
              <a:rPr lang="en-US" sz="1300" dirty="0"/>
              <a:t> While not as fast as GPUs and TPUs in specific tasks, CPUs are versatile and capable of managing a wide range of AI workloads, making them suitable for smaller-scale or less intensive AI applications.</a:t>
            </a:r>
          </a:p>
        </p:txBody>
      </p:sp>
      <p:pic>
        <p:nvPicPr>
          <p:cNvPr id="1026" name="Picture 2" descr="What Is the Difference Between CPU vs. GPU vs. TPU? (Complete Overview –  Premio Inc">
            <a:extLst>
              <a:ext uri="{FF2B5EF4-FFF2-40B4-BE49-F238E27FC236}">
                <a16:creationId xmlns:a16="http://schemas.microsoft.com/office/drawing/2014/main" id="{8C9D3FED-9437-4435-6380-C2997FE9F64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433649" y="3448126"/>
            <a:ext cx="3862707" cy="1786501"/>
          </a:xfrm>
          <a:prstGeom prst="rect">
            <a:avLst/>
          </a:prstGeom>
          <a:noFill/>
          <a:extLst>
            <a:ext uri="{909E8E84-426E-40DD-AFC4-6F175D3DCCD1}">
              <a14:hiddenFill xmlns:a14="http://schemas.microsoft.com/office/drawing/2010/main">
                <a:solidFill>
                  <a:srgbClr val="FFFFFF"/>
                </a:solidFill>
              </a14:hiddenFill>
            </a:ext>
          </a:extLst>
        </p:spPr>
      </p:pic>
      <p:sp>
        <p:nvSpPr>
          <p:cNvPr id="1037" name="Rectangle 103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5380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1"/>
        <p:cNvGrpSpPr/>
        <p:nvPr/>
      </p:nvGrpSpPr>
      <p:grpSpPr>
        <a:xfrm>
          <a:off x="0" y="0"/>
          <a:ext cx="0" cy="0"/>
          <a:chOff x="0" y="0"/>
          <a:chExt cx="0" cy="0"/>
        </a:xfrm>
      </p:grpSpPr>
      <p:sp useBgFill="1">
        <p:nvSpPr>
          <p:cNvPr id="2058" name="Rectangle 2057">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Google Shape;112;p4"/>
          <p:cNvSpPr txBox="1">
            <a:spLocks noGrp="1"/>
          </p:cNvSpPr>
          <p:nvPr>
            <p:ph type="title"/>
          </p:nvPr>
        </p:nvSpPr>
        <p:spPr>
          <a:xfrm>
            <a:off x="595246" y="386930"/>
            <a:ext cx="7549592" cy="1298448"/>
          </a:xfrm>
          <a:prstGeom prst="rect">
            <a:avLst/>
          </a:prstGeom>
        </p:spPr>
        <p:txBody>
          <a:bodyPr spcFirstLastPara="1" lIns="91425" tIns="45700" rIns="91425" bIns="45700" anchor="b" anchorCtr="0">
            <a:normAutofit/>
          </a:bodyPr>
          <a:lstStyle/>
          <a:p>
            <a:pPr marL="0" lvl="0" indent="0" rtl="0">
              <a:spcBef>
                <a:spcPts val="0"/>
              </a:spcBef>
              <a:spcAft>
                <a:spcPts val="0"/>
              </a:spcAft>
              <a:buClr>
                <a:schemeClr val="dk1"/>
              </a:buClr>
              <a:buSzPts val="4400"/>
              <a:buFont typeface="Calibri"/>
              <a:buNone/>
            </a:pPr>
            <a:r>
              <a:rPr lang="en-US" sz="4200"/>
              <a:t>CPUs in AI</a:t>
            </a:r>
          </a:p>
        </p:txBody>
      </p:sp>
      <p:sp>
        <p:nvSpPr>
          <p:cNvPr id="2060" name="Rectangle 2059">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2" name="Rectangle 2061">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9639CB57-F9D2-3C5A-73B9-368F4DADCB1A}"/>
              </a:ext>
            </a:extLst>
          </p:cNvPr>
          <p:cNvSpPr>
            <a:spLocks noGrp="1" noChangeArrowheads="1"/>
          </p:cNvSpPr>
          <p:nvPr>
            <p:ph type="body" idx="1"/>
          </p:nvPr>
        </p:nvSpPr>
        <p:spPr bwMode="auto">
          <a:xfrm>
            <a:off x="595245" y="2599509"/>
            <a:ext cx="3398174" cy="36394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lnSpcReduction="10000"/>
          </a:bodyPr>
          <a:lstStyle/>
          <a:p>
            <a:pPr marL="285750" indent="-285750" eaLnBrk="0" fontAlgn="base" hangingPunct="0">
              <a:spcBef>
                <a:spcPct val="0"/>
              </a:spcBef>
              <a:spcAft>
                <a:spcPts val="600"/>
              </a:spcAft>
              <a:buClrTx/>
              <a:buSzTx/>
            </a:pPr>
            <a:r>
              <a:rPr kumimoji="0" lang="en-US" altLang="en-US" sz="1600" b="0" i="0" u="none" strike="noStrike" cap="none" normalizeH="0" baseline="0" dirty="0">
                <a:ln>
                  <a:noFill/>
                </a:ln>
                <a:effectLst/>
                <a:latin typeface="+mn-lt"/>
              </a:rPr>
              <a:t>A processor designed to solve every computational problem in general fashion. </a:t>
            </a:r>
          </a:p>
          <a:p>
            <a:pPr marL="285750" indent="-285750" eaLnBrk="0" fontAlgn="base" hangingPunct="0">
              <a:spcBef>
                <a:spcPct val="0"/>
              </a:spcBef>
              <a:spcAft>
                <a:spcPts val="600"/>
              </a:spcAft>
              <a:buClrTx/>
              <a:buSzTx/>
            </a:pPr>
            <a:r>
              <a:rPr kumimoji="0" lang="en-US" altLang="en-US" sz="1600" b="0" i="0" u="none" strike="noStrike" cap="none" normalizeH="0" baseline="0" dirty="0">
                <a:ln>
                  <a:noFill/>
                </a:ln>
                <a:effectLst/>
                <a:latin typeface="+mn-lt"/>
              </a:rPr>
              <a:t>The Memory and Cache are designed to be optimal for any general programming problem and can handle different programming languages like(C, Java, Python).</a:t>
            </a:r>
          </a:p>
          <a:p>
            <a:pPr marL="285750" indent="-285750" eaLnBrk="0" fontAlgn="base" hangingPunct="0">
              <a:spcBef>
                <a:spcPct val="0"/>
              </a:spcBef>
              <a:spcAft>
                <a:spcPts val="600"/>
              </a:spcAft>
              <a:buClrTx/>
              <a:buSzTx/>
            </a:pPr>
            <a:r>
              <a:rPr lang="en-US" altLang="en-US" sz="1600" dirty="0">
                <a:latin typeface="+mn-lt"/>
              </a:rPr>
              <a:t>The smallest unit of data handled by a CPU at a time is a scalar which is 1x1 dimensional data</a:t>
            </a:r>
            <a:endParaRPr kumimoji="0" lang="en-US" altLang="en-US" sz="1600" b="0" i="0" u="none" strike="noStrike" cap="none" normalizeH="0" baseline="0" dirty="0">
              <a:ln>
                <a:noFill/>
              </a:ln>
              <a:effectLst/>
              <a:latin typeface="+mn-lt"/>
            </a:endParaRPr>
          </a:p>
          <a:p>
            <a:pPr marL="285750" indent="-285750" eaLnBrk="0" fontAlgn="base" hangingPunct="0">
              <a:spcBef>
                <a:spcPct val="0"/>
              </a:spcBef>
              <a:spcAft>
                <a:spcPts val="600"/>
              </a:spcAft>
              <a:buClrTx/>
              <a:buSzTx/>
            </a:pPr>
            <a:endParaRPr kumimoji="0" lang="en-US" altLang="en-US" sz="1600" b="0" i="0" u="none" strike="noStrike" cap="none" normalizeH="0" baseline="0" dirty="0">
              <a:ln>
                <a:noFill/>
              </a:ln>
              <a:effectLst/>
              <a:latin typeface="+mn-lt"/>
            </a:endParaRPr>
          </a:p>
          <a:p>
            <a:pPr marL="0" marR="0" lvl="0" indent="0" defTabSz="914400" rtl="0" eaLnBrk="0" fontAlgn="base" latinLnBrk="0" hangingPunct="0">
              <a:spcBef>
                <a:spcPct val="0"/>
              </a:spcBef>
              <a:spcAft>
                <a:spcPts val="600"/>
              </a:spcAft>
              <a:buClrTx/>
              <a:buSzTx/>
              <a:buFontTx/>
              <a:buNone/>
              <a:tabLst/>
            </a:pPr>
            <a:br>
              <a:rPr kumimoji="0" lang="en-US" altLang="en-US" sz="1600" b="0" i="0" u="none" strike="noStrike" cap="none" normalizeH="0" baseline="0" dirty="0">
                <a:ln>
                  <a:noFill/>
                </a:ln>
                <a:effectLst/>
                <a:latin typeface="+mn-lt"/>
              </a:rPr>
            </a:br>
            <a:endParaRPr kumimoji="0" lang="en-US" altLang="en-US" sz="1600" b="0" i="0" u="none" strike="noStrike" cap="none" normalizeH="0" baseline="0" dirty="0">
              <a:ln>
                <a:noFill/>
              </a:ln>
              <a:effectLst/>
              <a:latin typeface="+mn-lt"/>
            </a:endParaRPr>
          </a:p>
        </p:txBody>
      </p:sp>
      <p:pic>
        <p:nvPicPr>
          <p:cNvPr id="2053" name="Picture 5">
            <a:extLst>
              <a:ext uri="{FF2B5EF4-FFF2-40B4-BE49-F238E27FC236}">
                <a16:creationId xmlns:a16="http://schemas.microsoft.com/office/drawing/2014/main" id="{323758E6-E8FC-176D-DC35-12F337AC2DB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433649" y="3805426"/>
            <a:ext cx="3862707" cy="1071901"/>
          </a:xfrm>
          <a:prstGeom prst="rect">
            <a:avLst/>
          </a:prstGeom>
          <a:noFill/>
          <a:extLst>
            <a:ext uri="{909E8E84-426E-40DD-AFC4-6F175D3DCCD1}">
              <a14:hiddenFill xmlns:a14="http://schemas.microsoft.com/office/drawing/2010/main">
                <a:solidFill>
                  <a:srgbClr val="FFFFFF"/>
                </a:solidFill>
              </a14:hiddenFill>
            </a:ext>
          </a:extLst>
        </p:spPr>
      </p:pic>
      <p:sp>
        <p:nvSpPr>
          <p:cNvPr id="2064" name="Rectangle 2063">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23"/>
        <p:cNvGrpSpPr/>
        <p:nvPr/>
      </p:nvGrpSpPr>
      <p:grpSpPr>
        <a:xfrm>
          <a:off x="0" y="0"/>
          <a:ext cx="0" cy="0"/>
          <a:chOff x="0" y="0"/>
          <a:chExt cx="0" cy="0"/>
        </a:xfrm>
      </p:grpSpPr>
      <p:sp useBgFill="1">
        <p:nvSpPr>
          <p:cNvPr id="165" name="Rectangle 164">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Google Shape;124;p6"/>
          <p:cNvSpPr txBox="1">
            <a:spLocks noGrp="1"/>
          </p:cNvSpPr>
          <p:nvPr>
            <p:ph type="title"/>
          </p:nvPr>
        </p:nvSpPr>
        <p:spPr>
          <a:xfrm>
            <a:off x="595246" y="386930"/>
            <a:ext cx="7549592" cy="1298448"/>
          </a:xfrm>
          <a:prstGeom prst="rect">
            <a:avLst/>
          </a:prstGeom>
        </p:spPr>
        <p:txBody>
          <a:bodyPr spcFirstLastPara="1" lIns="91425" tIns="45700" rIns="91425" bIns="45700" anchor="b" anchorCtr="0">
            <a:normAutofit/>
          </a:bodyPr>
          <a:lstStyle/>
          <a:p>
            <a:pPr marL="0" lvl="0" indent="0" rtl="0">
              <a:spcBef>
                <a:spcPts val="0"/>
              </a:spcBef>
              <a:spcAft>
                <a:spcPts val="0"/>
              </a:spcAft>
              <a:buClr>
                <a:schemeClr val="dk1"/>
              </a:buClr>
              <a:buSzPts val="4400"/>
              <a:buFont typeface="Calibri"/>
              <a:buNone/>
            </a:pPr>
            <a:r>
              <a:rPr lang="en-US" sz="4200" dirty="0"/>
              <a:t>GPUs in AI</a:t>
            </a:r>
          </a:p>
        </p:txBody>
      </p:sp>
      <p:sp>
        <p:nvSpPr>
          <p:cNvPr id="167" name="Rectangle 16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Google Shape;125;p6"/>
          <p:cNvSpPr txBox="1">
            <a:spLocks noGrp="1"/>
          </p:cNvSpPr>
          <p:nvPr>
            <p:ph type="body" idx="1"/>
          </p:nvPr>
        </p:nvSpPr>
        <p:spPr>
          <a:xfrm>
            <a:off x="595245" y="2599509"/>
            <a:ext cx="3398174" cy="3639450"/>
          </a:xfrm>
          <a:prstGeom prst="rect">
            <a:avLst/>
          </a:prstGeom>
        </p:spPr>
        <p:txBody>
          <a:bodyPr spcFirstLastPara="1" lIns="91425" tIns="45700" rIns="91425" bIns="45700" anchor="ctr" anchorCtr="0">
            <a:normAutofit lnSpcReduction="10000"/>
          </a:bodyPr>
          <a:lstStyle/>
          <a:p>
            <a:pPr marL="228600" lvl="0" indent="-215265" rtl="0">
              <a:spcBef>
                <a:spcPts val="0"/>
              </a:spcBef>
              <a:spcAft>
                <a:spcPts val="600"/>
              </a:spcAft>
              <a:buClr>
                <a:schemeClr val="dk1"/>
              </a:buClr>
              <a:buSzPct val="100000"/>
              <a:buChar char="•"/>
            </a:pPr>
            <a:r>
              <a:rPr lang="en-US" sz="1200" b="0" i="0" dirty="0">
                <a:effectLst/>
                <a:latin typeface="+mn-lt"/>
              </a:rPr>
              <a:t>A Graphical processing Unit is familiar name to many gamers reading this article. </a:t>
            </a:r>
          </a:p>
          <a:p>
            <a:pPr marL="228600" lvl="0" indent="-215265" rtl="0">
              <a:spcBef>
                <a:spcPts val="0"/>
              </a:spcBef>
              <a:spcAft>
                <a:spcPts val="600"/>
              </a:spcAft>
              <a:buClr>
                <a:schemeClr val="dk1"/>
              </a:buClr>
              <a:buSzPct val="100000"/>
              <a:buChar char="•"/>
            </a:pPr>
            <a:r>
              <a:rPr lang="en-US" sz="1200" b="0" i="0" dirty="0">
                <a:effectLst/>
                <a:latin typeface="+mn-lt"/>
              </a:rPr>
              <a:t>Initially designed mainly as dedicated graphical rendering workhorses of computer games, </a:t>
            </a:r>
          </a:p>
          <a:p>
            <a:pPr marL="228600" lvl="0" indent="-215265" rtl="0">
              <a:spcBef>
                <a:spcPts val="0"/>
              </a:spcBef>
              <a:spcAft>
                <a:spcPts val="600"/>
              </a:spcAft>
              <a:buClr>
                <a:schemeClr val="dk1"/>
              </a:buClr>
              <a:buSzPct val="100000"/>
              <a:buChar char="•"/>
            </a:pPr>
            <a:r>
              <a:rPr lang="en-US" sz="1200" b="0" i="0" dirty="0">
                <a:effectLst/>
                <a:latin typeface="+mn-lt"/>
              </a:rPr>
              <a:t>GPUs were later enhanced to accelerate others like photo/video editing, animation, research and other analytical software, which need to plot graphical results with a huge amount of data.</a:t>
            </a:r>
          </a:p>
          <a:p>
            <a:pPr marL="228600" indent="-215265">
              <a:spcBef>
                <a:spcPts val="0"/>
              </a:spcBef>
              <a:spcAft>
                <a:spcPts val="600"/>
              </a:spcAft>
              <a:buSzPct val="100000"/>
            </a:pPr>
            <a:r>
              <a:rPr kumimoji="0" lang="en-US" altLang="en-US" sz="1200" b="0" i="0" u="none" strike="noStrike" cap="none" normalizeH="0" baseline="0" dirty="0">
                <a:ln>
                  <a:noFill/>
                </a:ln>
                <a:effectLst/>
                <a:latin typeface="+mn-lt"/>
              </a:rPr>
              <a:t>GPUs are a safer bet for fast machine learning because, at its heart, data science model training is composed of simple matrix math calculations, the speed of which can be greatly enhanced if the computations can be carried out in parallel and for this reason GPU has thousands of ALU in single processor, that means you can perform thousands of multiplications and addition simultaneously.</a:t>
            </a:r>
          </a:p>
          <a:p>
            <a:pPr marL="228600" lvl="0" indent="-215265" rtl="0">
              <a:spcBef>
                <a:spcPts val="0"/>
              </a:spcBef>
              <a:spcAft>
                <a:spcPts val="600"/>
              </a:spcAft>
              <a:buClr>
                <a:schemeClr val="dk1"/>
              </a:buClr>
              <a:buSzPct val="100000"/>
              <a:buChar char="•"/>
            </a:pPr>
            <a:endParaRPr lang="en-US" sz="1200" b="0" i="0" dirty="0">
              <a:effectLst/>
              <a:latin typeface="+mn-lt"/>
            </a:endParaRPr>
          </a:p>
          <a:p>
            <a:pPr marL="228600" lvl="0" indent="-215265" rtl="0">
              <a:spcBef>
                <a:spcPts val="0"/>
              </a:spcBef>
              <a:spcAft>
                <a:spcPts val="600"/>
              </a:spcAft>
              <a:buClr>
                <a:schemeClr val="dk1"/>
              </a:buClr>
              <a:buSzPct val="100000"/>
              <a:buChar char="•"/>
            </a:pPr>
            <a:endParaRPr lang="en-US" sz="1200" dirty="0">
              <a:latin typeface="+mn-lt"/>
            </a:endParaRPr>
          </a:p>
        </p:txBody>
      </p:sp>
      <p:pic>
        <p:nvPicPr>
          <p:cNvPr id="126" name="Google Shape;126;p6"/>
          <p:cNvPicPr preferRelativeResize="0"/>
          <p:nvPr/>
        </p:nvPicPr>
        <p:blipFill>
          <a:blip r:embed="rId3"/>
          <a:srcRect l="41501" r="2" b="2"/>
          <a:stretch/>
        </p:blipFill>
        <p:spPr>
          <a:xfrm>
            <a:off x="4433657" y="2484255"/>
            <a:ext cx="3862691" cy="3714244"/>
          </a:xfrm>
          <a:prstGeom prst="rect">
            <a:avLst/>
          </a:prstGeom>
          <a:noFill/>
        </p:spPr>
      </p:pic>
      <p:sp>
        <p:nvSpPr>
          <p:cNvPr id="171" name="Rectangle 170">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23">
          <a:extLst>
            <a:ext uri="{FF2B5EF4-FFF2-40B4-BE49-F238E27FC236}">
              <a16:creationId xmlns:a16="http://schemas.microsoft.com/office/drawing/2014/main" id="{2E6264CA-25F9-0DC7-D51E-7BF500A1CDF6}"/>
            </a:ext>
          </a:extLst>
        </p:cNvPr>
        <p:cNvGrpSpPr/>
        <p:nvPr/>
      </p:nvGrpSpPr>
      <p:grpSpPr>
        <a:xfrm>
          <a:off x="0" y="0"/>
          <a:ext cx="0" cy="0"/>
          <a:chOff x="0" y="0"/>
          <a:chExt cx="0" cy="0"/>
        </a:xfrm>
      </p:grpSpPr>
      <p:sp useBgFill="1">
        <p:nvSpPr>
          <p:cNvPr id="142" name="Rectangle 141">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Google Shape;124;p6">
            <a:extLst>
              <a:ext uri="{FF2B5EF4-FFF2-40B4-BE49-F238E27FC236}">
                <a16:creationId xmlns:a16="http://schemas.microsoft.com/office/drawing/2014/main" id="{A901CF57-8690-C2E4-1B25-A81264C4EE41}"/>
              </a:ext>
            </a:extLst>
          </p:cNvPr>
          <p:cNvSpPr txBox="1">
            <a:spLocks noGrp="1"/>
          </p:cNvSpPr>
          <p:nvPr>
            <p:ph type="title"/>
          </p:nvPr>
        </p:nvSpPr>
        <p:spPr>
          <a:xfrm>
            <a:off x="595246" y="386930"/>
            <a:ext cx="7549592" cy="1298448"/>
          </a:xfrm>
          <a:prstGeom prst="rect">
            <a:avLst/>
          </a:prstGeom>
        </p:spPr>
        <p:txBody>
          <a:bodyPr spcFirstLastPara="1" lIns="91425" tIns="45700" rIns="91425" bIns="45700" anchor="b" anchorCtr="0">
            <a:normAutofit/>
          </a:bodyPr>
          <a:lstStyle/>
          <a:p>
            <a:pPr marL="0" lvl="0" indent="0" rtl="0">
              <a:spcBef>
                <a:spcPts val="0"/>
              </a:spcBef>
              <a:spcAft>
                <a:spcPts val="0"/>
              </a:spcAft>
              <a:buClr>
                <a:schemeClr val="dk1"/>
              </a:buClr>
              <a:buSzPts val="4400"/>
              <a:buFont typeface="Calibri"/>
              <a:buNone/>
            </a:pPr>
            <a:r>
              <a:rPr lang="en-US" sz="4200" dirty="0"/>
              <a:t>GPUs in AI</a:t>
            </a:r>
          </a:p>
        </p:txBody>
      </p:sp>
      <p:sp>
        <p:nvSpPr>
          <p:cNvPr id="144" name="Rectangle 14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Google Shape;125;p6">
            <a:extLst>
              <a:ext uri="{FF2B5EF4-FFF2-40B4-BE49-F238E27FC236}">
                <a16:creationId xmlns:a16="http://schemas.microsoft.com/office/drawing/2014/main" id="{72593315-2779-70C5-E484-4CE2C311384A}"/>
              </a:ext>
            </a:extLst>
          </p:cNvPr>
          <p:cNvSpPr txBox="1">
            <a:spLocks noGrp="1"/>
          </p:cNvSpPr>
          <p:nvPr>
            <p:ph type="body" idx="1"/>
          </p:nvPr>
        </p:nvSpPr>
        <p:spPr>
          <a:xfrm>
            <a:off x="595245" y="2599509"/>
            <a:ext cx="3398174" cy="3639450"/>
          </a:xfrm>
          <a:prstGeom prst="rect">
            <a:avLst/>
          </a:prstGeom>
        </p:spPr>
        <p:txBody>
          <a:bodyPr spcFirstLastPara="1" lIns="91425" tIns="45700" rIns="91425" bIns="45700" anchor="ctr" anchorCtr="0">
            <a:normAutofit/>
          </a:bodyPr>
          <a:lstStyle/>
          <a:p>
            <a:pPr marL="228600" lvl="0" indent="-215265" rtl="0">
              <a:spcBef>
                <a:spcPts val="0"/>
              </a:spcBef>
              <a:spcAft>
                <a:spcPts val="600"/>
              </a:spcAft>
              <a:buClr>
                <a:schemeClr val="dk1"/>
              </a:buClr>
              <a:buSzPct val="100000"/>
              <a:buChar char="•"/>
            </a:pPr>
            <a:r>
              <a:rPr lang="en-US" sz="1700" b="0" i="1" dirty="0">
                <a:effectLst/>
                <a:latin typeface="+mn-lt"/>
              </a:rPr>
              <a:t>They can handle tens of thousands of operations per cycle, the dimension of data is generally 1 x N data unit</a:t>
            </a:r>
            <a:r>
              <a:rPr kumimoji="0" lang="en-US" altLang="en-US" sz="1700" b="0" i="0" u="none" strike="noStrike" cap="none" normalizeH="0" baseline="0" dirty="0">
                <a:ln>
                  <a:noFill/>
                </a:ln>
                <a:effectLst/>
                <a:latin typeface="+mn-lt"/>
              </a:rPr>
              <a:t>.</a:t>
            </a:r>
          </a:p>
          <a:p>
            <a:pPr marL="228600" lvl="0" indent="-215265" rtl="0">
              <a:spcBef>
                <a:spcPts val="0"/>
              </a:spcBef>
              <a:spcAft>
                <a:spcPts val="600"/>
              </a:spcAft>
              <a:buClr>
                <a:schemeClr val="dk1"/>
              </a:buClr>
              <a:buSzPct val="100000"/>
              <a:buChar char="•"/>
            </a:pPr>
            <a:r>
              <a:rPr lang="en-US" sz="1700" b="0" i="0" dirty="0">
                <a:effectLst/>
                <a:latin typeface="+mn-lt"/>
              </a:rPr>
              <a:t>But problem of memory access is still there, Because </a:t>
            </a:r>
            <a:r>
              <a:rPr lang="en-US" sz="1700" b="1" i="0" dirty="0">
                <a:effectLst/>
                <a:latin typeface="+mn-lt"/>
              </a:rPr>
              <a:t>GPU</a:t>
            </a:r>
            <a:r>
              <a:rPr lang="en-US" sz="1700" b="0" i="0" dirty="0">
                <a:effectLst/>
                <a:latin typeface="+mn-lt"/>
              </a:rPr>
              <a:t> performs parallel computation on thousands ALUs, so it also spends more energy on memory accessing. To overcome this problem Google designed </a:t>
            </a:r>
            <a:r>
              <a:rPr lang="en-US" sz="1700" b="1" i="0" dirty="0">
                <a:effectLst/>
                <a:latin typeface="+mn-lt"/>
              </a:rPr>
              <a:t>TPU</a:t>
            </a:r>
            <a:r>
              <a:rPr lang="en-US" sz="1700" b="0" i="0" dirty="0">
                <a:effectLst/>
                <a:latin typeface="+mn-lt"/>
              </a:rPr>
              <a:t>.</a:t>
            </a:r>
            <a:endParaRPr kumimoji="0" lang="en-US" altLang="en-US" sz="1700" b="0" i="0" u="none" strike="noStrike" cap="none" normalizeH="0" baseline="0" dirty="0">
              <a:ln>
                <a:noFill/>
              </a:ln>
              <a:effectLst/>
              <a:latin typeface="+mn-lt"/>
            </a:endParaRPr>
          </a:p>
          <a:p>
            <a:pPr marL="228600" lvl="0" indent="-215265" rtl="0">
              <a:spcBef>
                <a:spcPts val="0"/>
              </a:spcBef>
              <a:spcAft>
                <a:spcPts val="600"/>
              </a:spcAft>
              <a:buClr>
                <a:schemeClr val="dk1"/>
              </a:buClr>
              <a:buSzPct val="100000"/>
              <a:buChar char="•"/>
            </a:pPr>
            <a:endParaRPr lang="en-US" sz="1700" b="0" i="0" dirty="0">
              <a:effectLst/>
              <a:latin typeface="+mn-lt"/>
            </a:endParaRPr>
          </a:p>
          <a:p>
            <a:pPr marL="228600" lvl="0" indent="-215265" rtl="0">
              <a:spcBef>
                <a:spcPts val="0"/>
              </a:spcBef>
              <a:spcAft>
                <a:spcPts val="600"/>
              </a:spcAft>
              <a:buClr>
                <a:schemeClr val="dk1"/>
              </a:buClr>
              <a:buSzPct val="100000"/>
              <a:buChar char="•"/>
            </a:pPr>
            <a:endParaRPr lang="en-US" sz="1700" dirty="0">
              <a:latin typeface="+mn-lt"/>
            </a:endParaRPr>
          </a:p>
        </p:txBody>
      </p:sp>
      <p:pic>
        <p:nvPicPr>
          <p:cNvPr id="126" name="Google Shape;126;p6">
            <a:extLst>
              <a:ext uri="{FF2B5EF4-FFF2-40B4-BE49-F238E27FC236}">
                <a16:creationId xmlns:a16="http://schemas.microsoft.com/office/drawing/2014/main" id="{FE279082-6FA4-056C-84E8-425AA4A7A044}"/>
              </a:ext>
            </a:extLst>
          </p:cNvPr>
          <p:cNvPicPr preferRelativeResize="0"/>
          <p:nvPr/>
        </p:nvPicPr>
        <p:blipFill>
          <a:blip r:embed="rId3"/>
          <a:srcRect l="41501" r="2" b="2"/>
          <a:stretch/>
        </p:blipFill>
        <p:spPr>
          <a:xfrm>
            <a:off x="4433657" y="2484255"/>
            <a:ext cx="3862691" cy="3714244"/>
          </a:xfrm>
          <a:prstGeom prst="rect">
            <a:avLst/>
          </a:prstGeom>
          <a:noFill/>
        </p:spPr>
      </p:pic>
      <p:sp>
        <p:nvSpPr>
          <p:cNvPr id="148" name="Rectangle 14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8854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7"/>
        <p:cNvGrpSpPr/>
        <p:nvPr/>
      </p:nvGrpSpPr>
      <p:grpSpPr>
        <a:xfrm>
          <a:off x="0" y="0"/>
          <a:ext cx="0" cy="0"/>
          <a:chOff x="0" y="0"/>
          <a:chExt cx="0" cy="0"/>
        </a:xfrm>
      </p:grpSpPr>
      <p:sp useBgFill="1">
        <p:nvSpPr>
          <p:cNvPr id="124" name="Rectangle 123">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Google Shape;118;p5"/>
          <p:cNvSpPr txBox="1">
            <a:spLocks noGrp="1"/>
          </p:cNvSpPr>
          <p:nvPr>
            <p:ph type="title"/>
          </p:nvPr>
        </p:nvSpPr>
        <p:spPr>
          <a:xfrm>
            <a:off x="595246" y="386930"/>
            <a:ext cx="7549592" cy="1298448"/>
          </a:xfrm>
          <a:prstGeom prst="rect">
            <a:avLst/>
          </a:prstGeom>
        </p:spPr>
        <p:txBody>
          <a:bodyPr spcFirstLastPara="1" vert="horz" lIns="91440" tIns="45720" rIns="91440" bIns="45720" rtlCol="0" anchor="b" anchorCtr="0">
            <a:normAutofit/>
          </a:bodyPr>
          <a:lstStyle/>
          <a:p>
            <a:pPr marL="0" lvl="0" indent="0">
              <a:spcBef>
                <a:spcPct val="0"/>
              </a:spcBef>
              <a:spcAft>
                <a:spcPts val="0"/>
              </a:spcAft>
              <a:buClr>
                <a:schemeClr val="dk1"/>
              </a:buClr>
              <a:buSzPts val="4400"/>
            </a:pPr>
            <a:r>
              <a:rPr lang="en-US" sz="4200" kern="1200">
                <a:solidFill>
                  <a:schemeClr val="tx1"/>
                </a:solidFill>
                <a:latin typeface="+mj-lt"/>
                <a:ea typeface="+mj-ea"/>
                <a:cs typeface="+mj-cs"/>
              </a:rPr>
              <a:t>CPUs and GPUs</a:t>
            </a:r>
          </a:p>
        </p:txBody>
      </p:sp>
      <p:sp>
        <p:nvSpPr>
          <p:cNvPr id="126" name="Rectangle 125">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754F3F96-D335-061B-77D9-FF61F34E13A2}"/>
              </a:ext>
            </a:extLst>
          </p:cNvPr>
          <p:cNvSpPr>
            <a:spLocks noChangeArrowheads="1"/>
          </p:cNvSpPr>
          <p:nvPr/>
        </p:nvSpPr>
        <p:spPr bwMode="auto">
          <a:xfrm>
            <a:off x="595245" y="2599509"/>
            <a:ext cx="3398174" cy="36394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700" b="0" i="0" u="none" strike="noStrike" kern="1200" cap="none" normalizeH="0" baseline="0" dirty="0">
                <a:ln>
                  <a:noFill/>
                </a:ln>
                <a:solidFill>
                  <a:schemeClr val="tx1"/>
                </a:solidFill>
                <a:effectLst/>
                <a:latin typeface="+mn-lt"/>
                <a:ea typeface="+mn-ea"/>
                <a:cs typeface="+mn-cs"/>
              </a:rPr>
              <a:t>CPUs are best at handling single, more complex calculations sequentially, while GPUs are better at handling multiple but simpler calculations in parallel.</a:t>
            </a:r>
            <a:br>
              <a:rPr kumimoji="0" lang="en-US" altLang="en-US" sz="1700" b="0" i="0" u="none" strike="noStrike" kern="1200" cap="none" normalizeH="0" baseline="0" dirty="0">
                <a:ln>
                  <a:noFill/>
                </a:ln>
                <a:solidFill>
                  <a:schemeClr val="tx1"/>
                </a:solidFill>
                <a:effectLst/>
                <a:latin typeface="+mn-lt"/>
                <a:ea typeface="+mn-ea"/>
                <a:cs typeface="+mn-cs"/>
              </a:rPr>
            </a:br>
            <a:endParaRPr kumimoji="0" lang="en-US" altLang="en-US" sz="1700" b="0" i="0" u="none" strike="noStrike" kern="1200" cap="none" normalizeH="0" baseline="0" dirty="0">
              <a:ln>
                <a:noFill/>
              </a:ln>
              <a:solidFill>
                <a:schemeClr val="tx1"/>
              </a:solidFill>
              <a:effectLst/>
              <a:latin typeface="+mn-lt"/>
              <a:ea typeface="+mn-ea"/>
              <a:cs typeface="+mn-cs"/>
            </a:endParaRPr>
          </a:p>
        </p:txBody>
      </p:sp>
      <p:pic>
        <p:nvPicPr>
          <p:cNvPr id="119" name="Google Shape;119;p5"/>
          <p:cNvPicPr preferRelativeResize="0"/>
          <p:nvPr/>
        </p:nvPicPr>
        <p:blipFill rotWithShape="1">
          <a:blip r:embed="rId3"/>
          <a:stretch/>
        </p:blipFill>
        <p:spPr>
          <a:xfrm>
            <a:off x="4433649" y="3037713"/>
            <a:ext cx="3862707" cy="2607327"/>
          </a:xfrm>
          <a:prstGeom prst="rect">
            <a:avLst/>
          </a:prstGeom>
          <a:noFill/>
        </p:spPr>
      </p:pic>
      <p:sp>
        <p:nvSpPr>
          <p:cNvPr id="130" name="Rectangle 129">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30"/>
        <p:cNvGrpSpPr/>
        <p:nvPr/>
      </p:nvGrpSpPr>
      <p:grpSpPr>
        <a:xfrm>
          <a:off x="0" y="0"/>
          <a:ext cx="0" cy="0"/>
          <a:chOff x="0" y="0"/>
          <a:chExt cx="0" cy="0"/>
        </a:xfrm>
      </p:grpSpPr>
      <p:sp useBgFill="1">
        <p:nvSpPr>
          <p:cNvPr id="157" name="Rectangle 156">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Google Shape;131;p7"/>
          <p:cNvSpPr txBox="1">
            <a:spLocks noGrp="1"/>
          </p:cNvSpPr>
          <p:nvPr>
            <p:ph type="title"/>
          </p:nvPr>
        </p:nvSpPr>
        <p:spPr>
          <a:xfrm>
            <a:off x="595246" y="386930"/>
            <a:ext cx="7549592" cy="1298448"/>
          </a:xfrm>
          <a:prstGeom prst="rect">
            <a:avLst/>
          </a:prstGeom>
        </p:spPr>
        <p:txBody>
          <a:bodyPr spcFirstLastPara="1" lIns="91425" tIns="45700" rIns="91425" bIns="45700" anchor="b" anchorCtr="0">
            <a:normAutofit/>
          </a:bodyPr>
          <a:lstStyle/>
          <a:p>
            <a:pPr marL="0" lvl="0" indent="0" rtl="0">
              <a:spcBef>
                <a:spcPts val="0"/>
              </a:spcBef>
              <a:spcAft>
                <a:spcPts val="0"/>
              </a:spcAft>
              <a:buClr>
                <a:schemeClr val="dk1"/>
              </a:buClr>
              <a:buSzPts val="4400"/>
              <a:buFont typeface="Calibri"/>
              <a:buNone/>
            </a:pPr>
            <a:r>
              <a:rPr lang="en-US" sz="4200" dirty="0"/>
              <a:t>TPUs in AI</a:t>
            </a:r>
          </a:p>
        </p:txBody>
      </p:sp>
      <p:sp>
        <p:nvSpPr>
          <p:cNvPr id="159" name="Rectangle 15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Google Shape;132;p7"/>
          <p:cNvSpPr txBox="1">
            <a:spLocks noGrp="1"/>
          </p:cNvSpPr>
          <p:nvPr>
            <p:ph type="body" idx="1"/>
          </p:nvPr>
        </p:nvSpPr>
        <p:spPr>
          <a:xfrm>
            <a:off x="595245" y="2599509"/>
            <a:ext cx="3398174" cy="3639450"/>
          </a:xfrm>
          <a:prstGeom prst="rect">
            <a:avLst/>
          </a:prstGeom>
        </p:spPr>
        <p:txBody>
          <a:bodyPr spcFirstLastPara="1" lIns="91425" tIns="45700" rIns="91425" bIns="45700" anchor="ctr" anchorCtr="0">
            <a:normAutofit/>
          </a:bodyPr>
          <a:lstStyle/>
          <a:p>
            <a:pPr marL="228600" lvl="0" indent="-228600" rtl="0">
              <a:spcBef>
                <a:spcPts val="0"/>
              </a:spcBef>
              <a:spcAft>
                <a:spcPts val="600"/>
              </a:spcAft>
              <a:buClr>
                <a:schemeClr val="dk1"/>
              </a:buClr>
              <a:buSzPct val="100000"/>
              <a:buChar char="•"/>
            </a:pPr>
            <a:r>
              <a:rPr lang="en-US" sz="1600" b="0" i="0" dirty="0">
                <a:effectLst/>
                <a:latin typeface="+mn-lt"/>
              </a:rPr>
              <a:t>Tensor processing Unit (TPU) is a ASIC processor which is Application Specific Integrated Chip designed to accelerate deep learning tasks developed using </a:t>
            </a:r>
            <a:r>
              <a:rPr lang="en-US" sz="1600" b="0" i="0" dirty="0" err="1">
                <a:effectLst/>
                <a:latin typeface="+mn-lt"/>
              </a:rPr>
              <a:t>Tensorflow</a:t>
            </a:r>
            <a:r>
              <a:rPr lang="en-US" sz="1600" b="0" i="0" dirty="0">
                <a:effectLst/>
                <a:latin typeface="+mn-lt"/>
              </a:rPr>
              <a:t> framework.</a:t>
            </a:r>
          </a:p>
          <a:p>
            <a:pPr marL="228600" lvl="0" indent="-228600" rtl="0">
              <a:spcBef>
                <a:spcPts val="0"/>
              </a:spcBef>
              <a:spcAft>
                <a:spcPts val="600"/>
              </a:spcAft>
              <a:buClr>
                <a:schemeClr val="dk1"/>
              </a:buClr>
              <a:buSzPct val="100000"/>
              <a:buChar char="•"/>
            </a:pPr>
            <a:r>
              <a:rPr lang="en-US" sz="1600" dirty="0">
                <a:latin typeface="+mn-lt"/>
              </a:rPr>
              <a:t>While their cores are adept at simple computations, complex logic handling falls outside of their skillset. </a:t>
            </a:r>
          </a:p>
          <a:p>
            <a:pPr marL="228600" lvl="0" indent="-228600" rtl="0">
              <a:spcBef>
                <a:spcPts val="0"/>
              </a:spcBef>
              <a:spcAft>
                <a:spcPts val="600"/>
              </a:spcAft>
              <a:buClr>
                <a:schemeClr val="dk1"/>
              </a:buClr>
              <a:buSzPct val="100000"/>
              <a:buChar char="•"/>
            </a:pPr>
            <a:r>
              <a:rPr lang="en-US" sz="1600" dirty="0">
                <a:latin typeface="+mn-lt"/>
              </a:rPr>
              <a:t>Recognizing this, Google introduced Tensor Processing Units (TPUs) in 2016, explicitly designed to handle intensive AI workloads. </a:t>
            </a:r>
          </a:p>
        </p:txBody>
      </p:sp>
      <p:pic>
        <p:nvPicPr>
          <p:cNvPr id="133" name="Google Shape;133;p7"/>
          <p:cNvPicPr preferRelativeResize="0"/>
          <p:nvPr/>
        </p:nvPicPr>
        <p:blipFill rotWithShape="1">
          <a:blip r:embed="rId3"/>
          <a:srcRect l="35792" r="12799" b="2"/>
          <a:stretch/>
        </p:blipFill>
        <p:spPr>
          <a:xfrm>
            <a:off x="5025006" y="2484255"/>
            <a:ext cx="2679992" cy="3714244"/>
          </a:xfrm>
          <a:prstGeom prst="rect">
            <a:avLst/>
          </a:prstGeom>
          <a:noFill/>
        </p:spPr>
      </p:pic>
      <p:sp>
        <p:nvSpPr>
          <p:cNvPr id="163" name="Rectangle 16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83" name="Rectangle 7182">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918676-BD78-D82E-7241-D9F8A90DBC88}"/>
              </a:ext>
            </a:extLst>
          </p:cNvPr>
          <p:cNvSpPr>
            <a:spLocks noGrp="1"/>
          </p:cNvSpPr>
          <p:nvPr>
            <p:ph type="title"/>
          </p:nvPr>
        </p:nvSpPr>
        <p:spPr>
          <a:xfrm>
            <a:off x="595246" y="386930"/>
            <a:ext cx="7549592" cy="1298448"/>
          </a:xfrm>
        </p:spPr>
        <p:txBody>
          <a:bodyPr anchor="b">
            <a:normAutofit/>
          </a:bodyPr>
          <a:lstStyle/>
          <a:p>
            <a:r>
              <a:rPr lang="en-US" sz="4200"/>
              <a:t>TPUs limitations</a:t>
            </a:r>
          </a:p>
        </p:txBody>
      </p:sp>
      <p:sp>
        <p:nvSpPr>
          <p:cNvPr id="7184" name="Rectangle 718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5" name="Rectangle 718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A97E68CF-848B-5FD9-984B-13A95E3FF692}"/>
              </a:ext>
            </a:extLst>
          </p:cNvPr>
          <p:cNvSpPr>
            <a:spLocks noGrp="1"/>
          </p:cNvSpPr>
          <p:nvPr>
            <p:ph type="body" idx="1"/>
          </p:nvPr>
        </p:nvSpPr>
        <p:spPr>
          <a:xfrm>
            <a:off x="595245" y="2599509"/>
            <a:ext cx="3398174" cy="3639450"/>
          </a:xfrm>
        </p:spPr>
        <p:txBody>
          <a:bodyPr anchor="ctr">
            <a:normAutofit/>
          </a:bodyPr>
          <a:lstStyle/>
          <a:p>
            <a:r>
              <a:rPr lang="en-US" sz="1100" b="0" i="0" dirty="0">
                <a:effectLst/>
                <a:latin typeface="sohne"/>
              </a:rPr>
              <a:t>It’s not a generic processor. It can only </a:t>
            </a:r>
            <a:r>
              <a:rPr lang="en-US" sz="1100" b="0" i="0">
                <a:effectLst/>
                <a:latin typeface="sohne"/>
              </a:rPr>
              <a:t>handle tensorflow </a:t>
            </a:r>
            <a:r>
              <a:rPr lang="en-US" sz="1100" b="0" i="0" dirty="0">
                <a:effectLst/>
                <a:latin typeface="sohne"/>
              </a:rPr>
              <a:t>model on it.</a:t>
            </a:r>
          </a:p>
          <a:p>
            <a:r>
              <a:rPr lang="en-US" sz="1100" b="0" i="0" dirty="0">
                <a:effectLst/>
                <a:latin typeface="source-serif-pro"/>
              </a:rPr>
              <a:t>TPU solved the memory access problem. </a:t>
            </a:r>
          </a:p>
          <a:p>
            <a:pPr marL="1028700" lvl="1" indent="-457200">
              <a:buFont typeface="+mj-lt"/>
              <a:buAutoNum type="arabicPeriod"/>
            </a:pPr>
            <a:r>
              <a:rPr lang="en-US" sz="1100" b="0" i="0" dirty="0">
                <a:effectLst/>
                <a:latin typeface="source-serif-pro"/>
              </a:rPr>
              <a:t>It loads the parameter from memory into the matrix of multipliers and adders.</a:t>
            </a:r>
          </a:p>
          <a:p>
            <a:pPr marL="1028700" lvl="1" indent="-457200">
              <a:buFont typeface="+mj-lt"/>
              <a:buAutoNum type="arabicPeriod"/>
            </a:pPr>
            <a:r>
              <a:rPr lang="en-US" sz="1100" b="0" i="0" dirty="0">
                <a:effectLst/>
                <a:latin typeface="source-serif-pro"/>
              </a:rPr>
              <a:t>TPU loads the data from memory. As each multiplication is executed, the result will be passed to next multipliers while taking summation at the same time. So the output will be the summation of all multiplication result between data and parameters. </a:t>
            </a:r>
          </a:p>
          <a:p>
            <a:pPr marL="571500" lvl="1" indent="0">
              <a:buNone/>
            </a:pPr>
            <a:r>
              <a:rPr lang="en-US" sz="1100" b="0" i="0" dirty="0">
                <a:effectLst/>
                <a:latin typeface="source-serif-pro"/>
              </a:rPr>
              <a:t>During the whole process of massive calculations and data passing, no memory access is required at all.</a:t>
            </a:r>
          </a:p>
          <a:p>
            <a:pPr lvl="1"/>
            <a:r>
              <a:rPr lang="en-US" sz="1100" b="0" i="0" dirty="0">
                <a:effectLst/>
                <a:latin typeface="source-serif-pro"/>
              </a:rPr>
              <a:t>This is why TPU can achieve high computational throughput on neural network.</a:t>
            </a:r>
            <a:endParaRPr lang="en-US" sz="1100" dirty="0"/>
          </a:p>
        </p:txBody>
      </p:sp>
      <p:pic>
        <p:nvPicPr>
          <p:cNvPr id="7170" name="Picture 2" descr="How Cloud TPU v5e accelerates large-scale AI inference | Google Cloud Blog">
            <a:extLst>
              <a:ext uri="{FF2B5EF4-FFF2-40B4-BE49-F238E27FC236}">
                <a16:creationId xmlns:a16="http://schemas.microsoft.com/office/drawing/2014/main" id="{579D76C1-1EA4-DDBC-7503-47A1BA9B22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1841" r="23040"/>
          <a:stretch/>
        </p:blipFill>
        <p:spPr bwMode="auto">
          <a:xfrm>
            <a:off x="4433649" y="2484255"/>
            <a:ext cx="3862707" cy="3714244"/>
          </a:xfrm>
          <a:prstGeom prst="rect">
            <a:avLst/>
          </a:prstGeom>
          <a:noFill/>
          <a:extLst>
            <a:ext uri="{909E8E84-426E-40DD-AFC4-6F175D3DCCD1}">
              <a14:hiddenFill xmlns:a14="http://schemas.microsoft.com/office/drawing/2010/main">
                <a:solidFill>
                  <a:srgbClr val="FFFFFF"/>
                </a:solidFill>
              </a14:hiddenFill>
            </a:ext>
          </a:extLst>
        </p:spPr>
      </p:pic>
      <p:sp>
        <p:nvSpPr>
          <p:cNvPr id="7186" name="Rectangle 718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3137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Where things are going?</a:t>
            </a:r>
            <a:endParaRPr dirty="0"/>
          </a:p>
        </p:txBody>
      </p:sp>
      <p:sp>
        <p:nvSpPr>
          <p:cNvPr id="139" name="Google Shape;139;p8"/>
          <p:cNvSpPr txBox="1">
            <a:spLocks noGrp="1"/>
          </p:cNvSpPr>
          <p:nvPr>
            <p:ph type="body" idx="1"/>
          </p:nvPr>
        </p:nvSpPr>
        <p:spPr>
          <a:xfrm>
            <a:off x="628650" y="1825625"/>
            <a:ext cx="8277300" cy="43512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ct val="100000"/>
              <a:buChar char="•"/>
            </a:pPr>
            <a:r>
              <a:rPr lang="en-US" dirty="0"/>
              <a:t>The emergence of TPUs is a sign of a general trend. Rather than building models and worrying about how to run them later, chip-aware machine learning is emerging as a paradigm. </a:t>
            </a:r>
            <a:endParaRPr dirty="0"/>
          </a:p>
          <a:p>
            <a:pPr marL="228600" lvl="0" indent="-228600" algn="l" rtl="0">
              <a:lnSpc>
                <a:spcPct val="90000"/>
              </a:lnSpc>
              <a:spcBef>
                <a:spcPts val="1000"/>
              </a:spcBef>
              <a:spcAft>
                <a:spcPts val="0"/>
              </a:spcAft>
              <a:buClr>
                <a:schemeClr val="dk1"/>
              </a:buClr>
              <a:buSzPct val="100000"/>
              <a:buChar char="•"/>
            </a:pPr>
            <a:r>
              <a:rPr lang="en-US" dirty="0"/>
              <a:t>We are bound to see chips emerge which are increasingly better specialized to execute the operations on which AI models rely. </a:t>
            </a:r>
            <a:endParaRPr dirty="0"/>
          </a:p>
          <a:p>
            <a:pPr marL="228600" lvl="0" indent="-228600" algn="l" rtl="0">
              <a:lnSpc>
                <a:spcPct val="90000"/>
              </a:lnSpc>
              <a:spcBef>
                <a:spcPts val="1000"/>
              </a:spcBef>
              <a:spcAft>
                <a:spcPts val="0"/>
              </a:spcAft>
              <a:buClr>
                <a:schemeClr val="dk1"/>
              </a:buClr>
              <a:buSzPct val="100000"/>
              <a:buChar char="•"/>
            </a:pPr>
            <a:r>
              <a:rPr lang="en-US" dirty="0"/>
              <a:t>New emergent capacities are bound to emerge as we push the boundary of the possible with specialized mechanics. </a:t>
            </a:r>
            <a:endParaRPr dirty="0"/>
          </a:p>
          <a:p>
            <a:pPr marL="228600" lvl="0" indent="-77470" algn="l" rtl="0">
              <a:lnSpc>
                <a:spcPct val="90000"/>
              </a:lnSpc>
              <a:spcBef>
                <a:spcPts val="1000"/>
              </a:spcBef>
              <a:spcAft>
                <a:spcPts val="0"/>
              </a:spcAft>
              <a:buClr>
                <a:schemeClr val="dk1"/>
              </a:buClr>
              <a:buSzPct val="100000"/>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44"/>
        <p:cNvGrpSpPr/>
        <p:nvPr/>
      </p:nvGrpSpPr>
      <p:grpSpPr>
        <a:xfrm>
          <a:off x="0" y="0"/>
          <a:ext cx="0" cy="0"/>
          <a:chOff x="0" y="0"/>
          <a:chExt cx="0" cy="0"/>
        </a:xfrm>
      </p:grpSpPr>
      <p:sp useBgFill="1">
        <p:nvSpPr>
          <p:cNvPr id="152" name="Rectangle 15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Google Shape;145;g2c71adec0ba_0_2"/>
          <p:cNvSpPr txBox="1">
            <a:spLocks noGrp="1"/>
          </p:cNvSpPr>
          <p:nvPr>
            <p:ph type="title"/>
          </p:nvPr>
        </p:nvSpPr>
        <p:spPr>
          <a:xfrm>
            <a:off x="429369" y="238539"/>
            <a:ext cx="8263890" cy="1434415"/>
          </a:xfrm>
          <a:prstGeom prst="rect">
            <a:avLst/>
          </a:prstGeom>
        </p:spPr>
        <p:txBody>
          <a:bodyPr spcFirstLastPara="1" lIns="91425" tIns="45700" rIns="91425" bIns="45700" anchor="b" anchorCtr="0">
            <a:normAutofit/>
          </a:bodyPr>
          <a:lstStyle/>
          <a:p>
            <a:pPr marL="0" lvl="0" indent="0" rtl="0">
              <a:spcBef>
                <a:spcPts val="0"/>
              </a:spcBef>
              <a:spcAft>
                <a:spcPts val="0"/>
              </a:spcAft>
              <a:buNone/>
            </a:pPr>
            <a:r>
              <a:rPr lang="en-US" sz="4700"/>
              <a:t>Neural Processing Units </a:t>
            </a:r>
          </a:p>
        </p:txBody>
      </p:sp>
      <p:sp>
        <p:nvSpPr>
          <p:cNvPr id="15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9369" y="1681544"/>
            <a:ext cx="8229600" cy="18288"/>
          </a:xfrm>
          <a:custGeom>
            <a:avLst/>
            <a:gdLst>
              <a:gd name="connsiteX0" fmla="*/ 0 w 8229600"/>
              <a:gd name="connsiteY0" fmla="*/ 0 h 18288"/>
              <a:gd name="connsiteX1" fmla="*/ 521208 w 8229600"/>
              <a:gd name="connsiteY1" fmla="*/ 0 h 18288"/>
              <a:gd name="connsiteX2" fmla="*/ 1371600 w 8229600"/>
              <a:gd name="connsiteY2" fmla="*/ 0 h 18288"/>
              <a:gd name="connsiteX3" fmla="*/ 2221992 w 8229600"/>
              <a:gd name="connsiteY3" fmla="*/ 0 h 18288"/>
              <a:gd name="connsiteX4" fmla="*/ 3072384 w 8229600"/>
              <a:gd name="connsiteY4" fmla="*/ 0 h 18288"/>
              <a:gd name="connsiteX5" fmla="*/ 3511296 w 8229600"/>
              <a:gd name="connsiteY5" fmla="*/ 0 h 18288"/>
              <a:gd name="connsiteX6" fmla="*/ 4114800 w 8229600"/>
              <a:gd name="connsiteY6" fmla="*/ 0 h 18288"/>
              <a:gd name="connsiteX7" fmla="*/ 4553712 w 8229600"/>
              <a:gd name="connsiteY7" fmla="*/ 0 h 18288"/>
              <a:gd name="connsiteX8" fmla="*/ 5239512 w 8229600"/>
              <a:gd name="connsiteY8" fmla="*/ 0 h 18288"/>
              <a:gd name="connsiteX9" fmla="*/ 5843016 w 8229600"/>
              <a:gd name="connsiteY9" fmla="*/ 0 h 18288"/>
              <a:gd name="connsiteX10" fmla="*/ 6611112 w 8229600"/>
              <a:gd name="connsiteY10" fmla="*/ 0 h 18288"/>
              <a:gd name="connsiteX11" fmla="*/ 7461504 w 8229600"/>
              <a:gd name="connsiteY11" fmla="*/ 0 h 18288"/>
              <a:gd name="connsiteX12" fmla="*/ 8229600 w 8229600"/>
              <a:gd name="connsiteY12" fmla="*/ 0 h 18288"/>
              <a:gd name="connsiteX13" fmla="*/ 8229600 w 8229600"/>
              <a:gd name="connsiteY13" fmla="*/ 18288 h 18288"/>
              <a:gd name="connsiteX14" fmla="*/ 7461504 w 8229600"/>
              <a:gd name="connsiteY14" fmla="*/ 18288 h 18288"/>
              <a:gd name="connsiteX15" fmla="*/ 6940296 w 8229600"/>
              <a:gd name="connsiteY15" fmla="*/ 18288 h 18288"/>
              <a:gd name="connsiteX16" fmla="*/ 6419088 w 8229600"/>
              <a:gd name="connsiteY16" fmla="*/ 18288 h 18288"/>
              <a:gd name="connsiteX17" fmla="*/ 5650992 w 8229600"/>
              <a:gd name="connsiteY17" fmla="*/ 18288 h 18288"/>
              <a:gd name="connsiteX18" fmla="*/ 5129784 w 8229600"/>
              <a:gd name="connsiteY18" fmla="*/ 18288 h 18288"/>
              <a:gd name="connsiteX19" fmla="*/ 4690872 w 8229600"/>
              <a:gd name="connsiteY19" fmla="*/ 18288 h 18288"/>
              <a:gd name="connsiteX20" fmla="*/ 4087368 w 8229600"/>
              <a:gd name="connsiteY20" fmla="*/ 18288 h 18288"/>
              <a:gd name="connsiteX21" fmla="*/ 3401568 w 8229600"/>
              <a:gd name="connsiteY21" fmla="*/ 18288 h 18288"/>
              <a:gd name="connsiteX22" fmla="*/ 2798064 w 8229600"/>
              <a:gd name="connsiteY22" fmla="*/ 18288 h 18288"/>
              <a:gd name="connsiteX23" fmla="*/ 2276856 w 8229600"/>
              <a:gd name="connsiteY23" fmla="*/ 18288 h 18288"/>
              <a:gd name="connsiteX24" fmla="*/ 1426464 w 8229600"/>
              <a:gd name="connsiteY24" fmla="*/ 18288 h 18288"/>
              <a:gd name="connsiteX25" fmla="*/ 740664 w 8229600"/>
              <a:gd name="connsiteY25" fmla="*/ 18288 h 18288"/>
              <a:gd name="connsiteX26" fmla="*/ 0 w 8229600"/>
              <a:gd name="connsiteY26" fmla="*/ 18288 h 18288"/>
              <a:gd name="connsiteX27" fmla="*/ 0 w 8229600"/>
              <a:gd name="connsiteY2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229600" h="18288" fill="none" extrusionOk="0">
                <a:moveTo>
                  <a:pt x="0" y="0"/>
                </a:moveTo>
                <a:cubicBezTo>
                  <a:pt x="227594" y="-4267"/>
                  <a:pt x="329693" y="13251"/>
                  <a:pt x="521208" y="0"/>
                </a:cubicBezTo>
                <a:cubicBezTo>
                  <a:pt x="712723" y="-13251"/>
                  <a:pt x="1137373" y="-13618"/>
                  <a:pt x="1371600" y="0"/>
                </a:cubicBezTo>
                <a:cubicBezTo>
                  <a:pt x="1605827" y="13618"/>
                  <a:pt x="1975382" y="-27374"/>
                  <a:pt x="2221992" y="0"/>
                </a:cubicBezTo>
                <a:cubicBezTo>
                  <a:pt x="2468602" y="27374"/>
                  <a:pt x="2863316" y="-20517"/>
                  <a:pt x="3072384" y="0"/>
                </a:cubicBezTo>
                <a:cubicBezTo>
                  <a:pt x="3281452" y="20517"/>
                  <a:pt x="3331438" y="10793"/>
                  <a:pt x="3511296" y="0"/>
                </a:cubicBezTo>
                <a:cubicBezTo>
                  <a:pt x="3691154" y="-10793"/>
                  <a:pt x="3906405" y="-29737"/>
                  <a:pt x="4114800" y="0"/>
                </a:cubicBezTo>
                <a:cubicBezTo>
                  <a:pt x="4323195" y="29737"/>
                  <a:pt x="4428852" y="-2234"/>
                  <a:pt x="4553712" y="0"/>
                </a:cubicBezTo>
                <a:cubicBezTo>
                  <a:pt x="4678572" y="2234"/>
                  <a:pt x="5065629" y="29368"/>
                  <a:pt x="5239512" y="0"/>
                </a:cubicBezTo>
                <a:cubicBezTo>
                  <a:pt x="5413395" y="-29368"/>
                  <a:pt x="5703888" y="11839"/>
                  <a:pt x="5843016" y="0"/>
                </a:cubicBezTo>
                <a:cubicBezTo>
                  <a:pt x="5982144" y="-11839"/>
                  <a:pt x="6260765" y="24719"/>
                  <a:pt x="6611112" y="0"/>
                </a:cubicBezTo>
                <a:cubicBezTo>
                  <a:pt x="6961459" y="-24719"/>
                  <a:pt x="7228293" y="32959"/>
                  <a:pt x="7461504" y="0"/>
                </a:cubicBezTo>
                <a:cubicBezTo>
                  <a:pt x="7694715" y="-32959"/>
                  <a:pt x="7990029" y="-3422"/>
                  <a:pt x="8229600" y="0"/>
                </a:cubicBezTo>
                <a:cubicBezTo>
                  <a:pt x="8228940" y="5812"/>
                  <a:pt x="8229447" y="9773"/>
                  <a:pt x="8229600" y="18288"/>
                </a:cubicBezTo>
                <a:cubicBezTo>
                  <a:pt x="7940706" y="-9293"/>
                  <a:pt x="7792584" y="-16009"/>
                  <a:pt x="7461504" y="18288"/>
                </a:cubicBezTo>
                <a:cubicBezTo>
                  <a:pt x="7130424" y="52585"/>
                  <a:pt x="7080072" y="43845"/>
                  <a:pt x="6940296" y="18288"/>
                </a:cubicBezTo>
                <a:cubicBezTo>
                  <a:pt x="6800520" y="-7269"/>
                  <a:pt x="6672872" y="26671"/>
                  <a:pt x="6419088" y="18288"/>
                </a:cubicBezTo>
                <a:cubicBezTo>
                  <a:pt x="6165304" y="9905"/>
                  <a:pt x="5869721" y="4987"/>
                  <a:pt x="5650992" y="18288"/>
                </a:cubicBezTo>
                <a:cubicBezTo>
                  <a:pt x="5432263" y="31589"/>
                  <a:pt x="5308310" y="3023"/>
                  <a:pt x="5129784" y="18288"/>
                </a:cubicBezTo>
                <a:cubicBezTo>
                  <a:pt x="4951258" y="33553"/>
                  <a:pt x="4799696" y="15357"/>
                  <a:pt x="4690872" y="18288"/>
                </a:cubicBezTo>
                <a:cubicBezTo>
                  <a:pt x="4582048" y="21219"/>
                  <a:pt x="4311124" y="-7836"/>
                  <a:pt x="4087368" y="18288"/>
                </a:cubicBezTo>
                <a:cubicBezTo>
                  <a:pt x="3863612" y="44412"/>
                  <a:pt x="3730288" y="13374"/>
                  <a:pt x="3401568" y="18288"/>
                </a:cubicBezTo>
                <a:cubicBezTo>
                  <a:pt x="3072848" y="23202"/>
                  <a:pt x="3020684" y="32425"/>
                  <a:pt x="2798064" y="18288"/>
                </a:cubicBezTo>
                <a:cubicBezTo>
                  <a:pt x="2575444" y="4151"/>
                  <a:pt x="2440915" y="-7352"/>
                  <a:pt x="2276856" y="18288"/>
                </a:cubicBezTo>
                <a:cubicBezTo>
                  <a:pt x="2112797" y="43928"/>
                  <a:pt x="1726502" y="-9560"/>
                  <a:pt x="1426464" y="18288"/>
                </a:cubicBezTo>
                <a:cubicBezTo>
                  <a:pt x="1126426" y="46136"/>
                  <a:pt x="992925" y="21016"/>
                  <a:pt x="740664" y="18288"/>
                </a:cubicBezTo>
                <a:cubicBezTo>
                  <a:pt x="488403" y="15560"/>
                  <a:pt x="195650" y="-16061"/>
                  <a:pt x="0" y="18288"/>
                </a:cubicBezTo>
                <a:cubicBezTo>
                  <a:pt x="348" y="9455"/>
                  <a:pt x="654" y="3983"/>
                  <a:pt x="0" y="0"/>
                </a:cubicBezTo>
                <a:close/>
              </a:path>
              <a:path w="8229600" h="18288" stroke="0" extrusionOk="0">
                <a:moveTo>
                  <a:pt x="0" y="0"/>
                </a:moveTo>
                <a:cubicBezTo>
                  <a:pt x="259263" y="-9445"/>
                  <a:pt x="404731" y="4427"/>
                  <a:pt x="521208" y="0"/>
                </a:cubicBezTo>
                <a:cubicBezTo>
                  <a:pt x="637685" y="-4427"/>
                  <a:pt x="839187" y="564"/>
                  <a:pt x="960120" y="0"/>
                </a:cubicBezTo>
                <a:cubicBezTo>
                  <a:pt x="1081053" y="-564"/>
                  <a:pt x="1313469" y="-16481"/>
                  <a:pt x="1481328" y="0"/>
                </a:cubicBezTo>
                <a:cubicBezTo>
                  <a:pt x="1649187" y="16481"/>
                  <a:pt x="1885247" y="26161"/>
                  <a:pt x="2167128" y="0"/>
                </a:cubicBezTo>
                <a:cubicBezTo>
                  <a:pt x="2449009" y="-26161"/>
                  <a:pt x="2761875" y="-22202"/>
                  <a:pt x="2935224" y="0"/>
                </a:cubicBezTo>
                <a:cubicBezTo>
                  <a:pt x="3108573" y="22202"/>
                  <a:pt x="3540687" y="-2863"/>
                  <a:pt x="3785616" y="0"/>
                </a:cubicBezTo>
                <a:cubicBezTo>
                  <a:pt x="4030545" y="2863"/>
                  <a:pt x="4280774" y="-12442"/>
                  <a:pt x="4636008" y="0"/>
                </a:cubicBezTo>
                <a:cubicBezTo>
                  <a:pt x="4991242" y="12442"/>
                  <a:pt x="5025483" y="16914"/>
                  <a:pt x="5239512" y="0"/>
                </a:cubicBezTo>
                <a:cubicBezTo>
                  <a:pt x="5453541" y="-16914"/>
                  <a:pt x="5754008" y="16592"/>
                  <a:pt x="6007608" y="0"/>
                </a:cubicBezTo>
                <a:cubicBezTo>
                  <a:pt x="6261208" y="-16592"/>
                  <a:pt x="6407957" y="-11909"/>
                  <a:pt x="6693408" y="0"/>
                </a:cubicBezTo>
                <a:cubicBezTo>
                  <a:pt x="6978859" y="11909"/>
                  <a:pt x="7015437" y="-20890"/>
                  <a:pt x="7296912" y="0"/>
                </a:cubicBezTo>
                <a:cubicBezTo>
                  <a:pt x="7578387" y="20890"/>
                  <a:pt x="7859622" y="46406"/>
                  <a:pt x="8229600" y="0"/>
                </a:cubicBezTo>
                <a:cubicBezTo>
                  <a:pt x="8230508" y="6337"/>
                  <a:pt x="8228722" y="11778"/>
                  <a:pt x="8229600" y="18288"/>
                </a:cubicBezTo>
                <a:cubicBezTo>
                  <a:pt x="8075287" y="35054"/>
                  <a:pt x="7821366" y="21850"/>
                  <a:pt x="7626096" y="18288"/>
                </a:cubicBezTo>
                <a:cubicBezTo>
                  <a:pt x="7430826" y="14726"/>
                  <a:pt x="7320004" y="-9669"/>
                  <a:pt x="7022592" y="18288"/>
                </a:cubicBezTo>
                <a:cubicBezTo>
                  <a:pt x="6725180" y="46245"/>
                  <a:pt x="6348804" y="-14025"/>
                  <a:pt x="6172200" y="18288"/>
                </a:cubicBezTo>
                <a:cubicBezTo>
                  <a:pt x="5995596" y="50601"/>
                  <a:pt x="5788102" y="22890"/>
                  <a:pt x="5650992" y="18288"/>
                </a:cubicBezTo>
                <a:cubicBezTo>
                  <a:pt x="5513882" y="13686"/>
                  <a:pt x="5198399" y="29121"/>
                  <a:pt x="4882896" y="18288"/>
                </a:cubicBezTo>
                <a:cubicBezTo>
                  <a:pt x="4567393" y="7455"/>
                  <a:pt x="4557008" y="26965"/>
                  <a:pt x="4443984" y="18288"/>
                </a:cubicBezTo>
                <a:cubicBezTo>
                  <a:pt x="4330960" y="9611"/>
                  <a:pt x="4061674" y="28891"/>
                  <a:pt x="3758184" y="18288"/>
                </a:cubicBezTo>
                <a:cubicBezTo>
                  <a:pt x="3454694" y="7685"/>
                  <a:pt x="3380392" y="19119"/>
                  <a:pt x="3236976" y="18288"/>
                </a:cubicBezTo>
                <a:cubicBezTo>
                  <a:pt x="3093560" y="17457"/>
                  <a:pt x="2632116" y="37607"/>
                  <a:pt x="2386584" y="18288"/>
                </a:cubicBezTo>
                <a:cubicBezTo>
                  <a:pt x="2141052" y="-1031"/>
                  <a:pt x="2110884" y="28777"/>
                  <a:pt x="1947672" y="18288"/>
                </a:cubicBezTo>
                <a:cubicBezTo>
                  <a:pt x="1784460" y="7799"/>
                  <a:pt x="1535467" y="461"/>
                  <a:pt x="1261872" y="18288"/>
                </a:cubicBezTo>
                <a:cubicBezTo>
                  <a:pt x="988277" y="36115"/>
                  <a:pt x="1021096" y="10375"/>
                  <a:pt x="822960" y="18288"/>
                </a:cubicBezTo>
                <a:cubicBezTo>
                  <a:pt x="624824" y="26201"/>
                  <a:pt x="298309" y="1283"/>
                  <a:pt x="0" y="18288"/>
                </a:cubicBezTo>
                <a:cubicBezTo>
                  <a:pt x="-633" y="12278"/>
                  <a:pt x="-757" y="5867"/>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Google Shape;146;g2c71adec0ba_0_2"/>
          <p:cNvSpPr txBox="1">
            <a:spLocks noGrp="1"/>
          </p:cNvSpPr>
          <p:nvPr>
            <p:ph type="body" idx="1"/>
          </p:nvPr>
        </p:nvSpPr>
        <p:spPr>
          <a:xfrm>
            <a:off x="429369" y="2071316"/>
            <a:ext cx="5035164" cy="4119172"/>
          </a:xfrm>
          <a:prstGeom prst="rect">
            <a:avLst/>
          </a:prstGeom>
        </p:spPr>
        <p:txBody>
          <a:bodyPr spcFirstLastPara="1" lIns="91425" tIns="45700" rIns="91425" bIns="45700" anchor="t" anchorCtr="0">
            <a:normAutofit/>
          </a:bodyPr>
          <a:lstStyle/>
          <a:p>
            <a:pPr marL="457200" lvl="0" indent="-292100" rtl="0">
              <a:spcBef>
                <a:spcPts val="1000"/>
              </a:spcBef>
              <a:spcAft>
                <a:spcPts val="0"/>
              </a:spcAft>
              <a:buSzPts val="1000"/>
              <a:buChar char="•"/>
            </a:pPr>
            <a:r>
              <a:rPr lang="en-US" sz="1800" dirty="0"/>
              <a:t>Neural processing units (NPUs) are specialized chips that are designed to accelerate the processing of neural networks.</a:t>
            </a:r>
          </a:p>
          <a:p>
            <a:pPr marL="457200" lvl="0" indent="-292100" rtl="0">
              <a:spcBef>
                <a:spcPts val="0"/>
              </a:spcBef>
              <a:spcAft>
                <a:spcPts val="0"/>
              </a:spcAft>
              <a:buSzPts val="1000"/>
              <a:buChar char="•"/>
            </a:pPr>
            <a:r>
              <a:rPr lang="en-US" sz="1800" dirty="0"/>
              <a:t>Neural networks are a type of AI that mimic the structure and function of the human brain. </a:t>
            </a:r>
          </a:p>
          <a:p>
            <a:pPr marL="914400" lvl="1" indent="-292100" rtl="0">
              <a:spcBef>
                <a:spcPts val="0"/>
              </a:spcBef>
              <a:spcAft>
                <a:spcPts val="0"/>
              </a:spcAft>
              <a:buSzPts val="1000"/>
              <a:buChar char="•"/>
            </a:pPr>
            <a:r>
              <a:rPr lang="en-US" sz="1800" dirty="0"/>
              <a:t>They consist of layers of interconnected nodes, called neurons, that process and transmit information. </a:t>
            </a:r>
          </a:p>
          <a:p>
            <a:pPr marL="457200" lvl="0" indent="-292100" rtl="0">
              <a:spcBef>
                <a:spcPts val="0"/>
              </a:spcBef>
              <a:spcAft>
                <a:spcPts val="0"/>
              </a:spcAft>
              <a:buSzPts val="1000"/>
              <a:buChar char="•"/>
            </a:pPr>
            <a:r>
              <a:rPr lang="en-US" sz="1800" dirty="0"/>
              <a:t>NPUs are optimized to perform the mathematical operations that are involved in neural network processing, such as matrix multiplication and convolution. </a:t>
            </a:r>
          </a:p>
          <a:p>
            <a:pPr marL="457200" lvl="0" indent="-292100" rtl="0">
              <a:spcBef>
                <a:spcPts val="0"/>
              </a:spcBef>
              <a:spcAft>
                <a:spcPts val="0"/>
              </a:spcAft>
              <a:buSzPts val="1000"/>
              <a:buChar char="•"/>
            </a:pPr>
            <a:r>
              <a:rPr lang="en-US" sz="1800" dirty="0"/>
              <a:t>NPUs can be integrated into CPUs, GPUs, or ASICs, or they can be standalone chips.</a:t>
            </a:r>
          </a:p>
        </p:txBody>
      </p:sp>
      <p:pic>
        <p:nvPicPr>
          <p:cNvPr id="147" name="Google Shape;147;g2c71adec0ba_0_2"/>
          <p:cNvPicPr preferRelativeResize="0"/>
          <p:nvPr/>
        </p:nvPicPr>
        <p:blipFill>
          <a:blip r:embed="rId3"/>
          <a:srcRect l="50373" r="8860" b="-1"/>
          <a:stretch/>
        </p:blipFill>
        <p:spPr>
          <a:xfrm>
            <a:off x="5756743" y="2093976"/>
            <a:ext cx="2955798" cy="4096512"/>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AF605-627F-CF70-AED3-6FF016A332A8}"/>
              </a:ext>
            </a:extLst>
          </p:cNvPr>
          <p:cNvSpPr>
            <a:spLocks noGrp="1"/>
          </p:cNvSpPr>
          <p:nvPr>
            <p:ph type="title"/>
          </p:nvPr>
        </p:nvSpPr>
        <p:spPr>
          <a:xfrm>
            <a:off x="571380" y="1138265"/>
            <a:ext cx="3408571" cy="1401183"/>
          </a:xfrm>
        </p:spPr>
        <p:txBody>
          <a:bodyPr anchor="t">
            <a:normAutofit/>
          </a:bodyPr>
          <a:lstStyle/>
          <a:p>
            <a:r>
              <a:rPr lang="en-US" sz="2800"/>
              <a:t>Is NPU/TPU a chip?</a:t>
            </a:r>
          </a:p>
        </p:txBody>
      </p:sp>
      <p:cxnSp>
        <p:nvCxnSpPr>
          <p:cNvPr id="1031" name="Straight Connector 1030">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6096" y="871146"/>
            <a:ext cx="552704"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9F4933A-9E6D-DCC9-9954-6AB24C7C738C}"/>
              </a:ext>
            </a:extLst>
          </p:cNvPr>
          <p:cNvSpPr>
            <a:spLocks noGrp="1"/>
          </p:cNvSpPr>
          <p:nvPr>
            <p:ph type="body" idx="1"/>
          </p:nvPr>
        </p:nvSpPr>
        <p:spPr>
          <a:xfrm>
            <a:off x="571380" y="2551176"/>
            <a:ext cx="3408571" cy="3602935"/>
          </a:xfrm>
        </p:spPr>
        <p:txBody>
          <a:bodyPr>
            <a:normAutofit/>
          </a:bodyPr>
          <a:lstStyle/>
          <a:p>
            <a:r>
              <a:rPr lang="en-US" sz="1700" b="0" i="0" dirty="0">
                <a:effectLst/>
                <a:latin typeface="+mn-lt"/>
              </a:rPr>
              <a:t>Not usually. Unlike, Google’s TPUs, NPUs aren’t normally separate chips. Instead, they are a distinct block of circuits on a System-on-Chip, the single silicon die that contains all of the processing capacity needed to power a modern personal computer or smartphone.</a:t>
            </a:r>
            <a:br>
              <a:rPr lang="en-US" sz="1700" dirty="0">
                <a:latin typeface="+mn-lt"/>
              </a:rPr>
            </a:br>
            <a:endParaRPr lang="en-US" sz="1700" dirty="0">
              <a:latin typeface="+mn-lt"/>
            </a:endParaRPr>
          </a:p>
        </p:txBody>
      </p:sp>
      <p:pic>
        <p:nvPicPr>
          <p:cNvPr id="1026" name="Picture 2">
            <a:extLst>
              <a:ext uri="{FF2B5EF4-FFF2-40B4-BE49-F238E27FC236}">
                <a16:creationId xmlns:a16="http://schemas.microsoft.com/office/drawing/2014/main" id="{E3CA1DBB-42F7-1B11-4EBF-1791EB541CF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562061" y="1449494"/>
            <a:ext cx="4000620" cy="3960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3839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9C626-1943-5A82-C617-84061307B2E6}"/>
              </a:ext>
            </a:extLst>
          </p:cNvPr>
          <p:cNvSpPr>
            <a:spLocks noGrp="1"/>
          </p:cNvSpPr>
          <p:nvPr>
            <p:ph type="title"/>
          </p:nvPr>
        </p:nvSpPr>
        <p:spPr>
          <a:xfrm>
            <a:off x="571500" y="1138036"/>
            <a:ext cx="3064248" cy="1402470"/>
          </a:xfrm>
        </p:spPr>
        <p:txBody>
          <a:bodyPr anchor="t">
            <a:normAutofit/>
          </a:bodyPr>
          <a:lstStyle/>
          <a:p>
            <a:r>
              <a:rPr lang="en-US" sz="2800" dirty="0"/>
              <a:t>Apple M4 chip</a:t>
            </a:r>
          </a:p>
        </p:txBody>
      </p:sp>
      <p:cxnSp>
        <p:nvCxnSpPr>
          <p:cNvPr id="2055" name="Straight Connector 2054">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8855" y="871146"/>
            <a:ext cx="552704"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7E512510-B4AC-1083-4FFB-FF78ADF1A845}"/>
              </a:ext>
            </a:extLst>
          </p:cNvPr>
          <p:cNvSpPr>
            <a:spLocks noGrp="1"/>
          </p:cNvSpPr>
          <p:nvPr>
            <p:ph type="body" idx="1"/>
          </p:nvPr>
        </p:nvSpPr>
        <p:spPr>
          <a:xfrm>
            <a:off x="571500" y="2551176"/>
            <a:ext cx="3064248" cy="3591207"/>
          </a:xfrm>
        </p:spPr>
        <p:txBody>
          <a:bodyPr>
            <a:normAutofit/>
          </a:bodyPr>
          <a:lstStyle/>
          <a:p>
            <a:r>
              <a:rPr lang="en-US" sz="1400" b="0" i="0" dirty="0">
                <a:effectLst/>
                <a:latin typeface="+mn-lt"/>
              </a:rPr>
              <a:t>When announcing the M4 chip, used in the latest iPad Pro, Apple provided a stylized image portraying the location of the NPU on the SoC silicon die.</a:t>
            </a:r>
          </a:p>
          <a:p>
            <a:r>
              <a:rPr lang="en-US" sz="1400" b="0" i="0" dirty="0">
                <a:effectLst/>
                <a:latin typeface="+mn-lt"/>
              </a:rPr>
              <a:t>Even allowing for the approximate nature of this portrayal we can see that the NPU takes up a non-trivial part of the M4’s die.</a:t>
            </a:r>
          </a:p>
          <a:p>
            <a:r>
              <a:rPr lang="en-US" sz="1400" b="0" i="0" dirty="0">
                <a:effectLst/>
                <a:latin typeface="+mn-lt"/>
              </a:rPr>
              <a:t>Having the NPU on the same die as the CPU means that the NPU will be cheaper to make and more power efficient than if it was on a separate chip.</a:t>
            </a:r>
          </a:p>
          <a:p>
            <a:endParaRPr lang="en-US" sz="1400" dirty="0">
              <a:latin typeface="+mn-lt"/>
            </a:endParaRPr>
          </a:p>
        </p:txBody>
      </p:sp>
      <p:pic>
        <p:nvPicPr>
          <p:cNvPr id="2050" name="Picture 2">
            <a:extLst>
              <a:ext uri="{FF2B5EF4-FFF2-40B4-BE49-F238E27FC236}">
                <a16:creationId xmlns:a16="http://schemas.microsoft.com/office/drawing/2014/main" id="{D160ED06-7690-9CD7-F825-AB6B5B1FA2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6039" r="29610" b="-1"/>
          <a:stretch/>
        </p:blipFill>
        <p:spPr bwMode="auto">
          <a:xfrm>
            <a:off x="4238244" y="10"/>
            <a:ext cx="4905756"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2842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F834B-63C5-83CA-5BF8-B630AFF70B6B}"/>
              </a:ext>
            </a:extLst>
          </p:cNvPr>
          <p:cNvSpPr>
            <a:spLocks noGrp="1"/>
          </p:cNvSpPr>
          <p:nvPr>
            <p:ph type="title"/>
          </p:nvPr>
        </p:nvSpPr>
        <p:spPr>
          <a:xfrm>
            <a:off x="4401417" y="1138036"/>
            <a:ext cx="4083287" cy="1402470"/>
          </a:xfrm>
        </p:spPr>
        <p:txBody>
          <a:bodyPr anchor="t">
            <a:normAutofit/>
          </a:bodyPr>
          <a:lstStyle/>
          <a:p>
            <a:r>
              <a:rPr lang="en-US" sz="2800"/>
              <a:t>Why would anyone want an NPU?</a:t>
            </a:r>
          </a:p>
        </p:txBody>
      </p:sp>
      <p:pic>
        <p:nvPicPr>
          <p:cNvPr id="5" name="Picture 4" descr="Electronic circuit board">
            <a:extLst>
              <a:ext uri="{FF2B5EF4-FFF2-40B4-BE49-F238E27FC236}">
                <a16:creationId xmlns:a16="http://schemas.microsoft.com/office/drawing/2014/main" id="{AB3457D9-9842-D100-04A8-235A16EADB63}"/>
              </a:ext>
            </a:extLst>
          </p:cNvPr>
          <p:cNvPicPr>
            <a:picLocks noChangeAspect="1"/>
          </p:cNvPicPr>
          <p:nvPr/>
        </p:nvPicPr>
        <p:blipFill>
          <a:blip r:embed="rId2"/>
          <a:srcRect l="47114" r="15283" b="-1"/>
          <a:stretch/>
        </p:blipFill>
        <p:spPr>
          <a:xfrm>
            <a:off x="20" y="10"/>
            <a:ext cx="3863363"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78772" y="871146"/>
            <a:ext cx="552705"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27164C9D-71B4-A19F-8059-48EAE555F044}"/>
              </a:ext>
            </a:extLst>
          </p:cNvPr>
          <p:cNvSpPr>
            <a:spLocks noGrp="1"/>
          </p:cNvSpPr>
          <p:nvPr>
            <p:ph type="body" idx="1"/>
          </p:nvPr>
        </p:nvSpPr>
        <p:spPr>
          <a:xfrm>
            <a:off x="4401417" y="2551176"/>
            <a:ext cx="4083287" cy="3591207"/>
          </a:xfrm>
        </p:spPr>
        <p:txBody>
          <a:bodyPr>
            <a:normAutofit/>
          </a:bodyPr>
          <a:lstStyle/>
          <a:p>
            <a:r>
              <a:rPr lang="en-US" sz="1300" b="0" i="0" dirty="0">
                <a:effectLst/>
                <a:latin typeface="+mn-lt"/>
              </a:rPr>
              <a:t>This is great, but inference can be done by any standard ‘general purpose’ CPU. However, having a specialized piece of hardware has three main advantages when performing the calculations needed for inference. It can:</a:t>
            </a:r>
          </a:p>
          <a:p>
            <a:pPr lvl="1">
              <a:buFont typeface="Arial" panose="020B0604020202020204" pitchFamily="34" charset="0"/>
              <a:buChar char="•"/>
            </a:pPr>
            <a:r>
              <a:rPr lang="en-US" sz="1300" b="0" i="0" dirty="0">
                <a:effectLst/>
                <a:latin typeface="+mn-lt"/>
              </a:rPr>
              <a:t>Speed them up, and;</a:t>
            </a:r>
          </a:p>
          <a:p>
            <a:pPr lvl="1">
              <a:buFont typeface="Arial" panose="020B0604020202020204" pitchFamily="34" charset="0"/>
              <a:buChar char="•"/>
            </a:pPr>
            <a:r>
              <a:rPr lang="en-US" sz="1300" b="0" i="0" dirty="0">
                <a:effectLst/>
                <a:latin typeface="+mn-lt"/>
              </a:rPr>
              <a:t>Reduce the amount of power they need, and;</a:t>
            </a:r>
          </a:p>
          <a:p>
            <a:pPr lvl="1">
              <a:buFont typeface="Arial" panose="020B0604020202020204" pitchFamily="34" charset="0"/>
              <a:buChar char="•"/>
            </a:pPr>
            <a:r>
              <a:rPr lang="en-US" sz="1300" b="0" i="0" dirty="0">
                <a:effectLst/>
                <a:latin typeface="+mn-lt"/>
              </a:rPr>
              <a:t>Free up the CPU to perform other tasks.</a:t>
            </a:r>
          </a:p>
          <a:p>
            <a:r>
              <a:rPr lang="en-US" sz="1300" b="0" i="0" dirty="0">
                <a:effectLst/>
                <a:latin typeface="+mn-lt"/>
              </a:rPr>
              <a:t>Faster inference means a more responsive PC or smartphone and lower power means better battery life on mobile devices, both of which are important in improving user experience. These improvements may make machine learning practical where otherwise it might have, for example, been too slow to be useful.</a:t>
            </a:r>
          </a:p>
          <a:p>
            <a:endParaRPr lang="en-US" sz="1300" dirty="0">
              <a:latin typeface="+mn-lt"/>
            </a:endParaRPr>
          </a:p>
        </p:txBody>
      </p:sp>
    </p:spTree>
    <p:extLst>
      <p:ext uri="{BB962C8B-B14F-4D97-AF65-F5344CB8AC3E}">
        <p14:creationId xmlns:p14="http://schemas.microsoft.com/office/powerpoint/2010/main" val="461150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77CDC-F884-DA2D-50A3-A6EF6A2DF06A}"/>
              </a:ext>
            </a:extLst>
          </p:cNvPr>
          <p:cNvSpPr>
            <a:spLocks noGrp="1"/>
          </p:cNvSpPr>
          <p:nvPr>
            <p:ph type="title"/>
          </p:nvPr>
        </p:nvSpPr>
        <p:spPr>
          <a:xfrm>
            <a:off x="571500" y="1138265"/>
            <a:ext cx="2292469" cy="2909296"/>
          </a:xfrm>
        </p:spPr>
        <p:txBody>
          <a:bodyPr anchor="t">
            <a:normAutofit/>
          </a:bodyPr>
          <a:lstStyle/>
          <a:p>
            <a:r>
              <a:rPr lang="en-US" sz="2800"/>
              <a:t>I’m not use AI on my PC or Smartphone. Why do I need an NPU?</a:t>
            </a:r>
          </a:p>
        </p:txBody>
      </p:sp>
      <p:cxnSp>
        <p:nvCxnSpPr>
          <p:cNvPr id="8" name="Straight Connector 7">
            <a:extLst>
              <a:ext uri="{FF2B5EF4-FFF2-40B4-BE49-F238E27FC236}">
                <a16:creationId xmlns:a16="http://schemas.microsoft.com/office/drawing/2014/main" id="{00CD8E7C-C23B-A3B9-B18A-838AED877A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8855" y="871146"/>
            <a:ext cx="552704"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95BB5D2C-4946-84A1-E1AC-AC3BFF92E7C0}"/>
              </a:ext>
            </a:extLst>
          </p:cNvPr>
          <p:cNvSpPr>
            <a:spLocks noGrp="1"/>
          </p:cNvSpPr>
          <p:nvPr>
            <p:ph type="body" idx="1"/>
          </p:nvPr>
        </p:nvSpPr>
        <p:spPr>
          <a:xfrm>
            <a:off x="3450566" y="753376"/>
            <a:ext cx="4995772" cy="5434637"/>
          </a:xfrm>
        </p:spPr>
        <p:txBody>
          <a:bodyPr>
            <a:normAutofit/>
          </a:bodyPr>
          <a:lstStyle/>
          <a:p>
            <a:r>
              <a:rPr lang="en-US" sz="1700" b="0" i="0">
                <a:effectLst/>
                <a:latin typeface="+mn-lt"/>
              </a:rPr>
              <a:t>You may not be using applications that identify as using AI but there is a very, very high probability that you are that you are already using machine learning inference routinely. It’s providing features that we take for granted in applications that we use every day, such as:</a:t>
            </a:r>
          </a:p>
          <a:p>
            <a:pPr lvl="1">
              <a:buFont typeface="Arial" panose="020B0604020202020204" pitchFamily="34" charset="0"/>
              <a:buChar char="•"/>
            </a:pPr>
            <a:r>
              <a:rPr lang="en-US" sz="1700" b="0" i="0">
                <a:effectLst/>
                <a:latin typeface="+mn-lt"/>
              </a:rPr>
              <a:t>Facial and voice recognition;</a:t>
            </a:r>
          </a:p>
          <a:p>
            <a:pPr lvl="1">
              <a:buFont typeface="Arial" panose="020B0604020202020204" pitchFamily="34" charset="0"/>
              <a:buChar char="•"/>
            </a:pPr>
            <a:r>
              <a:rPr lang="en-US" sz="1700" b="0" i="0">
                <a:effectLst/>
                <a:latin typeface="+mn-lt"/>
              </a:rPr>
              <a:t>Blurring the background in photo editing and Zoom calls;</a:t>
            </a:r>
          </a:p>
          <a:p>
            <a:pPr lvl="1">
              <a:buFont typeface="Arial" panose="020B0604020202020204" pitchFamily="34" charset="0"/>
              <a:buChar char="•"/>
            </a:pPr>
            <a:r>
              <a:rPr lang="en-US" sz="1700" b="0" i="0">
                <a:effectLst/>
                <a:latin typeface="+mn-lt"/>
              </a:rPr>
              <a:t>Predictive typing on smartphone keyboards;</a:t>
            </a:r>
          </a:p>
          <a:p>
            <a:pPr lvl="1">
              <a:buFont typeface="Arial" panose="020B0604020202020204" pitchFamily="34" charset="0"/>
              <a:buChar char="•"/>
            </a:pPr>
            <a:r>
              <a:rPr lang="en-US" sz="1700" b="0" i="0">
                <a:effectLst/>
                <a:latin typeface="+mn-lt"/>
              </a:rPr>
              <a:t>Optical character recognition in scanned documents.</a:t>
            </a:r>
          </a:p>
          <a:p>
            <a:pPr lvl="1"/>
            <a:r>
              <a:rPr lang="en-US" sz="1700" b="0" i="0">
                <a:effectLst/>
                <a:latin typeface="+mn-lt"/>
              </a:rPr>
              <a:t>And many, many more!</a:t>
            </a:r>
          </a:p>
          <a:p>
            <a:r>
              <a:rPr lang="en-US" sz="1700" b="0" i="0">
                <a:effectLst/>
                <a:latin typeface="+mn-lt"/>
              </a:rPr>
              <a:t>In all of these examples, NPUs have the potential to improve the user experience.</a:t>
            </a:r>
          </a:p>
          <a:p>
            <a:endParaRPr lang="en-US" sz="1700">
              <a:latin typeface="+mn-lt"/>
            </a:endParaRPr>
          </a:p>
        </p:txBody>
      </p:sp>
    </p:spTree>
    <p:extLst>
      <p:ext uri="{BB962C8B-B14F-4D97-AF65-F5344CB8AC3E}">
        <p14:creationId xmlns:p14="http://schemas.microsoft.com/office/powerpoint/2010/main" val="683469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2904F-FAE4-3596-25BD-6FAA5F366096}"/>
              </a:ext>
            </a:extLst>
          </p:cNvPr>
          <p:cNvSpPr>
            <a:spLocks noGrp="1"/>
          </p:cNvSpPr>
          <p:nvPr>
            <p:ph type="title"/>
          </p:nvPr>
        </p:nvSpPr>
        <p:spPr>
          <a:xfrm>
            <a:off x="4401417" y="1138036"/>
            <a:ext cx="4083287" cy="1402470"/>
          </a:xfrm>
        </p:spPr>
        <p:txBody>
          <a:bodyPr anchor="t">
            <a:normAutofit/>
          </a:bodyPr>
          <a:lstStyle/>
          <a:p>
            <a:r>
              <a:rPr lang="en-US" sz="2800"/>
              <a:t>I use ChatGPT, can I use NPUs to speed up inference?</a:t>
            </a:r>
          </a:p>
        </p:txBody>
      </p:sp>
      <p:pic>
        <p:nvPicPr>
          <p:cNvPr id="5" name="Picture 4" descr="Mobile device with apps">
            <a:extLst>
              <a:ext uri="{FF2B5EF4-FFF2-40B4-BE49-F238E27FC236}">
                <a16:creationId xmlns:a16="http://schemas.microsoft.com/office/drawing/2014/main" id="{7BC3ECE9-930A-EAB9-0708-5D3CAFD7D9BC}"/>
              </a:ext>
            </a:extLst>
          </p:cNvPr>
          <p:cNvPicPr>
            <a:picLocks noChangeAspect="1"/>
          </p:cNvPicPr>
          <p:nvPr/>
        </p:nvPicPr>
        <p:blipFill>
          <a:blip r:embed="rId2"/>
          <a:srcRect l="53942" r="14371"/>
          <a:stretch/>
        </p:blipFill>
        <p:spPr>
          <a:xfrm>
            <a:off x="20" y="10"/>
            <a:ext cx="3863363"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478772" y="871146"/>
            <a:ext cx="552705"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525C2492-8E7C-C3B5-EADF-6BD5832A6A51}"/>
              </a:ext>
            </a:extLst>
          </p:cNvPr>
          <p:cNvSpPr>
            <a:spLocks noGrp="1"/>
          </p:cNvSpPr>
          <p:nvPr>
            <p:ph type="body" idx="1"/>
          </p:nvPr>
        </p:nvSpPr>
        <p:spPr>
          <a:xfrm>
            <a:off x="4401417" y="2551176"/>
            <a:ext cx="4083287" cy="3591207"/>
          </a:xfrm>
        </p:spPr>
        <p:txBody>
          <a:bodyPr>
            <a:normAutofit/>
          </a:bodyPr>
          <a:lstStyle/>
          <a:p>
            <a:r>
              <a:rPr lang="en-US" sz="1700" b="0" i="0">
                <a:effectLst/>
                <a:latin typeface="+mn-lt"/>
              </a:rPr>
              <a:t>Most well-known and popular Large Language Models (LLMs) like ChatGPT and its competitors use hardware in the cloud to perform inference and don’t (yet) use NPUs on your PC or smartphone.</a:t>
            </a:r>
          </a:p>
          <a:p>
            <a:r>
              <a:rPr lang="en-US" sz="1700" b="0" i="0">
                <a:effectLst/>
                <a:latin typeface="+mn-lt"/>
              </a:rPr>
              <a:t>However, with the right software, there is no reason why an NPU shouldn't be used to accelerate inference for LLMs running ‘locally’ on your PC.</a:t>
            </a:r>
          </a:p>
          <a:p>
            <a:endParaRPr lang="en-US" sz="1700">
              <a:latin typeface="+mn-lt"/>
            </a:endParaRPr>
          </a:p>
        </p:txBody>
      </p:sp>
    </p:spTree>
    <p:extLst>
      <p:ext uri="{BB962C8B-B14F-4D97-AF65-F5344CB8AC3E}">
        <p14:creationId xmlns:p14="http://schemas.microsoft.com/office/powerpoint/2010/main" val="1786879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7A9F6-62E1-65FF-4E79-4BFC55C4D8EF}"/>
              </a:ext>
            </a:extLst>
          </p:cNvPr>
          <p:cNvSpPr>
            <a:spLocks noGrp="1"/>
          </p:cNvSpPr>
          <p:nvPr>
            <p:ph type="title"/>
          </p:nvPr>
        </p:nvSpPr>
        <p:spPr>
          <a:xfrm>
            <a:off x="840699" y="687480"/>
            <a:ext cx="5605629" cy="994172"/>
          </a:xfrm>
        </p:spPr>
        <p:txBody>
          <a:bodyPr>
            <a:normAutofit/>
          </a:bodyPr>
          <a:lstStyle/>
          <a:p>
            <a:r>
              <a:rPr lang="en-US" sz="3000"/>
              <a:t>GPU can perform inference. I have a GPU. Why do I need an NPU?</a:t>
            </a:r>
          </a:p>
        </p:txBody>
      </p:sp>
      <p:sp>
        <p:nvSpPr>
          <p:cNvPr id="3" name="Text Placeholder 2">
            <a:extLst>
              <a:ext uri="{FF2B5EF4-FFF2-40B4-BE49-F238E27FC236}">
                <a16:creationId xmlns:a16="http://schemas.microsoft.com/office/drawing/2014/main" id="{AD1D529E-06FF-FC71-B812-ADE87E4B8E08}"/>
              </a:ext>
            </a:extLst>
          </p:cNvPr>
          <p:cNvSpPr>
            <a:spLocks noGrp="1"/>
          </p:cNvSpPr>
          <p:nvPr>
            <p:ph type="body" idx="1"/>
          </p:nvPr>
        </p:nvSpPr>
        <p:spPr>
          <a:xfrm>
            <a:off x="852321" y="2227943"/>
            <a:ext cx="5033221" cy="3788227"/>
          </a:xfrm>
        </p:spPr>
        <p:txBody>
          <a:bodyPr anchor="ctr">
            <a:normAutofit fontScale="92500"/>
          </a:bodyPr>
          <a:lstStyle/>
          <a:p>
            <a:r>
              <a:rPr lang="en-US" sz="1300" b="0" i="0" dirty="0">
                <a:effectLst/>
                <a:latin typeface="+mn-lt"/>
              </a:rPr>
              <a:t>Well known LLMs such as ChatGPT often use GPUs from Nvidia to perform inference in the cloud. And your PC or smartphone will always include a GPU.</a:t>
            </a:r>
          </a:p>
          <a:p>
            <a:r>
              <a:rPr lang="en-US" sz="1300" b="0" i="0" dirty="0">
                <a:effectLst/>
                <a:latin typeface="+mn-lt"/>
              </a:rPr>
              <a:t>Nvidia has been successfully turning its GPUs into devices that are highly effective accelerators for machine learning training and inference. </a:t>
            </a:r>
          </a:p>
          <a:p>
            <a:pPr lvl="1"/>
            <a:r>
              <a:rPr lang="en-US" sz="1300" b="0" i="0" dirty="0">
                <a:effectLst/>
                <a:latin typeface="+mn-lt"/>
              </a:rPr>
              <a:t>It has done this through the development of both a high-quality software ecosystem (centered on CUDA) and through the refinement of its hardware, including adding specialized tensor matrix multiplication units to its GPUs. </a:t>
            </a:r>
          </a:p>
          <a:p>
            <a:pPr lvl="1"/>
            <a:r>
              <a:rPr lang="en-US" sz="1300" b="0" i="0" dirty="0">
                <a:effectLst/>
                <a:latin typeface="+mn-lt"/>
              </a:rPr>
              <a:t>Other GPU designers have either not done this or have been much less effective in doing so.</a:t>
            </a:r>
          </a:p>
          <a:p>
            <a:r>
              <a:rPr lang="en-US" sz="1300" b="0" i="0" dirty="0">
                <a:effectLst/>
                <a:latin typeface="+mn-lt"/>
              </a:rPr>
              <a:t>Plus the GPU on your PC or smartphone is already needed to perform its original function: drawing images on your display. </a:t>
            </a:r>
          </a:p>
          <a:p>
            <a:r>
              <a:rPr lang="en-US" sz="1300" b="1" i="0" dirty="0">
                <a:effectLst/>
                <a:latin typeface="+mn-lt"/>
              </a:rPr>
              <a:t>What happens if your device needs to draw some complex graphics and perform machine learning at the same time? Having a separate NPU removes this potential contention.</a:t>
            </a:r>
          </a:p>
          <a:p>
            <a:endParaRPr lang="en-US" sz="1300" dirty="0">
              <a:latin typeface="+mn-lt"/>
            </a:endParaRPr>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Graphic 6" descr="Cloud Computing">
            <a:extLst>
              <a:ext uri="{FF2B5EF4-FFF2-40B4-BE49-F238E27FC236}">
                <a16:creationId xmlns:a16="http://schemas.microsoft.com/office/drawing/2014/main" id="{60E6A8E2-8AB0-D292-E045-76A60FC81A1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964" y="2865141"/>
            <a:ext cx="1143455" cy="1143455"/>
          </a:xfrm>
          <a:prstGeom prst="rect">
            <a:avLst/>
          </a:prstGeom>
        </p:spPr>
      </p:pic>
    </p:spTree>
    <p:extLst>
      <p:ext uri="{BB962C8B-B14F-4D97-AF65-F5344CB8AC3E}">
        <p14:creationId xmlns:p14="http://schemas.microsoft.com/office/powerpoint/2010/main" val="32233212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52"/>
        <p:cNvGrpSpPr/>
        <p:nvPr/>
      </p:nvGrpSpPr>
      <p:grpSpPr>
        <a:xfrm>
          <a:off x="0" y="0"/>
          <a:ext cx="0" cy="0"/>
          <a:chOff x="0" y="0"/>
          <a:chExt cx="0" cy="0"/>
        </a:xfrm>
      </p:grpSpPr>
      <p:sp useBgFill="1">
        <p:nvSpPr>
          <p:cNvPr id="159" name="Rectangle 15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1" name="Rectangle 16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9" name="Freeform: Shape 16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1" name="Rectangle 17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Google Shape;153;g2c71adec0ba_0_11"/>
          <p:cNvSpPr txBox="1">
            <a:spLocks noGrp="1"/>
          </p:cNvSpPr>
          <p:nvPr>
            <p:ph type="title"/>
          </p:nvPr>
        </p:nvSpPr>
        <p:spPr>
          <a:xfrm>
            <a:off x="350041" y="586855"/>
            <a:ext cx="2401025" cy="3387497"/>
          </a:xfrm>
          <a:prstGeom prst="rect">
            <a:avLst/>
          </a:prstGeom>
        </p:spPr>
        <p:txBody>
          <a:bodyPr spcFirstLastPara="1" lIns="91425" tIns="45700" rIns="91425" bIns="45700" anchor="b" anchorCtr="0">
            <a:normAutofit/>
          </a:bodyPr>
          <a:lstStyle/>
          <a:p>
            <a:pPr marL="0" lvl="0" indent="0" algn="r" rtl="0">
              <a:spcBef>
                <a:spcPts val="0"/>
              </a:spcBef>
              <a:spcAft>
                <a:spcPts val="0"/>
              </a:spcAft>
              <a:buNone/>
            </a:pPr>
            <a:r>
              <a:rPr lang="en-US" sz="3500">
                <a:solidFill>
                  <a:srgbClr val="FFFFFF"/>
                </a:solidFill>
              </a:rPr>
              <a:t>Back to TPUs</a:t>
            </a:r>
          </a:p>
        </p:txBody>
      </p:sp>
      <p:sp>
        <p:nvSpPr>
          <p:cNvPr id="154" name="Google Shape;154;g2c71adec0ba_0_11"/>
          <p:cNvSpPr txBox="1">
            <a:spLocks noGrp="1"/>
          </p:cNvSpPr>
          <p:nvPr>
            <p:ph type="body" idx="1"/>
          </p:nvPr>
        </p:nvSpPr>
        <p:spPr>
          <a:xfrm>
            <a:off x="3607694" y="649480"/>
            <a:ext cx="4916510" cy="5546047"/>
          </a:xfrm>
          <a:prstGeom prst="rect">
            <a:avLst/>
          </a:prstGeom>
        </p:spPr>
        <p:txBody>
          <a:bodyPr spcFirstLastPara="1" lIns="91425" tIns="45700" rIns="91425" bIns="45700" anchor="ctr" anchorCtr="0">
            <a:normAutofit/>
          </a:bodyPr>
          <a:lstStyle/>
          <a:p>
            <a:pPr marL="457200" lvl="0" indent="-342900" rtl="0">
              <a:spcBef>
                <a:spcPts val="1000"/>
              </a:spcBef>
              <a:spcAft>
                <a:spcPts val="0"/>
              </a:spcAft>
              <a:buSzPts val="1800"/>
              <a:buChar char="•"/>
            </a:pPr>
            <a:r>
              <a:rPr lang="en-US" sz="1700" dirty="0"/>
              <a:t>Tensor processing units (TPUs) are also specialized chips that are designed to accelerate the processing of neural networks. </a:t>
            </a:r>
          </a:p>
          <a:p>
            <a:pPr marL="457200" lvl="0" indent="-342900" rtl="0">
              <a:spcBef>
                <a:spcPts val="0"/>
              </a:spcBef>
              <a:spcAft>
                <a:spcPts val="0"/>
              </a:spcAft>
              <a:buSzPts val="1800"/>
              <a:buChar char="•"/>
            </a:pPr>
            <a:r>
              <a:rPr lang="en-US" sz="1700" dirty="0"/>
              <a:t>However, unlike NPUs, TPUs are not based on the traditional von Neumann architecture, which separates the memory and the processing units. </a:t>
            </a:r>
          </a:p>
          <a:p>
            <a:pPr marL="457200" lvl="0" indent="-342900" rtl="0">
              <a:spcBef>
                <a:spcPts val="0"/>
              </a:spcBef>
              <a:spcAft>
                <a:spcPts val="0"/>
              </a:spcAft>
              <a:buSzPts val="1800"/>
              <a:buChar char="•"/>
            </a:pPr>
            <a:r>
              <a:rPr lang="en-US" sz="1700" dirty="0"/>
              <a:t>Instead, TPUs use a novel architecture, called systolic array, which integrates the memory and the processing units into a single chip. </a:t>
            </a:r>
          </a:p>
          <a:p>
            <a:pPr marL="457200" lvl="0" indent="-342900" rtl="0">
              <a:spcBef>
                <a:spcPts val="0"/>
              </a:spcBef>
              <a:spcAft>
                <a:spcPts val="0"/>
              </a:spcAft>
              <a:buSzPts val="1800"/>
              <a:buChar char="•"/>
            </a:pPr>
            <a:r>
              <a:rPr lang="en-US" sz="1700" dirty="0"/>
              <a:t>This allows TPUs to perform parallel computations faster and more efficiently than NPUs.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66"/>
        <p:cNvGrpSpPr/>
        <p:nvPr/>
      </p:nvGrpSpPr>
      <p:grpSpPr>
        <a:xfrm>
          <a:off x="0" y="0"/>
          <a:ext cx="0" cy="0"/>
          <a:chOff x="0" y="0"/>
          <a:chExt cx="0" cy="0"/>
        </a:xfrm>
      </p:grpSpPr>
      <p:sp useBgFill="1">
        <p:nvSpPr>
          <p:cNvPr id="173" name="Rectangle 172">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Google Shape;167;g2c71adec0ba_0_25"/>
          <p:cNvSpPr txBox="1">
            <a:spLocks noGrp="1"/>
          </p:cNvSpPr>
          <p:nvPr>
            <p:ph type="title"/>
          </p:nvPr>
        </p:nvSpPr>
        <p:spPr>
          <a:xfrm>
            <a:off x="606478" y="386930"/>
            <a:ext cx="6927525" cy="1188950"/>
          </a:xfrm>
          <a:prstGeom prst="rect">
            <a:avLst/>
          </a:prstGeom>
        </p:spPr>
        <p:txBody>
          <a:bodyPr spcFirstLastPara="1" lIns="91425" tIns="45700" rIns="91425" bIns="45700" anchor="b" anchorCtr="0">
            <a:normAutofit/>
          </a:bodyPr>
          <a:lstStyle/>
          <a:p>
            <a:pPr marL="0" lvl="0" indent="0" rtl="0">
              <a:spcBef>
                <a:spcPts val="0"/>
              </a:spcBef>
              <a:spcAft>
                <a:spcPts val="0"/>
              </a:spcAft>
              <a:buNone/>
            </a:pPr>
            <a:r>
              <a:rPr lang="en-US" sz="4700"/>
              <a:t>NPU vs TPU</a:t>
            </a:r>
          </a:p>
        </p:txBody>
      </p:sp>
      <p:grpSp>
        <p:nvGrpSpPr>
          <p:cNvPr id="175" name="Group 174">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8771274" cy="782176"/>
            <a:chOff x="-2" y="1998368"/>
            <a:chExt cx="11695083" cy="782176"/>
          </a:xfrm>
        </p:grpSpPr>
        <p:sp>
          <p:nvSpPr>
            <p:cNvPr id="176" name="Rectangle 175">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9" name="Rectangle 17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Google Shape;168;g2c71adec0ba_0_25"/>
          <p:cNvSpPr txBox="1">
            <a:spLocks noGrp="1"/>
          </p:cNvSpPr>
          <p:nvPr>
            <p:ph type="body" idx="1"/>
          </p:nvPr>
        </p:nvSpPr>
        <p:spPr>
          <a:xfrm>
            <a:off x="595245" y="2599509"/>
            <a:ext cx="7607751" cy="3435531"/>
          </a:xfrm>
          <a:prstGeom prst="rect">
            <a:avLst/>
          </a:prstGeom>
        </p:spPr>
        <p:txBody>
          <a:bodyPr spcFirstLastPara="1" lIns="91425" tIns="45700" rIns="91425" bIns="45700" anchor="ctr" anchorCtr="0">
            <a:normAutofit/>
          </a:bodyPr>
          <a:lstStyle/>
          <a:p>
            <a:pPr marL="0" lvl="0" indent="0" rtl="0">
              <a:spcBef>
                <a:spcPts val="1000"/>
              </a:spcBef>
              <a:spcAft>
                <a:spcPts val="0"/>
              </a:spcAft>
              <a:buClr>
                <a:schemeClr val="dk1"/>
              </a:buClr>
              <a:buSzPct val="39285"/>
              <a:buFont typeface="Arial"/>
              <a:buNone/>
            </a:pPr>
            <a:r>
              <a:rPr lang="en-US" sz="1200" b="1"/>
              <a:t>Architecture</a:t>
            </a:r>
            <a:r>
              <a:rPr lang="en-US" sz="1200"/>
              <a:t>:</a:t>
            </a:r>
          </a:p>
          <a:p>
            <a:pPr marL="0" lvl="0" indent="0" rtl="0">
              <a:spcBef>
                <a:spcPts val="1000"/>
              </a:spcBef>
              <a:spcAft>
                <a:spcPts val="0"/>
              </a:spcAft>
              <a:buClr>
                <a:schemeClr val="dk1"/>
              </a:buClr>
              <a:buSzPct val="39285"/>
              <a:buFont typeface="Arial"/>
              <a:buNone/>
            </a:pPr>
            <a:r>
              <a:rPr lang="en-US" sz="1200"/>
              <a:t>NPUs use the traditional von Neumann architecture, which separates the memory and the processing units. TPUs use the systolic array architecture, which integrates the memory and the processing units into a single chip.</a:t>
            </a:r>
          </a:p>
          <a:p>
            <a:pPr marL="0" lvl="0" indent="0" rtl="0">
              <a:spcBef>
                <a:spcPts val="1000"/>
              </a:spcBef>
              <a:spcAft>
                <a:spcPts val="0"/>
              </a:spcAft>
              <a:buClr>
                <a:schemeClr val="dk1"/>
              </a:buClr>
              <a:buSzPct val="39285"/>
              <a:buFont typeface="Arial"/>
              <a:buNone/>
            </a:pPr>
            <a:r>
              <a:rPr lang="en-US" sz="1200" b="1"/>
              <a:t>Performance</a:t>
            </a:r>
            <a:r>
              <a:rPr lang="en-US" sz="1200"/>
              <a:t>:</a:t>
            </a:r>
          </a:p>
          <a:p>
            <a:pPr marL="0" lvl="0" indent="0" rtl="0">
              <a:spcBef>
                <a:spcPts val="1000"/>
              </a:spcBef>
              <a:spcAft>
                <a:spcPts val="0"/>
              </a:spcAft>
              <a:buClr>
                <a:schemeClr val="dk1"/>
              </a:buClr>
              <a:buSzPct val="39285"/>
              <a:buFont typeface="Arial"/>
              <a:buNone/>
            </a:pPr>
            <a:r>
              <a:rPr lang="en-US" sz="1200"/>
              <a:t>NPUs have a higher peak performance than TPUs, but they also have a higher latency and power consumption. TPUs have a lower peak performance than NPUs, but they also have a lower latency and power consumption.</a:t>
            </a:r>
          </a:p>
          <a:p>
            <a:pPr marL="0" lvl="0" indent="0" rtl="0">
              <a:spcBef>
                <a:spcPts val="1000"/>
              </a:spcBef>
              <a:spcAft>
                <a:spcPts val="0"/>
              </a:spcAft>
              <a:buClr>
                <a:schemeClr val="dk1"/>
              </a:buClr>
              <a:buSzPct val="39285"/>
              <a:buFont typeface="Arial"/>
              <a:buNone/>
            </a:pPr>
            <a:r>
              <a:rPr lang="en-US" sz="1200" b="1"/>
              <a:t>Cost</a:t>
            </a:r>
            <a:r>
              <a:rPr lang="en-US" sz="1200"/>
              <a:t>:</a:t>
            </a:r>
          </a:p>
          <a:p>
            <a:pPr marL="0" lvl="0" indent="0" rtl="0">
              <a:spcBef>
                <a:spcPts val="1000"/>
              </a:spcBef>
              <a:spcAft>
                <a:spcPts val="0"/>
              </a:spcAft>
              <a:buClr>
                <a:schemeClr val="dk1"/>
              </a:buClr>
              <a:buSzPct val="39285"/>
              <a:buFont typeface="Arial"/>
              <a:buNone/>
            </a:pPr>
            <a:r>
              <a:rPr lang="en-US" sz="1200"/>
              <a:t>NPUs are more expensive than TPUs, because they require more components and more complex designs. TPUs are cheaper than NPUs, because they require fewer components and simpler designs.</a:t>
            </a:r>
          </a:p>
          <a:p>
            <a:pPr marL="0" lvl="0" indent="0" rtl="0">
              <a:spcBef>
                <a:spcPts val="1000"/>
              </a:spcBef>
              <a:spcAft>
                <a:spcPts val="0"/>
              </a:spcAft>
              <a:buClr>
                <a:schemeClr val="dk1"/>
              </a:buClr>
              <a:buSzPct val="39285"/>
              <a:buFont typeface="Arial"/>
              <a:buNone/>
            </a:pPr>
            <a:r>
              <a:rPr lang="en-US" sz="1200" b="1"/>
              <a:t>Availability</a:t>
            </a:r>
            <a:r>
              <a:rPr lang="en-US" sz="1200"/>
              <a:t>:</a:t>
            </a:r>
          </a:p>
          <a:p>
            <a:pPr marL="0" lvl="0" indent="0" rtl="0">
              <a:spcBef>
                <a:spcPts val="1000"/>
              </a:spcBef>
              <a:spcAft>
                <a:spcPts val="0"/>
              </a:spcAft>
              <a:buClr>
                <a:schemeClr val="dk1"/>
              </a:buClr>
              <a:buSzPct val="39285"/>
              <a:buFont typeface="Arial"/>
              <a:buNone/>
            </a:pPr>
            <a:r>
              <a:rPr lang="en-US" sz="1200"/>
              <a:t>NPUs are more widely available than TPUs, because they are produced by many companies, such as Intel, Nvidia, Huawei, and Samsung. TPUs are less widely available than NPUs, because they are produced by only one company, Google.</a:t>
            </a:r>
          </a:p>
          <a:p>
            <a:pPr marL="0" lvl="0" indent="0" rtl="0">
              <a:spcBef>
                <a:spcPts val="0"/>
              </a:spcBef>
              <a:spcAft>
                <a:spcPts val="0"/>
              </a:spcAft>
              <a:buClr>
                <a:schemeClr val="dk1"/>
              </a:buClr>
              <a:buSzPct val="100000"/>
              <a:buFont typeface="Arial"/>
              <a:buNone/>
            </a:pPr>
            <a:endParaRPr lang="en-US" sz="1200">
              <a:latin typeface="Arial"/>
              <a:ea typeface="Arial"/>
              <a:cs typeface="Arial"/>
              <a:sym typeface="Arial"/>
            </a:endParaRPr>
          </a:p>
          <a:p>
            <a:pPr marL="0" lvl="0" indent="0" rtl="0">
              <a:spcBef>
                <a:spcPts val="1000"/>
              </a:spcBef>
              <a:spcAft>
                <a:spcPts val="0"/>
              </a:spcAft>
              <a:buNone/>
            </a:pPr>
            <a:endParaRPr lang="en-US" sz="12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2c71adec0ba_0_39"/>
          <p:cNvSpPr txBox="1">
            <a:spLocks noGrp="1"/>
          </p:cNvSpPr>
          <p:nvPr>
            <p:ph type="title"/>
          </p:nvPr>
        </p:nvSpPr>
        <p:spPr>
          <a:xfrm>
            <a:off x="628650" y="365126"/>
            <a:ext cx="78867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Applications</a:t>
            </a:r>
            <a:endParaRPr/>
          </a:p>
        </p:txBody>
      </p:sp>
      <p:sp>
        <p:nvSpPr>
          <p:cNvPr id="175" name="Google Shape;175;g2c71adec0ba_0_39"/>
          <p:cNvSpPr txBox="1">
            <a:spLocks noGrp="1"/>
          </p:cNvSpPr>
          <p:nvPr>
            <p:ph type="body" idx="1"/>
          </p:nvPr>
        </p:nvSpPr>
        <p:spPr>
          <a:xfrm>
            <a:off x="628650" y="1825625"/>
            <a:ext cx="7886700" cy="4351200"/>
          </a:xfrm>
          <a:prstGeom prst="rect">
            <a:avLst/>
          </a:prstGeom>
        </p:spPr>
        <p:txBody>
          <a:bodyPr spcFirstLastPara="1" wrap="square" lIns="91425" tIns="45700" rIns="91425" bIns="45700" anchor="t" anchorCtr="0">
            <a:normAutofit fontScale="47500" lnSpcReduction="20000"/>
          </a:bodyPr>
          <a:lstStyle/>
          <a:p>
            <a:pPr marL="0" lvl="0" indent="0" algn="l" rtl="0">
              <a:spcBef>
                <a:spcPts val="1000"/>
              </a:spcBef>
              <a:spcAft>
                <a:spcPts val="0"/>
              </a:spcAft>
              <a:buClr>
                <a:schemeClr val="dk1"/>
              </a:buClr>
              <a:buSzPct val="39285"/>
              <a:buFont typeface="Arial"/>
              <a:buNone/>
            </a:pPr>
            <a:r>
              <a:rPr lang="en-US" b="1" dirty="0"/>
              <a:t>Cloud computing:</a:t>
            </a:r>
            <a:endParaRPr b="1" dirty="0"/>
          </a:p>
          <a:p>
            <a:pPr marL="0" lvl="0" indent="0" algn="l" rtl="0">
              <a:spcBef>
                <a:spcPts val="1000"/>
              </a:spcBef>
              <a:spcAft>
                <a:spcPts val="0"/>
              </a:spcAft>
              <a:buClr>
                <a:schemeClr val="dk1"/>
              </a:buClr>
              <a:buSzPct val="39285"/>
              <a:buFont typeface="Arial"/>
              <a:buNone/>
            </a:pPr>
            <a:r>
              <a:rPr lang="en-US" dirty="0"/>
              <a:t>NPUs and TPUs can be used to provide cloud-based AI services, such as image recognition, natural language processing, and speech synthesis. </a:t>
            </a:r>
          </a:p>
          <a:p>
            <a:pPr indent="-457200">
              <a:buSzPct val="39285"/>
            </a:pPr>
            <a:r>
              <a:rPr lang="en-US" dirty="0"/>
              <a:t>For example, Google Cloud offers TPU-based AI services, such as Cloud Vision, Cloud Natural Language, and Cloud Text-to-Speech.</a:t>
            </a:r>
            <a:endParaRPr dirty="0"/>
          </a:p>
          <a:p>
            <a:pPr marL="0" lvl="0" indent="0" algn="l" rtl="0">
              <a:spcBef>
                <a:spcPts val="1000"/>
              </a:spcBef>
              <a:spcAft>
                <a:spcPts val="0"/>
              </a:spcAft>
              <a:buClr>
                <a:schemeClr val="dk1"/>
              </a:buClr>
              <a:buSzPct val="39285"/>
              <a:buFont typeface="Arial"/>
              <a:buNone/>
            </a:pPr>
            <a:r>
              <a:rPr lang="en-US" b="1" dirty="0"/>
              <a:t>Edge computing:</a:t>
            </a:r>
            <a:endParaRPr b="1" dirty="0"/>
          </a:p>
          <a:p>
            <a:pPr marL="0" lvl="0" indent="0" algn="l" rtl="0">
              <a:spcBef>
                <a:spcPts val="1000"/>
              </a:spcBef>
              <a:spcAft>
                <a:spcPts val="0"/>
              </a:spcAft>
              <a:buClr>
                <a:schemeClr val="dk1"/>
              </a:buClr>
              <a:buSzPct val="39285"/>
              <a:buFont typeface="Arial"/>
              <a:buNone/>
            </a:pPr>
            <a:r>
              <a:rPr lang="en-US" dirty="0"/>
              <a:t>NPUs and TPUs can be used to enable edge-based AI applications, such as face recognition, voice control, and gesture recognition. </a:t>
            </a:r>
          </a:p>
          <a:p>
            <a:pPr indent="-457200">
              <a:buSzPct val="39285"/>
            </a:pPr>
            <a:r>
              <a:rPr lang="en-US" dirty="0"/>
              <a:t>For example, Huawei's Kirin 990 chip integrates an NPU that can power edge-based AI applications on smartphones and other devices.</a:t>
            </a:r>
            <a:endParaRPr dirty="0"/>
          </a:p>
          <a:p>
            <a:pPr marL="0" lvl="0" indent="0" algn="l" rtl="0">
              <a:spcBef>
                <a:spcPts val="1000"/>
              </a:spcBef>
              <a:spcAft>
                <a:spcPts val="0"/>
              </a:spcAft>
              <a:buClr>
                <a:schemeClr val="dk1"/>
              </a:buClr>
              <a:buSzPct val="39285"/>
              <a:buFont typeface="Arial"/>
              <a:buNone/>
            </a:pPr>
            <a:r>
              <a:rPr lang="en-US" b="1" dirty="0"/>
              <a:t>Autonomous vehicles:</a:t>
            </a:r>
            <a:endParaRPr b="1" dirty="0"/>
          </a:p>
          <a:p>
            <a:pPr marL="0" lvl="0" indent="0" algn="l" rtl="0">
              <a:spcBef>
                <a:spcPts val="1000"/>
              </a:spcBef>
              <a:spcAft>
                <a:spcPts val="0"/>
              </a:spcAft>
              <a:buClr>
                <a:schemeClr val="dk1"/>
              </a:buClr>
              <a:buSzPct val="39285"/>
              <a:buFont typeface="Arial"/>
              <a:buNone/>
            </a:pPr>
            <a:r>
              <a:rPr lang="en-US" dirty="0"/>
              <a:t>NPUs and TPUs can be used to support autonomous driving systems, such as object detection, lane detection, and path planning. </a:t>
            </a:r>
          </a:p>
          <a:p>
            <a:pPr indent="-457200">
              <a:buSzPct val="39285"/>
            </a:pPr>
            <a:r>
              <a:rPr lang="en-US" dirty="0"/>
              <a:t>For example, Tesla's Full Self-Driving chip uses an NPU that can process 2300 frames per second and support 12 cameras and 8 radars.</a:t>
            </a:r>
            <a:endParaRPr dirty="0"/>
          </a:p>
          <a:p>
            <a:pPr marL="0" lvl="0" indent="0" algn="l" rtl="0">
              <a:spcBef>
                <a:spcPts val="1000"/>
              </a:spcBef>
              <a:spcAft>
                <a:spcPts val="0"/>
              </a:spcAft>
              <a:buClr>
                <a:schemeClr val="dk1"/>
              </a:buClr>
              <a:buSzPct val="39285"/>
              <a:buFont typeface="Arial"/>
              <a:buNone/>
            </a:pPr>
            <a:r>
              <a:rPr lang="en-US" b="1" dirty="0"/>
              <a:t>Healthcare:</a:t>
            </a:r>
            <a:endParaRPr b="1" dirty="0"/>
          </a:p>
          <a:p>
            <a:pPr marL="0" lvl="0" indent="0" algn="l" rtl="0">
              <a:spcBef>
                <a:spcPts val="1000"/>
              </a:spcBef>
              <a:spcAft>
                <a:spcPts val="0"/>
              </a:spcAft>
              <a:buClr>
                <a:schemeClr val="dk1"/>
              </a:buClr>
              <a:buSzPct val="73333"/>
              <a:buFont typeface="Arial"/>
              <a:buNone/>
            </a:pPr>
            <a:r>
              <a:rPr lang="en-US" dirty="0"/>
              <a:t>NPUs and TPUs can be used to enhance healthcare services, such as diagnosis, treatment, and monitoring. For example, Google's Health TPU can help detect diseases, such as diabetic retinopathy and breast cancer, from medical images.</a:t>
            </a:r>
            <a:endParaRPr sz="1500" dirty="0">
              <a:solidFill>
                <a:srgbClr val="242424"/>
              </a:solidFill>
              <a:highlight>
                <a:srgbClr val="FFFFFF"/>
              </a:highlight>
              <a:latin typeface="Georgia"/>
              <a:ea typeface="Georgia"/>
              <a:cs typeface="Georgia"/>
              <a:sym typeface="Georgia"/>
            </a:endParaRPr>
          </a:p>
          <a:p>
            <a:pPr marL="0" lvl="0" indent="0" algn="l" rtl="0">
              <a:spcBef>
                <a:spcPts val="1000"/>
              </a:spcBef>
              <a:spcAft>
                <a:spcPts val="0"/>
              </a:spcAft>
              <a:buNone/>
            </a:pPr>
            <a:endParaRPr dirty="0"/>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1961</Words>
  <Application>Microsoft Office PowerPoint</Application>
  <PresentationFormat>On-screen Show (4:3)</PresentationFormat>
  <Paragraphs>113</Paragraphs>
  <Slides>20</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source-serif-pro</vt:lpstr>
      <vt:lpstr>sohne</vt:lpstr>
      <vt:lpstr>Georgia</vt:lpstr>
      <vt:lpstr>Calibri</vt:lpstr>
      <vt:lpstr>Arial</vt:lpstr>
      <vt:lpstr>Office Theme</vt:lpstr>
      <vt:lpstr>AI Infrastructure</vt:lpstr>
      <vt:lpstr>Hardware of an AI Infrastructure</vt:lpstr>
      <vt:lpstr>Types of Compute in AI</vt:lpstr>
      <vt:lpstr>CPUs in AI</vt:lpstr>
      <vt:lpstr>GPUs in AI</vt:lpstr>
      <vt:lpstr>GPUs in AI</vt:lpstr>
      <vt:lpstr>CPUs and GPUs</vt:lpstr>
      <vt:lpstr>TPUs in AI</vt:lpstr>
      <vt:lpstr>TPUs limitations</vt:lpstr>
      <vt:lpstr>Where things are going?</vt:lpstr>
      <vt:lpstr>Neural Processing Units </vt:lpstr>
      <vt:lpstr>Is NPU/TPU a chip?</vt:lpstr>
      <vt:lpstr>Apple M4 chip</vt:lpstr>
      <vt:lpstr>Why would anyone want an NPU?</vt:lpstr>
      <vt:lpstr>I’m not use AI on my PC or Smartphone. Why do I need an NPU?</vt:lpstr>
      <vt:lpstr>I use ChatGPT, can I use NPUs to speed up inference?</vt:lpstr>
      <vt:lpstr>GPU can perform inference. I have a GPU. Why do I need an NPU?</vt:lpstr>
      <vt:lpstr>Back to TPUs</vt:lpstr>
      <vt:lpstr>NPU vs TPU</vt:lpstr>
      <vt:lpstr>Applications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Ioannis Papapanagiotou</dc:creator>
  <cp:lastModifiedBy>Ioannis Papapanagiotou</cp:lastModifiedBy>
  <cp:revision>14</cp:revision>
  <dcterms:created xsi:type="dcterms:W3CDTF">2020-04-05T15:03:49Z</dcterms:created>
  <dcterms:modified xsi:type="dcterms:W3CDTF">2024-12-30T15:28:00Z</dcterms:modified>
</cp:coreProperties>
</file>